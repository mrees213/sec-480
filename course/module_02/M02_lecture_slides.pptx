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5.xml.rels" ContentType="application/vnd.openxmlformats-package.relationships+xml"/>
  <Override PartName="/ppt/slides/_rels/slide21.xml.rels" ContentType="application/vnd.openxmlformats-package.relationships+xml"/>
  <Override PartName="/ppt/slides/_rels/slide19.xml.rels" ContentType="application/vnd.openxmlformats-package.relationships+xml"/>
  <Override PartName="/ppt/slides/_rels/slide4.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3.xml.rels" ContentType="application/vnd.openxmlformats-package.relationships+xml"/>
  <Override PartName="/ppt/slides/_rels/slide17.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4.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21.xml" ContentType="application/vnd.openxmlformats-officedocument.presentationml.slide+xml"/>
  <Override PartName="/ppt/notesSlides/_rels/notesSlide5.xml.rels" ContentType="application/vnd.openxmlformats-package.relationships+xml"/>
  <Override PartName="/ppt/notesSlides/_rels/notesSlide18.xml.rels" ContentType="application/vnd.openxmlformats-package.relationships+xml"/>
  <Override PartName="/ppt/notesSlides/_rels/notesSlide20.xml.rels" ContentType="application/vnd.openxmlformats-package.relationships+xml"/>
  <Override PartName="/ppt/notesSlides/_rels/notesSlide4.xml.rels" ContentType="application/vnd.openxmlformats-package.relationships+xml"/>
  <Override PartName="/ppt/notesSlides/_rels/notesSlide17.xml.rels" ContentType="application/vnd.openxmlformats-package.relationships+xml"/>
  <Override PartName="/ppt/notesSlides/_rels/notesSlide3.xml.rels" ContentType="application/vnd.openxmlformats-package.relationships+xml"/>
  <Override PartName="/ppt/notesSlides/_rels/notesSlide16.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6.xml.rels" ContentType="application/vnd.openxmlformats-package.relationships+xml"/>
  <Override PartName="/ppt/notesSlides/_rels/notesSlide21.xml.rels" ContentType="application/vnd.openxmlformats-package.relationships+xml"/>
  <Override PartName="/ppt/notesSlides/_rels/notesSlide19.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4.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notesSlides/notesSlide3.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Lst>
  <p:sldSz cx="10080625" cy="5670550"/>
  <p:notesSz cx="7772400" cy="100584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 name="PlaceHolder 1"/>
          <p:cNvSpPr>
            <a:spLocks noGrp="1"/>
          </p:cNvSpPr>
          <p:nvPr>
            <p:ph type="sldImg"/>
          </p:nvPr>
        </p:nvSpPr>
        <p:spPr>
          <a:xfrm>
            <a:off x="533520" y="764280"/>
            <a:ext cx="6704640" cy="3771360"/>
          </a:xfrm>
          <a:prstGeom prst="rect">
            <a:avLst/>
          </a:prstGeom>
          <a:noFill/>
          <a:ln w="0">
            <a:noFill/>
          </a:ln>
        </p:spPr>
        <p:txBody>
          <a:bodyPr lIns="0" rIns="0" tIns="0" bIns="0" anchor="ctr">
            <a:noAutofit/>
          </a:bodyPr>
          <a:p>
            <a:pPr algn="ctr"/>
            <a:r>
              <a:rPr b="0" lang="en-US" sz="4400" spc="-1" strike="noStrike">
                <a:solidFill>
                  <a:srgbClr val="000000"/>
                </a:solidFill>
                <a:latin typeface="Arial"/>
              </a:rPr>
              <a:t>Click to move the slide</a:t>
            </a:r>
            <a:endParaRPr b="0" lang="en-US" sz="4400" spc="-1" strike="noStrike">
              <a:solidFill>
                <a:srgbClr val="000000"/>
              </a:solidFill>
              <a:latin typeface="Arial"/>
            </a:endParaRPr>
          </a:p>
        </p:txBody>
      </p:sp>
      <p:sp>
        <p:nvSpPr>
          <p:cNvPr id="8"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notes format</a:t>
            </a:r>
            <a:endParaRPr b="0" lang="en-US" sz="2000" spc="-1" strike="noStrike">
              <a:solidFill>
                <a:srgbClr val="000000"/>
              </a:solidFill>
              <a:latin typeface="Arial"/>
            </a:endParaRPr>
          </a:p>
        </p:txBody>
      </p:sp>
      <p:sp>
        <p:nvSpPr>
          <p:cNvPr id="9"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10" name="PlaceHolder 4"/>
          <p:cNvSpPr>
            <a:spLocks noGrp="1"/>
          </p:cNvSpPr>
          <p:nvPr>
            <p:ph type="dt" idx="4"/>
          </p:nvPr>
        </p:nvSpPr>
        <p:spPr>
          <a:xfrm>
            <a:off x="4399200" y="0"/>
            <a:ext cx="3372840" cy="50256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11" name="PlaceHolder 5"/>
          <p:cNvSpPr>
            <a:spLocks noGrp="1"/>
          </p:cNvSpPr>
          <p:nvPr>
            <p:ph type="ftr" idx="5"/>
          </p:nvPr>
        </p:nvSpPr>
        <p:spPr>
          <a:xfrm>
            <a:off x="0" y="9555480"/>
            <a:ext cx="3372840" cy="50256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2" name="PlaceHolder 6"/>
          <p:cNvSpPr>
            <a:spLocks noGrp="1"/>
          </p:cNvSpPr>
          <p:nvPr>
            <p:ph type="sldNum" idx="6"/>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AC9D5702-2D67-47F6-AF5A-094244BB9168}"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Say the tier name once. Groundwork, Application, Synthesis is the shape of every unit, and this is the middle one: 30% of the milestone against the opener's 20%. Low, Medium and High are internal words and must not be said in the room.</a:t>
            </a:r>
            <a:endParaRPr b="0" lang="en-US" sz="1200" spc="-1" strike="noStrike">
              <a:solidFill>
                <a:srgbClr val="000000"/>
              </a:solidFill>
              <a:latin typeface="Arial"/>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Name the shift explicitly. Unnamed, a flipped session reads as the course losing structure rather than gaining working time. The last bullet is the one they remember, so say it plainly rather than softening it.</a:t>
            </a:r>
            <a:endParaRPr b="0" lang="en-US" sz="1200" spc="-1" strike="noStrike">
              <a:solidFill>
                <a:srgbClr val="000000"/>
              </a:solidFill>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Three sentences, not a speech. The room takes its read of how much trouble the course is in from how long you spend here.</a:t>
            </a:r>
            <a:endParaRPr b="0" lang="en-US" sz="1200" spc="-1" strike="noStrike">
              <a:solidFill>
                <a:srgbClr val="000000"/>
              </a:solidFill>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Say it clearly and then stop. Continuing past the point of the message reads as the situation being worse than stated.</a:t>
            </a:r>
            <a:endParaRPr b="0" lang="en-US" sz="1200" spc="-1" strike="noStrike">
              <a:solidFill>
                <a:srgbClr val="000000"/>
              </a:solidFill>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Highest-value minute of the session. Your own broken tooling as the worked example buys more than any slide about hallucination. Do not over-explain; the parallel does the work.</a:t>
            </a:r>
            <a:endParaRPr b="0" lang="en-US" sz="1200" spc="-1" strike="noStrike">
              <a:solidFill>
                <a:srgbClr val="000000"/>
              </a:solidFill>
              <a:latin typeface="Arial"/>
            </a:endParaRPr>
          </a:p>
          <a:p>
            <a:r>
              <a:rPr b="0" lang="en-US" sz="1200" spc="-1" strike="noStrike">
                <a:solidFill>
                  <a:srgbClr val="252c36"/>
                </a:solidFill>
                <a:latin typeface="Arial"/>
              </a:rPr>
              <a:t>General write-up: 00_resources/lessons-learned.md, entry 1, 'Silent success'.</a:t>
            </a:r>
            <a:endParaRPr b="0" lang="en-US" sz="1200" spc="-1" strike="noStrike">
              <a:solidFill>
                <a:srgbClr val="000000"/>
              </a:solidFill>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Work by category, not student by student. Renames first: reconcile.py and sweep.py match the name sec-480 case-insensitively and nothing else, so sec480 is invisible to both. Renaming keeps history, keeps the collaborator, and redirects the old URL.</a:t>
            </a:r>
            <a:endParaRPr b="0" lang="en-US" sz="1200" spc="-1" strike="noStrike">
              <a:solidFill>
                <a:srgbClr val="000000"/>
              </a:solidFill>
              <a:latin typeface="Arial"/>
            </a:endParaRPr>
          </a:p>
          <a:p>
            <a:r>
              <a:rPr b="0" lang="en-US" sz="1200" spc="-1" strike="noStrike">
                <a:solidFill>
                  <a:srgbClr val="252c36"/>
                </a:solidFill>
                <a:latin typeface="Arial"/>
              </a:rPr>
              <a:t>Then confirm the packet landed. Hands up from anyone who cannot see M02_handoff/. Fifteen seconds, and it is the exact check whose absence caused module 1.</a:t>
            </a:r>
            <a:endParaRPr b="0" lang="en-US" sz="1200" spc="-1" strike="noStrike">
              <a:solidFill>
                <a:srgbClr val="000000"/>
              </a:solidFill>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Standing decision, not a workaround for this module. Say it once, clearly: every distribution and submission question for the rest of the term resolves to it.</a:t>
            </a:r>
            <a:endParaRPr b="0" lang="en-US" sz="1200" spc="-1" strike="noStrike">
              <a:solidFill>
                <a:srgbClr val="000000"/>
              </a:solidFill>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Do not enumerate the acts yet, the next slide does that. What matters here is the shape: this is a situation, and the tools arrive because the situation needs them.</a:t>
            </a:r>
            <a:endParaRPr b="0" lang="en-US" sz="1200" spc="-1" strike="noStrike">
              <a:solidFill>
                <a:srgbClr val="000000"/>
              </a:solidFill>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Walk it once, quickly. Do not explain how any of it is done; that is what the lab is for.</a:t>
            </a:r>
            <a:endParaRPr b="0" lang="en-US" sz="1200" spc="-1" strike="noStrike">
              <a:solidFill>
                <a:srgbClr val="000000"/>
              </a:solidFill>
              <a:latin typeface="Arial"/>
            </a:endParaRPr>
          </a:p>
          <a:p>
            <a:r>
              <a:rPr b="0" lang="en-US" sz="1200" spc="-1" strike="noStrike">
                <a:solidFill>
                  <a:srgbClr val="252c36"/>
                </a:solidFill>
                <a:latin typeface="Arial"/>
              </a:rPr>
              <a:t>Do NOT mention that act 1 and act 4 are the same task in opposite directions. That is the closing line of the session and it only lands after they have done both ends.</a:t>
            </a:r>
            <a:endParaRPr b="0" lang="en-US" sz="1200" spc="-1" strike="noStrike">
              <a:solidFill>
                <a:srgbClr val="000000"/>
              </a:solidFill>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Say this now, not at the end. Students allocate effort from the front of a lab, and without this slide they spend their energy on act 1 because it comes first, not because it is where</a:t>
            </a:r>
            <a:endParaRPr b="0" lang="en-US" sz="1200" spc="-1" strike="noStrike">
              <a:solidFill>
                <a:srgbClr val="000000"/>
              </a:solidFill>
              <a:latin typeface="Arial"/>
            </a:endParaRPr>
          </a:p>
          <a:p>
            <a:r>
              <a:rPr b="0" lang="en-US" sz="1200" spc="-1" strike="noStrike">
                <a:solidFill>
                  <a:srgbClr val="252c36"/>
                </a:solidFill>
                <a:latin typeface="Arial"/>
              </a:rPr>
              <a:t>the marks are.</a:t>
            </a:r>
            <a:endParaRPr b="0" lang="en-US" sz="1200" spc="-1" strike="noStrike">
              <a:solidFill>
                <a:srgbClr val="000000"/>
              </a:solidFill>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Anchor it to something they own: a function signature is an instruction set. They are not learning a new idea, they are learning where an old one lives in an unfamiliar system.</a:t>
            </a:r>
            <a:endParaRPr b="0" lang="en-US" sz="1200" spc="-1" strike="noStrike">
              <a:solidFill>
                <a:srgbClr val="000000"/>
              </a:solidFill>
              <a:latin typeface="Arial"/>
            </a:endParaRPr>
          </a:p>
          <a:p>
            <a:r>
              <a:rPr b="0" lang="en-US" sz="1200" spc="-1" strike="noStrike">
                <a:solidFill>
                  <a:srgbClr val="252c36"/>
                </a:solidFill>
                <a:latin typeface="Arial"/>
              </a:rPr>
              <a:t>Terms defined on this slide: prompt, instruction set. Projects moved to module 3 with the act they served, so do not introduce them here.</a:t>
            </a:r>
            <a:endParaRPr b="0" lang="en-US" sz="1200" spc="-1" strike="noStrike">
              <a:solidFill>
                <a:srgbClr val="000000"/>
              </a:solidFill>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Walk the table. The test to say out loud: could someone reading only your instructions and only the output tell you whether the instructions were followed? Most of what people write first fails that, and fails silently, which is the point.</a:t>
            </a:r>
            <a:endParaRPr b="0" lang="en-US" sz="1200" spc="-1" strike="noStrike">
              <a:solidFill>
                <a:srgbClr val="000000"/>
              </a:solidFill>
              <a:latin typeface="Arial"/>
            </a:endParaRPr>
          </a:p>
          <a:p>
            <a:r>
              <a:rPr b="0" lang="en-US" sz="1200" spc="-1" strike="noStrike">
                <a:solidFill>
                  <a:srgbClr val="252c36"/>
                </a:solidFill>
                <a:latin typeface="Arial"/>
              </a:rPr>
              <a:t>The third row is deliberately from the backup-report example, not from the log.</a:t>
            </a:r>
            <a:endParaRPr b="0" lang="en-US" sz="1200" spc="-1" strike="noStrike">
              <a:solidFill>
                <a:srgbClr val="000000"/>
              </a:solidFill>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This is the one example to spend real time on. Nothing about the platform changed between the two outputs; the constraint did. Deliberately a backup report and not the lab's log.</a:t>
            </a:r>
            <a:endParaRPr b="0" lang="en-US" sz="1200" spc="-1" strike="noStrike">
              <a:solidFill>
                <a:srgbClr val="000000"/>
              </a:solidFill>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Demonstrate rather than assert if there is time: set a constraint live, work on unrelated things at length, then show it quietly no longer honored. The lesson is not that contexts have limits, it is that crossing one is silent.</a:t>
            </a:r>
            <a:endParaRPr b="0" lang="en-US" sz="1200" spc="-1" strike="noStrike">
              <a:solidFill>
                <a:srgbClr val="000000"/>
              </a:solidFill>
              <a:latin typeface="Arial"/>
            </a:endParaRPr>
          </a:p>
          <a:p>
            <a:r>
              <a:rPr b="0" lang="en-US" sz="1200" spc="-1" strike="noStrike">
                <a:solidFill>
                  <a:srgbClr val="252c36"/>
                </a:solidFill>
                <a:latin typeface="Arial"/>
              </a:rPr>
              <a:t>Terms defined here: context, working set.</a:t>
            </a:r>
            <a:endParaRPr b="0" lang="en-US" sz="1200" spc="-1" strike="noStrike">
              <a:solidFill>
                <a:srgbClr val="000000"/>
              </a:solidFill>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Treat this as content, not as an interruption, and say so before it happens so the first student to hit it does not think they broke something. Rate limiting is a concept they already own from networking.</a:t>
            </a:r>
            <a:endParaRPr b="0" lang="en-US" sz="1200" spc="-1" strike="noStrike">
              <a:solidFill>
                <a:srgbClr val="000000"/>
              </a:solidFill>
              <a:latin typeface="Arial"/>
            </a:endParaRPr>
          </a:p>
          <a:p>
            <a:r>
              <a:rPr b="0" lang="en-US" sz="1200" spc="-1" strike="noStrike">
                <a:solidFill>
                  <a:srgbClr val="252c36"/>
                </a:solidFill>
                <a:latin typeface="Arial"/>
              </a:rPr>
              <a:t>Term defined here: usage window.</a:t>
            </a:r>
            <a:endParaRPr b="0" lang="en-US" sz="1200" spc="-1" strike="noStrike">
              <a:solidFill>
                <a:srgbClr val="000000"/>
              </a:solidFill>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This table is the spine of the whole module and is worth leaving up for a moment. Every row is the same shape: a system reporting on itself, and the check being yours.</a:t>
            </a:r>
            <a:endParaRPr b="0" lang="en-US" sz="1200" spc="-1" strike="noStrike">
              <a:solidFill>
                <a:srgbClr val="000000"/>
              </a:solidFill>
              <a:latin typeface="Arial"/>
            </a:endParaRPr>
          </a:p>
          <a:p>
            <a:r>
              <a:rPr b="0" lang="en-US" sz="1200" spc="-1" strike="noStrike">
                <a:solidFill>
                  <a:srgbClr val="252c36"/>
                </a:solidFill>
                <a:latin typeface="Arial"/>
              </a:rPr>
              <a:t>Do not say 'zero trust'. The module 3 survey measures it and naming it here contaminates that measure.</a:t>
            </a:r>
            <a:endParaRPr b="0" lang="en-US" sz="1200" spc="-1" strike="noStrike">
              <a:solidFill>
                <a:srgbClr val="000000"/>
              </a:solidFill>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The interview step is the meta-prompting seed and it comes back all term. They are not prompting for an answer, they are prompting for the questions, and their answers become the definitions everything downstream runs on.</a:t>
            </a:r>
            <a:endParaRPr b="0" lang="en-US" sz="1200" spc="-1" strike="noStrike">
              <a:solidFill>
                <a:srgbClr val="000000"/>
              </a:solidFill>
              <a:latin typeface="Arial"/>
            </a:endParaRPr>
          </a:p>
          <a:p>
            <a:r>
              <a:rPr b="0" lang="en-US" sz="1200" spc="-1" strike="noStrike">
                <a:solidFill>
                  <a:srgbClr val="252c36"/>
                </a:solidFill>
                <a:latin typeface="Arial"/>
              </a:rPr>
              <a:t>Watch for: instructions that are wishes, and students who rewrite all three given instructions rather than adding their own two.</a:t>
            </a:r>
            <a:endParaRPr b="0" lang="en-US" sz="1200" spc="-1" strike="noStrike">
              <a:solidFill>
                <a:srgbClr val="000000"/>
              </a:solidFill>
              <a:latin typeface="Arial"/>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Say the second bullet before they start. A room trained on correct answers will agree with the output and hand it in.</a:t>
            </a:r>
            <a:endParaRPr b="0" lang="en-US" sz="1200" spc="-1" strike="noStrike">
              <a:solidFill>
                <a:srgbClr val="000000"/>
              </a:solidFill>
              <a:latin typeface="Arial"/>
            </a:endParaRPr>
          </a:p>
          <a:p>
            <a:r>
              <a:rPr b="0" lang="en-US" sz="1200" spc="-1" strike="noStrike">
                <a:solidFill>
                  <a:srgbClr val="252c36"/>
                </a:solidFill>
                <a:latin typeface="Arial"/>
              </a:rPr>
              <a:t>Say nothing about what is in the log. Planted problems are in M02_answer-key.md and stay there. Two thirds through the block, ask the room publicly how many have amended process.md. That single question is worth more than any amount of circulating.</a:t>
            </a:r>
            <a:endParaRPr b="0" lang="en-US" sz="1200" spc="-1" strike="noStrike">
              <a:solidFill>
                <a:srgbClr val="000000"/>
              </a:solidFill>
              <a:latin typeface="Arial"/>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The reread is the moment the story closes and it takes twenty seconds. Say the rough edge out loud: on a solo repository they are author and reviewer, which is not how review works anywhere else, and module 3 puts somebody on the other side.</a:t>
            </a:r>
            <a:endParaRPr b="0" lang="en-US" sz="1200" spc="-1" strike="noStrike">
              <a:solidFill>
                <a:srgbClr val="000000"/>
              </a:solidFill>
              <a:latin typeface="Arial"/>
            </a:endParaRPr>
          </a:p>
          <a:p>
            <a:r>
              <a:rPr b="0" lang="en-US" sz="1200" spc="-1" strike="noStrike">
                <a:solidFill>
                  <a:srgbClr val="252c36"/>
                </a:solidFill>
                <a:latin typeface="Arial"/>
              </a:rPr>
              <a:t>AFTER this slide is where you name the symmetry: act 1 and act 4 were the same task pointing in opposite directions, and everything between them was the difference.</a:t>
            </a:r>
            <a:endParaRPr b="0" lang="en-US" sz="1200" spc="-1" strike="noStrike">
              <a:solidFill>
                <a:srgbClr val="000000"/>
              </a:solidFill>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Module 1's survey was dropped on 3 Sep and module 2's on 4 Sep. Surveys resume at module 3, which becomes the baseline every later one compares against. Say it once so nobody thinks they missed an instrument, then move on. The personalization inputs for these first weeks come from part one of the module 1 journal instead.</a:t>
            </a:r>
            <a:endParaRPr b="0" lang="en-US" sz="1200" spc="-1" strike="noStrike">
              <a:solidFill>
                <a:srgbClr val="000000"/>
              </a:solidFill>
              <a:latin typeface="Arial"/>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
          <p:cNvSpPr txBox="1"/>
          <p:nvPr/>
        </p:nvSpPr>
        <p:spPr>
          <a:xfrm>
            <a:off x="720000" y="1440000"/>
            <a:ext cx="5400000" cy="4320000"/>
          </a:xfrm>
          <a:prstGeom prst="rect">
            <a:avLst/>
          </a:prstGeom>
          <a:noFill/>
          <a:ln w="0">
            <a:noFill/>
          </a:ln>
        </p:spPr>
        <p:txBody>
          <a:bodyPr lIns="90000" rIns="90000" tIns="45000" bIns="45000" anchor="t">
            <a:noAutofit/>
          </a:bodyPr>
          <a:p>
            <a:r>
              <a:rPr b="0" lang="en-US" sz="1200" spc="-1" strike="noStrike">
                <a:solidFill>
                  <a:srgbClr val="252c36"/>
                </a:solidFill>
                <a:latin typeface="Arial"/>
              </a:rPr>
              <a:t>Shape, not detail. Synthesis is where the unit's threads get tied together, and Project 1 is introduced after that lecture so it reads as one thing rather than three.</a:t>
            </a:r>
            <a:endParaRPr b="0" lang="en-US" sz="1200" spc="-1" strike="noStrike">
              <a:solidFill>
                <a:srgbClr val="000000"/>
              </a:solidFill>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55AB2EE0-DFB0-4064-990C-E780C1946836}" type="slidenum">
              <a:t>&lt;#&gt;</a:t>
            </a:fld>
          </a:p>
        </p:txBody>
      </p:sp>
      <p:sp>
        <p:nvSpPr>
          <p:cNvPr id="4" name="PlaceHolder 3"/>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endParaRPr b="0" lang="en-US" sz="4400" spc="-1" strike="noStrike">
              <a:solidFill>
                <a:srgbClr val="000000"/>
              </a:solidFill>
              <a:latin typeface="Arial"/>
            </a:endParaRPr>
          </a:p>
        </p:txBody>
      </p:sp>
      <p:sp>
        <p:nvSpPr>
          <p:cNvPr id="6" name="PlaceHolder 2"/>
          <p:cNvSpPr>
            <a:spLocks noGrp="1"/>
          </p:cNvSpPr>
          <p:nvPr>
            <p:ph type="subTitle"/>
          </p:nvPr>
        </p:nvSpPr>
        <p:spPr>
          <a:xfrm>
            <a:off x="504000" y="1326600"/>
            <a:ext cx="9071640" cy="328824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5A2720A8-DBE1-4DDB-948E-96A7F07BF71F}" type="slidenum">
              <a:t>&lt;#&gt;</a:t>
            </a:fld>
          </a:p>
        </p:txBody>
      </p:sp>
      <p:sp>
        <p:nvSpPr>
          <p:cNvPr id="6" name="PlaceHolder 5"/>
          <p:cNvSpPr>
            <a:spLocks noGrp="1"/>
          </p:cNvSpPr>
          <p:nvPr>
            <p:ph type="dt" idx="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pPr indent="0" algn="ctr">
              <a:buNone/>
            </a:pPr>
            <a:r>
              <a:rPr b="0" lang="en-US" sz="4400" spc="-1" strike="noStrike">
                <a:solidFill>
                  <a:srgbClr val="000000"/>
                </a:solidFill>
                <a:latin typeface="Arial"/>
              </a:rPr>
              <a:t>Click to edit the title text format</a:t>
            </a:r>
            <a:endParaRPr b="0" lang="en-US" sz="4400" spc="-1" strike="noStrike">
              <a:solidFill>
                <a:srgbClr val="000000"/>
              </a:solidFill>
              <a:latin typeface="Arial"/>
            </a:endParaRPr>
          </a:p>
        </p:txBody>
      </p:sp>
      <p:sp>
        <p:nvSpPr>
          <p:cNvPr id="1"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800" spc="-1" strike="noStrike">
                <a:solidFill>
                  <a:srgbClr val="000000"/>
                </a:solidFill>
                <a:latin typeface="Arial"/>
              </a:rPr>
              <a:t>Second Outline Level</a:t>
            </a:r>
            <a:endParaRPr b="0" lang="en-US"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400" spc="-1" strike="noStrike">
                <a:solidFill>
                  <a:srgbClr val="000000"/>
                </a:solidFill>
                <a:latin typeface="Arial"/>
              </a:rPr>
              <a:t>Third Outline Level</a:t>
            </a:r>
            <a:endParaRPr b="0" lang="en-US"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
        <p:nvSpPr>
          <p:cNvPr id="2" name="PlaceHolder 3"/>
          <p:cNvSpPr>
            <a:spLocks noGrp="1"/>
          </p:cNvSpPr>
          <p:nvPr>
            <p:ph type="dt" idx="1"/>
          </p:nvPr>
        </p:nvSpPr>
        <p:spPr>
          <a:xfrm>
            <a:off x="504000" y="5165280"/>
            <a:ext cx="2348280" cy="390600"/>
          </a:xfrm>
          <a:prstGeom prst="rect">
            <a:avLst/>
          </a:prstGeom>
          <a:noFill/>
          <a:ln w="0">
            <a:noFill/>
          </a:ln>
        </p:spPr>
        <p:txBody>
          <a:bodyPr lIns="0" rIns="0" tIns="0" bIns="0" anchor="t">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3" name="PlaceHolder 4"/>
          <p:cNvSpPr>
            <a:spLocks noGrp="1"/>
          </p:cNvSpPr>
          <p:nvPr>
            <p:ph type="ftr" idx="2"/>
          </p:nvPr>
        </p:nvSpPr>
        <p:spPr>
          <a:xfrm>
            <a:off x="3447360" y="5165280"/>
            <a:ext cx="3195000" cy="390600"/>
          </a:xfrm>
          <a:prstGeom prst="rect">
            <a:avLst/>
          </a:prstGeom>
          <a:noFill/>
          <a:ln w="0">
            <a:noFill/>
          </a:ln>
        </p:spPr>
        <p:txBody>
          <a:bodyPr lIns="0" rIns="0" tIns="0" bIns="0" anchor="t">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 name="PlaceHolder 5"/>
          <p:cNvSpPr>
            <a:spLocks noGrp="1"/>
          </p:cNvSpPr>
          <p:nvPr>
            <p:ph type="sldNum" idx="3"/>
          </p:nvPr>
        </p:nvSpPr>
        <p:spPr>
          <a:xfrm>
            <a:off x="7227360" y="5165280"/>
            <a:ext cx="2348280" cy="39060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fld id="{B36C1088-CFDD-449E-A846-BD2460A4A924}"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 name=""/>
          <p:cNvSpPr txBox="1"/>
          <p:nvPr/>
        </p:nvSpPr>
        <p:spPr>
          <a:xfrm>
            <a:off x="720000" y="1764000"/>
            <a:ext cx="8640000" cy="936000"/>
          </a:xfrm>
          <a:prstGeom prst="rect">
            <a:avLst/>
          </a:prstGeom>
          <a:noFill/>
          <a:ln w="0">
            <a:noFill/>
          </a:ln>
        </p:spPr>
        <p:txBody>
          <a:bodyPr lIns="90000" rIns="90000" tIns="45000" bIns="45000" anchor="t">
            <a:noAutofit/>
          </a:bodyPr>
          <a:p>
            <a:r>
              <a:rPr b="1" lang="en-US" sz="5000" spc="-1" strike="noStrike">
                <a:solidFill>
                  <a:srgbClr val="0f3d57"/>
                </a:solidFill>
                <a:latin typeface="Arial"/>
              </a:rPr>
              <a:t>Module 2 · Application</a:t>
            </a:r>
            <a:endParaRPr b="0" lang="en-US" sz="5000" spc="-1" strike="noStrike">
              <a:solidFill>
                <a:srgbClr val="000000"/>
              </a:solidFill>
              <a:latin typeface="Arial"/>
            </a:endParaRPr>
          </a:p>
        </p:txBody>
      </p:sp>
      <p:sp>
        <p:nvSpPr>
          <p:cNvPr id="14" name=""/>
          <p:cNvSpPr txBox="1"/>
          <p:nvPr/>
        </p:nvSpPr>
        <p:spPr>
          <a:xfrm>
            <a:off x="720000" y="2844000"/>
            <a:ext cx="8640000" cy="1080000"/>
          </a:xfrm>
          <a:prstGeom prst="rect">
            <a:avLst/>
          </a:prstGeom>
          <a:noFill/>
          <a:ln w="0">
            <a:noFill/>
          </a:ln>
        </p:spPr>
        <p:txBody>
          <a:bodyPr lIns="90000" rIns="90000" tIns="45000" bIns="45000" anchor="t">
            <a:noAutofit/>
          </a:bodyPr>
          <a:p>
            <a:r>
              <a:rPr b="0" lang="en-US" sz="2700" spc="-1" strike="noStrike">
                <a:solidFill>
                  <a:srgbClr val="111418"/>
                </a:solidFill>
                <a:latin typeface="Arial"/>
              </a:rPr>
              <a:t>The handoff.</a:t>
            </a:r>
            <a:endParaRPr b="0" lang="en-US" sz="2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 name=""/>
          <p:cNvSpPr txBox="1"/>
          <p:nvPr/>
        </p:nvSpPr>
        <p:spPr>
          <a:xfrm>
            <a:off x="648000" y="378000"/>
            <a:ext cx="8784000" cy="792000"/>
          </a:xfrm>
          <a:prstGeom prst="rect">
            <a:avLst/>
          </a:prstGeom>
          <a:noFill/>
          <a:ln w="0">
            <a:noFill/>
          </a:ln>
        </p:spPr>
        <p:txBody>
          <a:bodyPr lIns="90000" rIns="90000" tIns="45000" bIns="45000" anchor="t">
            <a:noAutofit/>
          </a:bodyPr>
          <a:p>
            <a:r>
              <a:rPr b="1" lang="en-US" sz="4000" spc="-1" strike="noStrike">
                <a:solidFill>
                  <a:srgbClr val="0f3d57"/>
                </a:solidFill>
                <a:latin typeface="Arial"/>
              </a:rPr>
              <a:t>What changes today</a:t>
            </a:r>
            <a:endParaRPr b="0" lang="en-US" sz="4000" spc="-1" strike="noStrike">
              <a:solidFill>
                <a:srgbClr val="000000"/>
              </a:solidFill>
              <a:latin typeface="Arial"/>
            </a:endParaRPr>
          </a:p>
        </p:txBody>
      </p:sp>
      <p:sp>
        <p:nvSpPr>
          <p:cNvPr id="16"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17" name=""/>
          <p:cNvSpPr txBox="1"/>
          <p:nvPr/>
        </p:nvSpPr>
        <p:spPr>
          <a:xfrm>
            <a:off x="648000" y="1530000"/>
            <a:ext cx="8784000" cy="3780000"/>
          </a:xfrm>
          <a:prstGeom prst="rect">
            <a:avLst/>
          </a:prstGeom>
          <a:noFill/>
          <a:ln w="0">
            <a:noFill/>
          </a:ln>
        </p:spPr>
        <p:txBody>
          <a:bodyPr lIns="90000" rIns="90000" tIns="45000" bIns="45000" anchor="t">
            <a:noAutofit/>
          </a:bodyPr>
          <a:p>
            <a:r>
              <a:rPr b="0" lang="en-US" sz="2400" spc="-1" strike="noStrike">
                <a:solidFill>
                  <a:srgbClr val="111418"/>
                </a:solidFill>
                <a:latin typeface="Arial"/>
              </a:rPr>
              <a:t>• </a:t>
            </a:r>
            <a:r>
              <a:rPr b="0" lang="en-US" sz="2400" spc="-1" strike="noStrike">
                <a:solidFill>
                  <a:srgbClr val="111418"/>
                </a:solidFill>
                <a:latin typeface="Arial"/>
              </a:rPr>
              <a:t>Foundational material moved ahead of the session. This is the first module that runs that way.</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Short framing, then most of the block on the keyboard.</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I circulate instead of presenting.</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The work gets harder from here, and the instructions get less prescriptive.</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 name=""/>
          <p:cNvSpPr txBox="1"/>
          <p:nvPr/>
        </p:nvSpPr>
        <p:spPr>
          <a:xfrm>
            <a:off x="648000" y="378000"/>
            <a:ext cx="8784000" cy="792000"/>
          </a:xfrm>
          <a:prstGeom prst="rect">
            <a:avLst/>
          </a:prstGeom>
          <a:noFill/>
          <a:ln w="0">
            <a:noFill/>
          </a:ln>
        </p:spPr>
        <p:txBody>
          <a:bodyPr lIns="90000" rIns="90000" tIns="45000" bIns="45000" anchor="t">
            <a:noAutofit/>
          </a:bodyPr>
          <a:p>
            <a:r>
              <a:rPr b="1" lang="en-US" sz="4000" spc="-1" strike="noStrike">
                <a:solidFill>
                  <a:srgbClr val="0f3d57"/>
                </a:solidFill>
                <a:latin typeface="Arial"/>
              </a:rPr>
              <a:t>Last module did not land</a:t>
            </a:r>
            <a:endParaRPr b="0" lang="en-US" sz="4000" spc="-1" strike="noStrike">
              <a:solidFill>
                <a:srgbClr val="000000"/>
              </a:solidFill>
              <a:latin typeface="Arial"/>
            </a:endParaRPr>
          </a:p>
        </p:txBody>
      </p:sp>
      <p:sp>
        <p:nvSpPr>
          <p:cNvPr id="19"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20" name=""/>
          <p:cNvSpPr txBox="1"/>
          <p:nvPr/>
        </p:nvSpPr>
        <p:spPr>
          <a:xfrm>
            <a:off x="648000" y="1530000"/>
            <a:ext cx="8784000" cy="3780000"/>
          </a:xfrm>
          <a:prstGeom prst="rect">
            <a:avLst/>
          </a:prstGeom>
          <a:noFill/>
          <a:ln w="0">
            <a:noFill/>
          </a:ln>
        </p:spPr>
        <p:txBody>
          <a:bodyPr lIns="90000" rIns="90000" tIns="45000" bIns="45000" anchor="t">
            <a:noAutofit/>
          </a:bodyPr>
          <a:p>
            <a:r>
              <a:rPr b="0" lang="en-US" sz="2400" spc="-1" strike="noStrike">
                <a:solidFill>
                  <a:srgbClr val="111418"/>
                </a:solidFill>
                <a:latin typeface="Arial"/>
              </a:rPr>
              <a:t>• </a:t>
            </a:r>
            <a:r>
              <a:rPr b="0" lang="en-US" sz="2400" spc="-1" strike="noStrike">
                <a:solidFill>
                  <a:srgbClr val="111418"/>
                </a:solidFill>
                <a:latin typeface="Arial"/>
              </a:rPr>
              <a:t>The plan was to hand out every file through GitHub.</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The tool meant to accept invitations and push those files reported success while doing nothing.</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It found two of my own test repositories and reported on those.</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Nothing counted what should have been there against the class list, so nothing raised an alarm.</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 name=""/>
          <p:cNvSpPr txBox="1"/>
          <p:nvPr/>
        </p:nvSpPr>
        <p:spPr>
          <a:xfrm>
            <a:off x="648000" y="378000"/>
            <a:ext cx="8784000" cy="792000"/>
          </a:xfrm>
          <a:prstGeom prst="rect">
            <a:avLst/>
          </a:prstGeom>
          <a:noFill/>
          <a:ln w="0">
            <a:noFill/>
          </a:ln>
        </p:spPr>
        <p:txBody>
          <a:bodyPr lIns="90000" rIns="90000" tIns="45000" bIns="45000" anchor="t">
            <a:noAutofit/>
          </a:bodyPr>
          <a:p>
            <a:r>
              <a:rPr b="1" lang="en-US" sz="4000" spc="-1" strike="noStrike">
                <a:solidFill>
                  <a:srgbClr val="0f3d57"/>
                </a:solidFill>
                <a:latin typeface="Arial"/>
              </a:rPr>
              <a:t>Nobody is behind</a:t>
            </a:r>
            <a:endParaRPr b="0" lang="en-US" sz="4000" spc="-1" strike="noStrike">
              <a:solidFill>
                <a:srgbClr val="000000"/>
              </a:solidFill>
              <a:latin typeface="Arial"/>
            </a:endParaRPr>
          </a:p>
        </p:txBody>
      </p:sp>
      <p:sp>
        <p:nvSpPr>
          <p:cNvPr id="22"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23" name=""/>
          <p:cNvSpPr txBox="1"/>
          <p:nvPr/>
        </p:nvSpPr>
        <p:spPr>
          <a:xfrm>
            <a:off x="648000" y="1530000"/>
            <a:ext cx="8784000" cy="3780000"/>
          </a:xfrm>
          <a:prstGeom prst="rect">
            <a:avLst/>
          </a:prstGeom>
          <a:noFill/>
          <a:ln w="0">
            <a:noFill/>
          </a:ln>
        </p:spPr>
        <p:txBody>
          <a:bodyPr lIns="90000" rIns="90000" tIns="45000" bIns="45000" anchor="t">
            <a:noAutofit/>
          </a:bodyPr>
          <a:p>
            <a:r>
              <a:rPr b="0" lang="en-US" sz="2400" spc="-1" strike="noStrike">
                <a:solidFill>
                  <a:srgbClr val="111418"/>
                </a:solidFill>
                <a:latin typeface="Arial"/>
              </a:rPr>
              <a:t>• </a:t>
            </a:r>
            <a:r>
              <a:rPr b="0" lang="en-US" sz="2400" spc="-1" strike="noStrike">
                <a:solidFill>
                  <a:srgbClr val="111418"/>
                </a:solidFill>
                <a:latin typeface="Arial"/>
              </a:rPr>
              <a:t>Module 1's work folds into this module. It is not graded late.</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The channel is open. Your files are in your repository.</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No repository yet? We build it in the first block.</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 name=""/>
          <p:cNvSpPr txBox="1"/>
          <p:nvPr/>
        </p:nvSpPr>
        <p:spPr>
          <a:xfrm>
            <a:off x="648000" y="378000"/>
            <a:ext cx="8784000" cy="1053720"/>
          </a:xfrm>
          <a:prstGeom prst="rect">
            <a:avLst/>
          </a:prstGeom>
          <a:noFill/>
          <a:ln w="0">
            <a:noFill/>
          </a:ln>
        </p:spPr>
        <p:txBody>
          <a:bodyPr lIns="90000" rIns="90000" tIns="45000" bIns="45000" anchor="t">
            <a:noAutofit/>
          </a:bodyPr>
          <a:p>
            <a:r>
              <a:rPr b="1" lang="en-US" sz="3400" spc="-1" strike="noStrike">
                <a:solidFill>
                  <a:srgbClr val="0f3d57"/>
                </a:solidFill>
                <a:latin typeface="Arial"/>
              </a:rPr>
              <a:t>Why this is on the syllabus, not just an apology</a:t>
            </a:r>
            <a:endParaRPr b="0" lang="en-US" sz="3400" spc="-1" strike="noStrike">
              <a:solidFill>
                <a:srgbClr val="000000"/>
              </a:solidFill>
              <a:latin typeface="Arial"/>
            </a:endParaRPr>
          </a:p>
        </p:txBody>
      </p:sp>
      <p:sp>
        <p:nvSpPr>
          <p:cNvPr id="25"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26" name=""/>
          <p:cNvSpPr txBox="1"/>
          <p:nvPr/>
        </p:nvSpPr>
        <p:spPr>
          <a:xfrm>
            <a:off x="648000" y="1530000"/>
            <a:ext cx="8784000" cy="3780000"/>
          </a:xfrm>
          <a:prstGeom prst="rect">
            <a:avLst/>
          </a:prstGeom>
          <a:noFill/>
          <a:ln w="0">
            <a:noFill/>
          </a:ln>
        </p:spPr>
        <p:txBody>
          <a:bodyPr lIns="90000" rIns="90000" tIns="45000" bIns="45000" anchor="t">
            <a:noAutofit/>
          </a:bodyPr>
          <a:p>
            <a:r>
              <a:rPr b="0" lang="en-US" sz="2400" spc="-1" strike="noStrike">
                <a:solidFill>
                  <a:srgbClr val="111418"/>
                </a:solidFill>
                <a:latin typeface="Arial"/>
              </a:rPr>
              <a:t>A tool reported success while doing nothing, and nothing in the output said otherwise.</a:t>
            </a:r>
            <a:endParaRPr b="0" lang="en-US" sz="2400" spc="-1" strike="noStrike">
              <a:solidFill>
                <a:srgbClr val="000000"/>
              </a:solidFill>
              <a:latin typeface="Arial"/>
            </a:endParaRPr>
          </a:p>
          <a:p>
            <a:r>
              <a:rPr b="0" lang="en-US" sz="2400" spc="-1" strike="noStrike">
                <a:solidFill>
                  <a:srgbClr val="111418"/>
                </a:solidFill>
                <a:latin typeface="Arial"/>
              </a:rPr>
              <a:t>That is the same failure this course keeps warning you about in AI output: confident, well formed, and wrong, with no signal inside the answer.</a:t>
            </a:r>
            <a:endParaRPr b="0" lang="en-US" sz="2400" spc="-1" strike="noStrike">
              <a:solidFill>
                <a:srgbClr val="000000"/>
              </a:solidFill>
              <a:latin typeface="Arial"/>
            </a:endParaRPr>
          </a:p>
          <a:p>
            <a:r>
              <a:rPr b="0" lang="en-US" sz="2400" spc="-1" strike="noStrike">
                <a:solidFill>
                  <a:srgbClr val="111418"/>
                </a:solidFill>
                <a:latin typeface="Arial"/>
              </a:rPr>
              <a:t>You will meet it again today, in act 3.</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Where the class actually is</a:t>
            </a:r>
            <a:endParaRPr b="0" lang="en-US" sz="3400" spc="-1" strike="noStrike">
              <a:solidFill>
                <a:srgbClr val="000000"/>
              </a:solidFill>
              <a:latin typeface="Arial"/>
            </a:endParaRPr>
          </a:p>
        </p:txBody>
      </p:sp>
      <p:sp>
        <p:nvSpPr>
          <p:cNvPr id="28"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29" name=""/>
          <p:cNvSpPr txBox="1"/>
          <p:nvPr/>
        </p:nvSpPr>
        <p:spPr>
          <a:xfrm>
            <a:off x="576000" y="1530000"/>
            <a:ext cx="8928000" cy="324000"/>
          </a:xfrm>
          <a:prstGeom prst="rect">
            <a:avLst/>
          </a:prstGeom>
          <a:solidFill>
            <a:srgbClr val="0f3d57"/>
          </a:solidFill>
          <a:ln w="0">
            <a:noFill/>
          </a:ln>
        </p:spPr>
        <p:txBody>
          <a:bodyPr lIns="90000" rIns="90000" tIns="45000" bIns="45000" anchor="t">
            <a:noAutofit/>
          </a:bodyPr>
          <a:p>
            <a:endParaRPr b="0" lang="en-US" sz="1800" spc="-1" strike="noStrike">
              <a:solidFill>
                <a:srgbClr val="ffffff"/>
              </a:solidFill>
              <a:latin typeface="Arial"/>
            </a:endParaRPr>
          </a:p>
        </p:txBody>
      </p:sp>
      <p:sp>
        <p:nvSpPr>
          <p:cNvPr id="30" name=""/>
          <p:cNvSpPr txBox="1"/>
          <p:nvPr/>
        </p:nvSpPr>
        <p:spPr>
          <a:xfrm>
            <a:off x="648000" y="1573200"/>
            <a:ext cx="4302000" cy="316080"/>
          </a:xfrm>
          <a:prstGeom prst="rect">
            <a:avLst/>
          </a:prstGeom>
          <a:noFill/>
          <a:ln w="0">
            <a:noFill/>
          </a:ln>
        </p:spPr>
        <p:txBody>
          <a:bodyPr lIns="90000" rIns="90000" tIns="45000" bIns="45000" anchor="t">
            <a:noAutofit/>
          </a:bodyPr>
          <a:p>
            <a:r>
              <a:rPr b="1" lang="en-US" sz="1600" spc="-1" strike="noStrike">
                <a:solidFill>
                  <a:srgbClr val="ffffff"/>
                </a:solidFill>
                <a:latin typeface="Arial"/>
              </a:rPr>
              <a:t>Where you are</a:t>
            </a:r>
            <a:endParaRPr b="0" lang="en-US" sz="1600" spc="-1" strike="noStrike">
              <a:solidFill>
                <a:srgbClr val="000000"/>
              </a:solidFill>
              <a:latin typeface="Arial"/>
            </a:endParaRPr>
          </a:p>
        </p:txBody>
      </p:sp>
      <p:sp>
        <p:nvSpPr>
          <p:cNvPr id="31" name=""/>
          <p:cNvSpPr txBox="1"/>
          <p:nvPr/>
        </p:nvSpPr>
        <p:spPr>
          <a:xfrm>
            <a:off x="5130000" y="1573200"/>
            <a:ext cx="4302000" cy="316080"/>
          </a:xfrm>
          <a:prstGeom prst="rect">
            <a:avLst/>
          </a:prstGeom>
          <a:noFill/>
          <a:ln w="0">
            <a:noFill/>
          </a:ln>
        </p:spPr>
        <p:txBody>
          <a:bodyPr lIns="90000" rIns="90000" tIns="45000" bIns="45000" anchor="t">
            <a:noAutofit/>
          </a:bodyPr>
          <a:p>
            <a:r>
              <a:rPr b="1" lang="en-US" sz="1600" spc="-1" strike="noStrike">
                <a:solidFill>
                  <a:srgbClr val="ffffff"/>
                </a:solidFill>
                <a:latin typeface="Arial"/>
              </a:rPr>
              <a:t>What you do first</a:t>
            </a:r>
            <a:endParaRPr b="0" lang="en-US" sz="1600" spc="-1" strike="noStrike">
              <a:solidFill>
                <a:srgbClr val="000000"/>
              </a:solidFill>
              <a:latin typeface="Arial"/>
            </a:endParaRPr>
          </a:p>
        </p:txBody>
      </p:sp>
      <p:sp>
        <p:nvSpPr>
          <p:cNvPr id="32" name=""/>
          <p:cNvSpPr txBox="1"/>
          <p:nvPr/>
        </p:nvSpPr>
        <p:spPr>
          <a:xfrm>
            <a:off x="648000" y="1926000"/>
            <a:ext cx="4302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No repository</a:t>
            </a:r>
            <a:endParaRPr b="0" lang="en-US" sz="1600" spc="-1" strike="noStrike">
              <a:solidFill>
                <a:srgbClr val="000000"/>
              </a:solidFill>
              <a:latin typeface="Arial"/>
            </a:endParaRPr>
          </a:p>
        </p:txBody>
      </p:sp>
      <p:sp>
        <p:nvSpPr>
          <p:cNvPr id="33" name=""/>
          <p:cNvSpPr txBox="1"/>
          <p:nvPr/>
        </p:nvSpPr>
        <p:spPr>
          <a:xfrm>
            <a:off x="5130000" y="1926000"/>
            <a:ext cx="4302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Create sec-480, private, invite derp-cc</a:t>
            </a:r>
            <a:endParaRPr b="0" lang="en-US" sz="1600" spc="-1" strike="noStrike">
              <a:solidFill>
                <a:srgbClr val="000000"/>
              </a:solidFill>
              <a:latin typeface="Arial"/>
            </a:endParaRPr>
          </a:p>
        </p:txBody>
      </p:sp>
      <p:sp>
        <p:nvSpPr>
          <p:cNvPr id="34" name=""/>
          <p:cNvSpPr txBox="1"/>
          <p:nvPr/>
        </p:nvSpPr>
        <p:spPr>
          <a:xfrm>
            <a:off x="576000" y="2199600"/>
            <a:ext cx="8928000" cy="309600"/>
          </a:xfrm>
          <a:prstGeom prst="rect">
            <a:avLst/>
          </a:prstGeom>
          <a:solidFill>
            <a:srgbClr val="eff1ea"/>
          </a:solidFill>
          <a:ln w="0">
            <a:noFill/>
          </a:ln>
        </p:spPr>
        <p:txBody>
          <a:bodyPr lIns="90000" rIns="90000" tIns="45000" bIns="45000" anchor="t">
            <a:noAutofit/>
          </a:bodyPr>
          <a:p>
            <a:endParaRPr b="0" lang="en-US" sz="1800" spc="-1" strike="noStrike">
              <a:solidFill>
                <a:srgbClr val="000000"/>
              </a:solidFill>
              <a:latin typeface="Arial"/>
            </a:endParaRPr>
          </a:p>
        </p:txBody>
      </p:sp>
      <p:sp>
        <p:nvSpPr>
          <p:cNvPr id="35" name=""/>
          <p:cNvSpPr txBox="1"/>
          <p:nvPr/>
        </p:nvSpPr>
        <p:spPr>
          <a:xfrm>
            <a:off x="648000" y="2235600"/>
            <a:ext cx="4302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Repository is empty</a:t>
            </a:r>
            <a:endParaRPr b="0" lang="en-US" sz="1600" spc="-1" strike="noStrike">
              <a:solidFill>
                <a:srgbClr val="000000"/>
              </a:solidFill>
              <a:latin typeface="Arial"/>
            </a:endParaRPr>
          </a:p>
        </p:txBody>
      </p:sp>
      <p:sp>
        <p:nvSpPr>
          <p:cNvPr id="36" name=""/>
          <p:cNvSpPr txBox="1"/>
          <p:nvPr/>
        </p:nvSpPr>
        <p:spPr>
          <a:xfrm>
            <a:off x="5130000" y="2235600"/>
            <a:ext cx="4302000" cy="541800"/>
          </a:xfrm>
          <a:prstGeom prst="rect">
            <a:avLst/>
          </a:prstGeom>
          <a:noFill/>
          <a:ln w="0">
            <a:noFill/>
          </a:ln>
        </p:spPr>
        <p:txBody>
          <a:bodyPr lIns="90000" rIns="90000" tIns="45000" bIns="45000" anchor="t">
            <a:noAutofit/>
          </a:bodyPr>
          <a:p>
            <a:r>
              <a:rPr b="0" lang="en-US" sz="1600" spc="-1" strike="noStrike">
                <a:solidFill>
                  <a:srgbClr val="111418"/>
                </a:solidFill>
                <a:latin typeface="Arial"/>
              </a:rPr>
              <a:t>Push hello-world.md with your first and last name</a:t>
            </a:r>
            <a:endParaRPr b="0" lang="en-US" sz="1600" spc="-1" strike="noStrike">
              <a:solidFill>
                <a:srgbClr val="000000"/>
              </a:solidFill>
              <a:latin typeface="Arial"/>
            </a:endParaRPr>
          </a:p>
        </p:txBody>
      </p:sp>
      <p:sp>
        <p:nvSpPr>
          <p:cNvPr id="37" name=""/>
          <p:cNvSpPr txBox="1"/>
          <p:nvPr/>
        </p:nvSpPr>
        <p:spPr>
          <a:xfrm>
            <a:off x="648000" y="2545200"/>
            <a:ext cx="4302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Named something else</a:t>
            </a:r>
            <a:endParaRPr b="0" lang="en-US" sz="1600" spc="-1" strike="noStrike">
              <a:solidFill>
                <a:srgbClr val="000000"/>
              </a:solidFill>
              <a:latin typeface="Arial"/>
            </a:endParaRPr>
          </a:p>
        </p:txBody>
      </p:sp>
      <p:sp>
        <p:nvSpPr>
          <p:cNvPr id="38" name=""/>
          <p:cNvSpPr txBox="1"/>
          <p:nvPr/>
        </p:nvSpPr>
        <p:spPr>
          <a:xfrm>
            <a:off x="5130000" y="2545200"/>
            <a:ext cx="4302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Rename it to exactly sec-480</a:t>
            </a:r>
            <a:endParaRPr b="0" lang="en-US" sz="1600" spc="-1" strike="noStrike">
              <a:solidFill>
                <a:srgbClr val="000000"/>
              </a:solidFill>
              <a:latin typeface="Arial"/>
            </a:endParaRPr>
          </a:p>
        </p:txBody>
      </p:sp>
      <p:sp>
        <p:nvSpPr>
          <p:cNvPr id="39" name=""/>
          <p:cNvSpPr txBox="1"/>
          <p:nvPr/>
        </p:nvSpPr>
        <p:spPr>
          <a:xfrm>
            <a:off x="576000" y="2818800"/>
            <a:ext cx="8928000" cy="309600"/>
          </a:xfrm>
          <a:prstGeom prst="rect">
            <a:avLst/>
          </a:prstGeom>
          <a:solidFill>
            <a:srgbClr val="eff1ea"/>
          </a:solidFill>
          <a:ln w="0">
            <a:noFill/>
          </a:ln>
        </p:spPr>
        <p:txBody>
          <a:bodyPr lIns="90000" rIns="90000" tIns="45000" bIns="45000" anchor="t">
            <a:noAutofit/>
          </a:bodyPr>
          <a:p>
            <a:endParaRPr b="0" lang="en-US" sz="1800" spc="-1" strike="noStrike">
              <a:solidFill>
                <a:srgbClr val="000000"/>
              </a:solidFill>
              <a:latin typeface="Arial"/>
            </a:endParaRPr>
          </a:p>
        </p:txBody>
      </p:sp>
      <p:sp>
        <p:nvSpPr>
          <p:cNvPr id="40" name=""/>
          <p:cNvSpPr txBox="1"/>
          <p:nvPr/>
        </p:nvSpPr>
        <p:spPr>
          <a:xfrm>
            <a:off x="648000" y="2854800"/>
            <a:ext cx="4302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README only</a:t>
            </a:r>
            <a:endParaRPr b="0" lang="en-US" sz="1600" spc="-1" strike="noStrike">
              <a:solidFill>
                <a:srgbClr val="000000"/>
              </a:solidFill>
              <a:latin typeface="Arial"/>
            </a:endParaRPr>
          </a:p>
        </p:txBody>
      </p:sp>
      <p:sp>
        <p:nvSpPr>
          <p:cNvPr id="41" name=""/>
          <p:cNvSpPr txBox="1"/>
          <p:nvPr/>
        </p:nvSpPr>
        <p:spPr>
          <a:xfrm>
            <a:off x="5130000" y="2854800"/>
            <a:ext cx="4302000" cy="541800"/>
          </a:xfrm>
          <a:prstGeom prst="rect">
            <a:avLst/>
          </a:prstGeom>
          <a:noFill/>
          <a:ln w="0">
            <a:noFill/>
          </a:ln>
        </p:spPr>
        <p:txBody>
          <a:bodyPr lIns="90000" rIns="90000" tIns="45000" bIns="45000" anchor="t">
            <a:noAutofit/>
          </a:bodyPr>
          <a:p>
            <a:r>
              <a:rPr b="0" lang="en-US" sz="1600" spc="-1" strike="noStrike">
                <a:solidFill>
                  <a:srgbClr val="111418"/>
                </a:solidFill>
                <a:latin typeface="Arial"/>
              </a:rPr>
              <a:t>Push hello-world.md with your first and last name</a:t>
            </a:r>
            <a:endParaRPr b="0" lang="en-US" sz="1600" spc="-1" strike="noStrike">
              <a:solidFill>
                <a:srgbClr val="000000"/>
              </a:solidFill>
              <a:latin typeface="Arial"/>
            </a:endParaRPr>
          </a:p>
        </p:txBody>
      </p:sp>
      <p:sp>
        <p:nvSpPr>
          <p:cNvPr id="42" name=""/>
          <p:cNvSpPr txBox="1"/>
          <p:nvPr/>
        </p:nvSpPr>
        <p:spPr>
          <a:xfrm>
            <a:off x="576000" y="3114000"/>
            <a:ext cx="8928000" cy="21600"/>
          </a:xfrm>
          <a:prstGeom prst="rect">
            <a:avLst/>
          </a:prstGeom>
          <a:solidFill>
            <a:srgbClr val="0f3d57"/>
          </a:solidFill>
          <a:ln w="0">
            <a:noFill/>
          </a:ln>
        </p:spPr>
        <p:txBody>
          <a:bodyPr lIns="90000" rIns="90000" tIns="-23400" bIns="-23400" anchor="t">
            <a:noAutofit/>
          </a:bodyPr>
          <a:p>
            <a:endParaRPr b="0" lang="en-US" sz="1800" spc="-1" strike="noStrike">
              <a:solidFill>
                <a:srgbClr val="ffffff"/>
              </a:solidFill>
              <a:latin typeface="Arial"/>
            </a:endParaRPr>
          </a:p>
        </p:txBody>
      </p:sp>
      <p:sp>
        <p:nvSpPr>
          <p:cNvPr id="43" name=""/>
          <p:cNvSpPr txBox="1"/>
          <p:nvPr/>
        </p:nvSpPr>
        <p:spPr>
          <a:xfrm>
            <a:off x="648000" y="3164400"/>
            <a:ext cx="4302000" cy="316080"/>
          </a:xfrm>
          <a:prstGeom prst="rect">
            <a:avLst/>
          </a:prstGeom>
          <a:noFill/>
          <a:ln w="0">
            <a:noFill/>
          </a:ln>
        </p:spPr>
        <p:txBody>
          <a:bodyPr lIns="90000" rIns="90000" tIns="45000" bIns="45000" anchor="t">
            <a:noAutofit/>
          </a:bodyPr>
          <a:p>
            <a:r>
              <a:rPr b="1" lang="en-US" sz="1600" spc="-1" strike="noStrike">
                <a:solidFill>
                  <a:srgbClr val="0f3d57"/>
                </a:solidFill>
                <a:latin typeface="Arial"/>
              </a:rPr>
              <a:t>hello-world.md is there</a:t>
            </a:r>
            <a:endParaRPr b="0" lang="en-US" sz="1600" spc="-1" strike="noStrike">
              <a:solidFill>
                <a:srgbClr val="000000"/>
              </a:solidFill>
              <a:latin typeface="Arial"/>
            </a:endParaRPr>
          </a:p>
        </p:txBody>
      </p:sp>
      <p:sp>
        <p:nvSpPr>
          <p:cNvPr id="44" name=""/>
          <p:cNvSpPr txBox="1"/>
          <p:nvPr/>
        </p:nvSpPr>
        <p:spPr>
          <a:xfrm>
            <a:off x="5130000" y="3164400"/>
            <a:ext cx="4302000" cy="316080"/>
          </a:xfrm>
          <a:prstGeom prst="rect">
            <a:avLst/>
          </a:prstGeom>
          <a:noFill/>
          <a:ln w="0">
            <a:noFill/>
          </a:ln>
        </p:spPr>
        <p:txBody>
          <a:bodyPr lIns="90000" rIns="90000" tIns="45000" bIns="45000" anchor="t">
            <a:noAutofit/>
          </a:bodyPr>
          <a:p>
            <a:r>
              <a:rPr b="1" lang="en-US" sz="1600" spc="-1" strike="noStrike">
                <a:solidFill>
                  <a:srgbClr val="0f3d57"/>
                </a:solidFill>
                <a:latin typeface="Arial"/>
              </a:rPr>
              <a:t>Start reading the packet</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 name=""/>
          <p:cNvSpPr txBox="1"/>
          <p:nvPr/>
        </p:nvSpPr>
        <p:spPr>
          <a:xfrm>
            <a:off x="648000" y="378000"/>
            <a:ext cx="8784000" cy="792000"/>
          </a:xfrm>
          <a:prstGeom prst="rect">
            <a:avLst/>
          </a:prstGeom>
          <a:noFill/>
          <a:ln w="0">
            <a:noFill/>
          </a:ln>
        </p:spPr>
        <p:txBody>
          <a:bodyPr lIns="90000" rIns="90000" tIns="45000" bIns="45000" anchor="t">
            <a:noAutofit/>
          </a:bodyPr>
          <a:p>
            <a:r>
              <a:rPr b="1" lang="en-US" sz="4000" spc="-1" strike="noStrike">
                <a:solidFill>
                  <a:srgbClr val="0f3d57"/>
                </a:solidFill>
                <a:latin typeface="Arial"/>
              </a:rPr>
              <a:t>GitHub is the hub</a:t>
            </a:r>
            <a:endParaRPr b="0" lang="en-US" sz="4000" spc="-1" strike="noStrike">
              <a:solidFill>
                <a:srgbClr val="000000"/>
              </a:solidFill>
              <a:latin typeface="Arial"/>
            </a:endParaRPr>
          </a:p>
        </p:txBody>
      </p:sp>
      <p:sp>
        <p:nvSpPr>
          <p:cNvPr id="46"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47" name=""/>
          <p:cNvSpPr txBox="1"/>
          <p:nvPr/>
        </p:nvSpPr>
        <p:spPr>
          <a:xfrm>
            <a:off x="648000" y="1530000"/>
            <a:ext cx="8784000" cy="3780000"/>
          </a:xfrm>
          <a:prstGeom prst="rect">
            <a:avLst/>
          </a:prstGeom>
          <a:noFill/>
          <a:ln w="0">
            <a:noFill/>
          </a:ln>
        </p:spPr>
        <p:txBody>
          <a:bodyPr lIns="90000" rIns="90000" tIns="45000" bIns="45000" anchor="t">
            <a:noAutofit/>
          </a:bodyPr>
          <a:p>
            <a:r>
              <a:rPr b="0" lang="en-US" sz="2400" spc="-1" strike="noStrike">
                <a:solidFill>
                  <a:srgbClr val="111418"/>
                </a:solidFill>
                <a:latin typeface="Arial"/>
              </a:rPr>
              <a:t>• </a:t>
            </a:r>
            <a:r>
              <a:rPr b="0" lang="en-US" sz="2400" spc="-1" strike="noStrike">
                <a:solidFill>
                  <a:srgbClr val="111418"/>
                </a:solidFill>
                <a:latin typeface="Arial"/>
              </a:rPr>
              <a:t>Material comes to you in your repository. Work goes back the same way.</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Every module, both directions, all term.</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Canvas is the exception path, not the default.</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
          <p:cNvSpPr txBox="1"/>
          <p:nvPr/>
        </p:nvSpPr>
        <p:spPr>
          <a:xfrm>
            <a:off x="648000" y="378000"/>
            <a:ext cx="8784000" cy="792000"/>
          </a:xfrm>
          <a:prstGeom prst="rect">
            <a:avLst/>
          </a:prstGeom>
          <a:noFill/>
          <a:ln w="0">
            <a:noFill/>
          </a:ln>
        </p:spPr>
        <p:txBody>
          <a:bodyPr lIns="90000" rIns="90000" tIns="45000" bIns="45000" anchor="t">
            <a:noAutofit/>
          </a:bodyPr>
          <a:p>
            <a:r>
              <a:rPr b="1" lang="en-US" sz="4000" spc="-1" strike="noStrike">
                <a:solidFill>
                  <a:srgbClr val="0f3d57"/>
                </a:solidFill>
                <a:latin typeface="Arial"/>
              </a:rPr>
              <a:t>Today is a story, not a task list</a:t>
            </a:r>
            <a:endParaRPr b="0" lang="en-US" sz="4000" spc="-1" strike="noStrike">
              <a:solidFill>
                <a:srgbClr val="000000"/>
              </a:solidFill>
              <a:latin typeface="Arial"/>
            </a:endParaRPr>
          </a:p>
        </p:txBody>
      </p:sp>
      <p:sp>
        <p:nvSpPr>
          <p:cNvPr id="49"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50" name=""/>
          <p:cNvSpPr txBox="1"/>
          <p:nvPr/>
        </p:nvSpPr>
        <p:spPr>
          <a:xfrm>
            <a:off x="648000" y="1530000"/>
            <a:ext cx="8784000" cy="3780000"/>
          </a:xfrm>
          <a:prstGeom prst="rect">
            <a:avLst/>
          </a:prstGeom>
          <a:noFill/>
          <a:ln w="0">
            <a:noFill/>
          </a:ln>
        </p:spPr>
        <p:txBody>
          <a:bodyPr lIns="90000" rIns="90000" tIns="45000" bIns="45000" anchor="t">
            <a:noAutofit/>
          </a:bodyPr>
          <a:p>
            <a:r>
              <a:rPr b="0" lang="en-US" sz="2700" spc="-1" strike="noStrike">
                <a:solidFill>
                  <a:srgbClr val="111418"/>
                </a:solidFill>
                <a:latin typeface="Arial"/>
              </a:rPr>
              <a:t>Someone left. You have their job.</a:t>
            </a:r>
            <a:endParaRPr b="0" lang="en-US" sz="2700" spc="-1" strike="noStrike">
              <a:solidFill>
                <a:srgbClr val="000000"/>
              </a:solidFill>
              <a:latin typeface="Arial"/>
            </a:endParaRPr>
          </a:p>
          <a:p>
            <a:r>
              <a:rPr b="0" lang="en-US" sz="2700" spc="-1" strike="noStrike">
                <a:solidFill>
                  <a:srgbClr val="111418"/>
                </a:solidFill>
                <a:latin typeface="Arial"/>
              </a:rPr>
              <a:t>They left a note, a ticket, and twenty lines of log. They did not leave the part where they explain how they actually did the work.</a:t>
            </a:r>
            <a:endParaRPr b="0" lang="en-US" sz="2700" spc="-1" strike="noStrike">
              <a:solidFill>
                <a:srgbClr val="000000"/>
              </a:solidFill>
              <a:latin typeface="Arial"/>
            </a:endParaRPr>
          </a:p>
          <a:p>
            <a:r>
              <a:rPr b="0" lang="en-US" sz="2700" spc="-1" strike="noStrike">
                <a:solidFill>
                  <a:srgbClr val="111418"/>
                </a:solidFill>
                <a:latin typeface="Arial"/>
              </a:rPr>
              <a:t>Four acts. Each one exists because the one before it left something unfinished.</a:t>
            </a:r>
            <a:endParaRPr b="0" lang="en-US" sz="27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The four acts</a:t>
            </a:r>
            <a:endParaRPr b="0" lang="en-US" sz="3400" spc="-1" strike="noStrike">
              <a:solidFill>
                <a:srgbClr val="000000"/>
              </a:solidFill>
              <a:latin typeface="Arial"/>
            </a:endParaRPr>
          </a:p>
        </p:txBody>
      </p:sp>
      <p:sp>
        <p:nvSpPr>
          <p:cNvPr id="52"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53" name=""/>
          <p:cNvSpPr txBox="1"/>
          <p:nvPr/>
        </p:nvSpPr>
        <p:spPr>
          <a:xfrm>
            <a:off x="576000" y="1530000"/>
            <a:ext cx="8928000" cy="324000"/>
          </a:xfrm>
          <a:prstGeom prst="rect">
            <a:avLst/>
          </a:prstGeom>
          <a:solidFill>
            <a:srgbClr val="0f3d57"/>
          </a:solidFill>
          <a:ln w="0">
            <a:noFill/>
          </a:ln>
        </p:spPr>
        <p:txBody>
          <a:bodyPr lIns="90000" rIns="90000" tIns="45000" bIns="45000" anchor="t">
            <a:noAutofit/>
          </a:bodyPr>
          <a:p>
            <a:endParaRPr b="0" lang="en-US" sz="1800" spc="-1" strike="noStrike">
              <a:solidFill>
                <a:srgbClr val="ffffff"/>
              </a:solidFill>
              <a:latin typeface="Arial"/>
            </a:endParaRPr>
          </a:p>
        </p:txBody>
      </p:sp>
      <p:sp>
        <p:nvSpPr>
          <p:cNvPr id="54" name=""/>
          <p:cNvSpPr txBox="1"/>
          <p:nvPr/>
        </p:nvSpPr>
        <p:spPr>
          <a:xfrm>
            <a:off x="648000" y="1573200"/>
            <a:ext cx="4302000" cy="316080"/>
          </a:xfrm>
          <a:prstGeom prst="rect">
            <a:avLst/>
          </a:prstGeom>
          <a:noFill/>
          <a:ln w="0">
            <a:noFill/>
          </a:ln>
        </p:spPr>
        <p:txBody>
          <a:bodyPr lIns="90000" rIns="90000" tIns="45000" bIns="45000" anchor="t">
            <a:noAutofit/>
          </a:bodyPr>
          <a:p>
            <a:r>
              <a:rPr b="1" lang="en-US" sz="1600" spc="-1" strike="noStrike">
                <a:solidFill>
                  <a:srgbClr val="ffffff"/>
                </a:solidFill>
                <a:latin typeface="Arial"/>
              </a:rPr>
              <a:t>Act</a:t>
            </a:r>
            <a:endParaRPr b="0" lang="en-US" sz="1600" spc="-1" strike="noStrike">
              <a:solidFill>
                <a:srgbClr val="000000"/>
              </a:solidFill>
              <a:latin typeface="Arial"/>
            </a:endParaRPr>
          </a:p>
        </p:txBody>
      </p:sp>
      <p:sp>
        <p:nvSpPr>
          <p:cNvPr id="55" name=""/>
          <p:cNvSpPr txBox="1"/>
          <p:nvPr/>
        </p:nvSpPr>
        <p:spPr>
          <a:xfrm>
            <a:off x="5130000" y="1573200"/>
            <a:ext cx="4302000" cy="316080"/>
          </a:xfrm>
          <a:prstGeom prst="rect">
            <a:avLst/>
          </a:prstGeom>
          <a:noFill/>
          <a:ln w="0">
            <a:noFill/>
          </a:ln>
        </p:spPr>
        <p:txBody>
          <a:bodyPr lIns="90000" rIns="90000" tIns="45000" bIns="45000" anchor="t">
            <a:noAutofit/>
          </a:bodyPr>
          <a:p>
            <a:r>
              <a:rPr b="1" lang="en-US" sz="1600" spc="-1" strike="noStrike">
                <a:solidFill>
                  <a:srgbClr val="ffffff"/>
                </a:solidFill>
                <a:latin typeface="Arial"/>
              </a:rPr>
              <a:t>What you do</a:t>
            </a:r>
            <a:endParaRPr b="0" lang="en-US" sz="1600" spc="-1" strike="noStrike">
              <a:solidFill>
                <a:srgbClr val="000000"/>
              </a:solidFill>
              <a:latin typeface="Arial"/>
            </a:endParaRPr>
          </a:p>
        </p:txBody>
      </p:sp>
      <p:sp>
        <p:nvSpPr>
          <p:cNvPr id="56" name=""/>
          <p:cNvSpPr txBox="1"/>
          <p:nvPr/>
        </p:nvSpPr>
        <p:spPr>
          <a:xfrm>
            <a:off x="648000" y="1926000"/>
            <a:ext cx="4302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1</a:t>
            </a:r>
            <a:endParaRPr b="0" lang="en-US" sz="1600" spc="-1" strike="noStrike">
              <a:solidFill>
                <a:srgbClr val="000000"/>
              </a:solidFill>
              <a:latin typeface="Arial"/>
            </a:endParaRPr>
          </a:p>
        </p:txBody>
      </p:sp>
      <p:sp>
        <p:nvSpPr>
          <p:cNvPr id="57" name=""/>
          <p:cNvSpPr txBox="1"/>
          <p:nvPr/>
        </p:nvSpPr>
        <p:spPr>
          <a:xfrm>
            <a:off x="5130000" y="1926000"/>
            <a:ext cx="4302000" cy="541800"/>
          </a:xfrm>
          <a:prstGeom prst="rect">
            <a:avLst/>
          </a:prstGeom>
          <a:noFill/>
          <a:ln w="0">
            <a:noFill/>
          </a:ln>
        </p:spPr>
        <p:txBody>
          <a:bodyPr lIns="90000" rIns="90000" tIns="45000" bIns="45000" anchor="t">
            <a:noAutofit/>
          </a:bodyPr>
          <a:p>
            <a:r>
              <a:rPr b="0" lang="en-US" sz="1600" spc="-1" strike="noStrike">
                <a:solidFill>
                  <a:srgbClr val="111418"/>
                </a:solidFill>
                <a:latin typeface="Arial"/>
              </a:rPr>
              <a:t>Write the process the note should have contained</a:t>
            </a:r>
            <a:endParaRPr b="0" lang="en-US" sz="1600" spc="-1" strike="noStrike">
              <a:solidFill>
                <a:srgbClr val="000000"/>
              </a:solidFill>
              <a:latin typeface="Arial"/>
            </a:endParaRPr>
          </a:p>
        </p:txBody>
      </p:sp>
      <p:sp>
        <p:nvSpPr>
          <p:cNvPr id="58" name=""/>
          <p:cNvSpPr txBox="1"/>
          <p:nvPr/>
        </p:nvSpPr>
        <p:spPr>
          <a:xfrm>
            <a:off x="576000" y="2199600"/>
            <a:ext cx="8928000" cy="309600"/>
          </a:xfrm>
          <a:prstGeom prst="rect">
            <a:avLst/>
          </a:prstGeom>
          <a:solidFill>
            <a:srgbClr val="eff1ea"/>
          </a:solidFill>
          <a:ln w="0">
            <a:noFill/>
          </a:ln>
        </p:spPr>
        <p:txBody>
          <a:bodyPr lIns="90000" rIns="90000" tIns="45000" bIns="45000" anchor="t">
            <a:noAutofit/>
          </a:bodyPr>
          <a:p>
            <a:endParaRPr b="0" lang="en-US" sz="1800" spc="-1" strike="noStrike">
              <a:solidFill>
                <a:srgbClr val="000000"/>
              </a:solidFill>
              <a:latin typeface="Arial"/>
            </a:endParaRPr>
          </a:p>
        </p:txBody>
      </p:sp>
      <p:sp>
        <p:nvSpPr>
          <p:cNvPr id="59" name=""/>
          <p:cNvSpPr txBox="1"/>
          <p:nvPr/>
        </p:nvSpPr>
        <p:spPr>
          <a:xfrm>
            <a:off x="648000" y="2235600"/>
            <a:ext cx="4302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2</a:t>
            </a:r>
            <a:endParaRPr b="0" lang="en-US" sz="1600" spc="-1" strike="noStrike">
              <a:solidFill>
                <a:srgbClr val="000000"/>
              </a:solidFill>
              <a:latin typeface="Arial"/>
            </a:endParaRPr>
          </a:p>
        </p:txBody>
      </p:sp>
      <p:sp>
        <p:nvSpPr>
          <p:cNvPr id="60" name=""/>
          <p:cNvSpPr txBox="1"/>
          <p:nvPr/>
        </p:nvSpPr>
        <p:spPr>
          <a:xfrm>
            <a:off x="5130000" y="2235600"/>
            <a:ext cx="4302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Run it on the evidence</a:t>
            </a:r>
            <a:endParaRPr b="0" lang="en-US" sz="1600" spc="-1" strike="noStrike">
              <a:solidFill>
                <a:srgbClr val="000000"/>
              </a:solidFill>
              <a:latin typeface="Arial"/>
            </a:endParaRPr>
          </a:p>
        </p:txBody>
      </p:sp>
      <p:sp>
        <p:nvSpPr>
          <p:cNvPr id="61" name=""/>
          <p:cNvSpPr txBox="1"/>
          <p:nvPr/>
        </p:nvSpPr>
        <p:spPr>
          <a:xfrm>
            <a:off x="648000" y="2545200"/>
            <a:ext cx="4302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3</a:t>
            </a:r>
            <a:endParaRPr b="0" lang="en-US" sz="1600" spc="-1" strike="noStrike">
              <a:solidFill>
                <a:srgbClr val="000000"/>
              </a:solidFill>
              <a:latin typeface="Arial"/>
            </a:endParaRPr>
          </a:p>
        </p:txBody>
      </p:sp>
      <p:sp>
        <p:nvSpPr>
          <p:cNvPr id="62" name=""/>
          <p:cNvSpPr txBox="1"/>
          <p:nvPr/>
        </p:nvSpPr>
        <p:spPr>
          <a:xfrm>
            <a:off x="5130000" y="2545200"/>
            <a:ext cx="4302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Find what it missed, then fix the process</a:t>
            </a:r>
            <a:endParaRPr b="0" lang="en-US" sz="1600" spc="-1" strike="noStrike">
              <a:solidFill>
                <a:srgbClr val="000000"/>
              </a:solidFill>
              <a:latin typeface="Arial"/>
            </a:endParaRPr>
          </a:p>
        </p:txBody>
      </p:sp>
      <p:sp>
        <p:nvSpPr>
          <p:cNvPr id="63" name=""/>
          <p:cNvSpPr txBox="1"/>
          <p:nvPr/>
        </p:nvSpPr>
        <p:spPr>
          <a:xfrm>
            <a:off x="576000" y="2818800"/>
            <a:ext cx="8928000" cy="309600"/>
          </a:xfrm>
          <a:prstGeom prst="rect">
            <a:avLst/>
          </a:prstGeom>
          <a:solidFill>
            <a:srgbClr val="eff1ea"/>
          </a:solidFill>
          <a:ln w="0">
            <a:noFill/>
          </a:ln>
        </p:spPr>
        <p:txBody>
          <a:bodyPr lIns="90000" rIns="90000" tIns="45000" bIns="45000" anchor="t">
            <a:noAutofit/>
          </a:bodyPr>
          <a:p>
            <a:endParaRPr b="0" lang="en-US" sz="1800" spc="-1" strike="noStrike">
              <a:solidFill>
                <a:srgbClr val="000000"/>
              </a:solidFill>
              <a:latin typeface="Arial"/>
            </a:endParaRPr>
          </a:p>
        </p:txBody>
      </p:sp>
      <p:sp>
        <p:nvSpPr>
          <p:cNvPr id="64" name=""/>
          <p:cNvSpPr txBox="1"/>
          <p:nvPr/>
        </p:nvSpPr>
        <p:spPr>
          <a:xfrm>
            <a:off x="576000" y="2804400"/>
            <a:ext cx="8928000" cy="21600"/>
          </a:xfrm>
          <a:prstGeom prst="rect">
            <a:avLst/>
          </a:prstGeom>
          <a:solidFill>
            <a:srgbClr val="0f3d57"/>
          </a:solidFill>
          <a:ln w="0">
            <a:noFill/>
          </a:ln>
        </p:spPr>
        <p:txBody>
          <a:bodyPr lIns="90000" rIns="90000" tIns="-23400" bIns="-23400" anchor="t">
            <a:noAutofit/>
          </a:bodyPr>
          <a:p>
            <a:endParaRPr b="0" lang="en-US" sz="1800" spc="-1" strike="noStrike">
              <a:solidFill>
                <a:srgbClr val="ffffff"/>
              </a:solidFill>
              <a:latin typeface="Arial"/>
            </a:endParaRPr>
          </a:p>
        </p:txBody>
      </p:sp>
      <p:sp>
        <p:nvSpPr>
          <p:cNvPr id="65" name=""/>
          <p:cNvSpPr txBox="1"/>
          <p:nvPr/>
        </p:nvSpPr>
        <p:spPr>
          <a:xfrm>
            <a:off x="648000" y="2854800"/>
            <a:ext cx="4302000" cy="316080"/>
          </a:xfrm>
          <a:prstGeom prst="rect">
            <a:avLst/>
          </a:prstGeom>
          <a:noFill/>
          <a:ln w="0">
            <a:noFill/>
          </a:ln>
        </p:spPr>
        <p:txBody>
          <a:bodyPr lIns="90000" rIns="90000" tIns="45000" bIns="45000" anchor="t">
            <a:noAutofit/>
          </a:bodyPr>
          <a:p>
            <a:r>
              <a:rPr b="1" lang="en-US" sz="1600" spc="-1" strike="noStrike">
                <a:solidFill>
                  <a:srgbClr val="0f3d57"/>
                </a:solidFill>
                <a:latin typeface="Arial"/>
              </a:rPr>
              <a:t>4</a:t>
            </a:r>
            <a:endParaRPr b="0" lang="en-US" sz="1600" spc="-1" strike="noStrike">
              <a:solidFill>
                <a:srgbClr val="000000"/>
              </a:solidFill>
              <a:latin typeface="Arial"/>
            </a:endParaRPr>
          </a:p>
        </p:txBody>
      </p:sp>
      <p:sp>
        <p:nvSpPr>
          <p:cNvPr id="66" name=""/>
          <p:cNvSpPr txBox="1"/>
          <p:nvPr/>
        </p:nvSpPr>
        <p:spPr>
          <a:xfrm>
            <a:off x="5130000" y="2854800"/>
            <a:ext cx="4302000" cy="316080"/>
          </a:xfrm>
          <a:prstGeom prst="rect">
            <a:avLst/>
          </a:prstGeom>
          <a:noFill/>
          <a:ln w="0">
            <a:noFill/>
          </a:ln>
        </p:spPr>
        <p:txBody>
          <a:bodyPr lIns="90000" rIns="90000" tIns="45000" bIns="45000" anchor="t">
            <a:noAutofit/>
          </a:bodyPr>
          <a:p>
            <a:r>
              <a:rPr b="1" lang="en-US" sz="1600" spc="-1" strike="noStrike">
                <a:solidFill>
                  <a:srgbClr val="0f3d57"/>
                </a:solidFill>
                <a:latin typeface="Arial"/>
              </a:rPr>
              <a:t>Write the finding, hand the whole thing on</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
          <p:cNvSpPr txBox="1"/>
          <p:nvPr/>
        </p:nvSpPr>
        <p:spPr>
          <a:xfrm>
            <a:off x="648000" y="378000"/>
            <a:ext cx="8784000" cy="792000"/>
          </a:xfrm>
          <a:prstGeom prst="rect">
            <a:avLst/>
          </a:prstGeom>
          <a:noFill/>
          <a:ln w="0">
            <a:noFill/>
          </a:ln>
        </p:spPr>
        <p:txBody>
          <a:bodyPr lIns="90000" rIns="90000" tIns="45000" bIns="45000" anchor="t">
            <a:noAutofit/>
          </a:bodyPr>
          <a:p>
            <a:r>
              <a:rPr b="1" lang="en-US" sz="4000" spc="-1" strike="noStrike">
                <a:solidFill>
                  <a:srgbClr val="0f3d57"/>
                </a:solidFill>
                <a:latin typeface="Arial"/>
              </a:rPr>
              <a:t>Act 3 is where the marks are</a:t>
            </a:r>
            <a:endParaRPr b="0" lang="en-US" sz="4000" spc="-1" strike="noStrike">
              <a:solidFill>
                <a:srgbClr val="000000"/>
              </a:solidFill>
              <a:latin typeface="Arial"/>
            </a:endParaRPr>
          </a:p>
        </p:txBody>
      </p:sp>
      <p:sp>
        <p:nvSpPr>
          <p:cNvPr id="68"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69" name=""/>
          <p:cNvSpPr txBox="1"/>
          <p:nvPr/>
        </p:nvSpPr>
        <p:spPr>
          <a:xfrm>
            <a:off x="648000" y="1530000"/>
            <a:ext cx="8784000" cy="3780000"/>
          </a:xfrm>
          <a:prstGeom prst="rect">
            <a:avLst/>
          </a:prstGeom>
          <a:noFill/>
          <a:ln w="0">
            <a:noFill/>
          </a:ln>
        </p:spPr>
        <p:txBody>
          <a:bodyPr lIns="90000" rIns="90000" tIns="45000" bIns="45000" anchor="t">
            <a:noAutofit/>
          </a:bodyPr>
          <a:p>
            <a:r>
              <a:rPr b="0" lang="en-US" sz="2400" spc="-1" strike="noStrike">
                <a:solidFill>
                  <a:srgbClr val="111418"/>
                </a:solidFill>
                <a:latin typeface="Arial"/>
              </a:rPr>
              <a:t>• </a:t>
            </a:r>
            <a:r>
              <a:rPr b="0" lang="en-US" sz="2400" spc="-1" strike="noStrike">
                <a:solidFill>
                  <a:srgbClr val="111418"/>
                </a:solidFill>
                <a:latin typeface="Arial"/>
              </a:rPr>
              <a:t>It is 40% of the module.</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It is the only act with no new tool in it.</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Acts 1, 2 and 4 can be done by following instructions carefully. Act 3 cannot.</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A prompt is not an instruction set</a:t>
            </a:r>
            <a:endParaRPr b="0" lang="en-US" sz="3400" spc="-1" strike="noStrike">
              <a:solidFill>
                <a:srgbClr val="000000"/>
              </a:solidFill>
              <a:latin typeface="Arial"/>
            </a:endParaRPr>
          </a:p>
        </p:txBody>
      </p:sp>
      <p:sp>
        <p:nvSpPr>
          <p:cNvPr id="71"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72" name=""/>
          <p:cNvSpPr txBox="1"/>
          <p:nvPr/>
        </p:nvSpPr>
        <p:spPr>
          <a:xfrm>
            <a:off x="648000" y="1530000"/>
            <a:ext cx="8784000" cy="3780000"/>
          </a:xfrm>
          <a:prstGeom prst="rect">
            <a:avLst/>
          </a:prstGeom>
          <a:noFill/>
          <a:ln w="0">
            <a:noFill/>
          </a:ln>
        </p:spPr>
        <p:txBody>
          <a:bodyPr lIns="90000" rIns="90000" tIns="45000" bIns="45000" anchor="t">
            <a:noAutofit/>
          </a:bodyPr>
          <a:p>
            <a:r>
              <a:rPr b="0" lang="en-US" sz="2400" spc="-1" strike="noStrike">
                <a:solidFill>
                  <a:srgbClr val="111418"/>
                </a:solidFill>
                <a:latin typeface="Arial"/>
              </a:rPr>
              <a:t>• </a:t>
            </a:r>
            <a:r>
              <a:rPr b="0" lang="en-US" sz="2400" spc="-1" strike="noStrike">
                <a:solidFill>
                  <a:srgbClr val="111418"/>
                </a:solidFill>
                <a:latin typeface="Arial"/>
              </a:rPr>
              <a:t>A **prompt** is what you typed, once.</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An **instruction set** is what the platform reads before every turn, and it keeps applying.</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The difference is durability. Only ever write prompts and you re-explain yourself every session.</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Re-explaining yourself is the most common way people burn a usage window.</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What makes an instruction checkable</a:t>
            </a:r>
            <a:endParaRPr b="0" lang="en-US" sz="3400" spc="-1" strike="noStrike">
              <a:solidFill>
                <a:srgbClr val="000000"/>
              </a:solidFill>
              <a:latin typeface="Arial"/>
            </a:endParaRPr>
          </a:p>
        </p:txBody>
      </p:sp>
      <p:sp>
        <p:nvSpPr>
          <p:cNvPr id="74"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75" name=""/>
          <p:cNvSpPr txBox="1"/>
          <p:nvPr/>
        </p:nvSpPr>
        <p:spPr>
          <a:xfrm>
            <a:off x="576000" y="1530000"/>
            <a:ext cx="8928000" cy="324000"/>
          </a:xfrm>
          <a:prstGeom prst="rect">
            <a:avLst/>
          </a:prstGeom>
          <a:solidFill>
            <a:srgbClr val="0f3d57"/>
          </a:solidFill>
          <a:ln w="0">
            <a:noFill/>
          </a:ln>
        </p:spPr>
        <p:txBody>
          <a:bodyPr lIns="90000" rIns="90000" tIns="45000" bIns="45000" anchor="t">
            <a:noAutofit/>
          </a:bodyPr>
          <a:p>
            <a:endParaRPr b="0" lang="en-US" sz="1800" spc="-1" strike="noStrike">
              <a:solidFill>
                <a:srgbClr val="ffffff"/>
              </a:solidFill>
              <a:latin typeface="Arial"/>
            </a:endParaRPr>
          </a:p>
        </p:txBody>
      </p:sp>
      <p:sp>
        <p:nvSpPr>
          <p:cNvPr id="76" name=""/>
          <p:cNvSpPr txBox="1"/>
          <p:nvPr/>
        </p:nvSpPr>
        <p:spPr>
          <a:xfrm>
            <a:off x="648000" y="1573200"/>
            <a:ext cx="4302000" cy="316080"/>
          </a:xfrm>
          <a:prstGeom prst="rect">
            <a:avLst/>
          </a:prstGeom>
          <a:noFill/>
          <a:ln w="0">
            <a:noFill/>
          </a:ln>
        </p:spPr>
        <p:txBody>
          <a:bodyPr lIns="90000" rIns="90000" tIns="45000" bIns="45000" anchor="t">
            <a:noAutofit/>
          </a:bodyPr>
          <a:p>
            <a:r>
              <a:rPr b="1" lang="en-US" sz="1600" spc="-1" strike="noStrike">
                <a:solidFill>
                  <a:srgbClr val="ffffff"/>
                </a:solidFill>
                <a:latin typeface="Arial"/>
              </a:rPr>
              <a:t>Instruction</a:t>
            </a:r>
            <a:endParaRPr b="0" lang="en-US" sz="1600" spc="-1" strike="noStrike">
              <a:solidFill>
                <a:srgbClr val="000000"/>
              </a:solidFill>
              <a:latin typeface="Arial"/>
            </a:endParaRPr>
          </a:p>
        </p:txBody>
      </p:sp>
      <p:sp>
        <p:nvSpPr>
          <p:cNvPr id="77" name=""/>
          <p:cNvSpPr txBox="1"/>
          <p:nvPr/>
        </p:nvSpPr>
        <p:spPr>
          <a:xfrm>
            <a:off x="5130000" y="1573200"/>
            <a:ext cx="4302000" cy="316080"/>
          </a:xfrm>
          <a:prstGeom prst="rect">
            <a:avLst/>
          </a:prstGeom>
          <a:noFill/>
          <a:ln w="0">
            <a:noFill/>
          </a:ln>
        </p:spPr>
        <p:txBody>
          <a:bodyPr lIns="90000" rIns="90000" tIns="45000" bIns="45000" anchor="t">
            <a:noAutofit/>
          </a:bodyPr>
          <a:p>
            <a:r>
              <a:rPr b="1" lang="en-US" sz="1600" spc="-1" strike="noStrike">
                <a:solidFill>
                  <a:srgbClr val="ffffff"/>
                </a:solidFill>
                <a:latin typeface="Arial"/>
              </a:rPr>
              <a:t>Verdict</a:t>
            </a:r>
            <a:endParaRPr b="0" lang="en-US" sz="1600" spc="-1" strike="noStrike">
              <a:solidFill>
                <a:srgbClr val="000000"/>
              </a:solidFill>
              <a:latin typeface="Arial"/>
            </a:endParaRPr>
          </a:p>
        </p:txBody>
      </p:sp>
      <p:sp>
        <p:nvSpPr>
          <p:cNvPr id="78" name=""/>
          <p:cNvSpPr txBox="1"/>
          <p:nvPr/>
        </p:nvSpPr>
        <p:spPr>
          <a:xfrm>
            <a:off x="648000" y="1926000"/>
            <a:ext cx="4302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Be thorough and accurate</a:t>
            </a:r>
            <a:endParaRPr b="0" lang="en-US" sz="1600" spc="-1" strike="noStrike">
              <a:solidFill>
                <a:srgbClr val="000000"/>
              </a:solidFill>
              <a:latin typeface="Arial"/>
            </a:endParaRPr>
          </a:p>
        </p:txBody>
      </p:sp>
      <p:sp>
        <p:nvSpPr>
          <p:cNvPr id="79" name=""/>
          <p:cNvSpPr txBox="1"/>
          <p:nvPr/>
        </p:nvSpPr>
        <p:spPr>
          <a:xfrm>
            <a:off x="5130000" y="1926000"/>
            <a:ext cx="4302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Constrains nothing. No output has failed it</a:t>
            </a:r>
            <a:endParaRPr b="0" lang="en-US" sz="1600" spc="-1" strike="noStrike">
              <a:solidFill>
                <a:srgbClr val="000000"/>
              </a:solidFill>
              <a:latin typeface="Arial"/>
            </a:endParaRPr>
          </a:p>
        </p:txBody>
      </p:sp>
      <p:sp>
        <p:nvSpPr>
          <p:cNvPr id="80" name=""/>
          <p:cNvSpPr txBox="1"/>
          <p:nvPr/>
        </p:nvSpPr>
        <p:spPr>
          <a:xfrm>
            <a:off x="576000" y="2199600"/>
            <a:ext cx="8928000" cy="309600"/>
          </a:xfrm>
          <a:prstGeom prst="rect">
            <a:avLst/>
          </a:prstGeom>
          <a:solidFill>
            <a:srgbClr val="eff1ea"/>
          </a:solidFill>
          <a:ln w="0">
            <a:noFill/>
          </a:ln>
        </p:spPr>
        <p:txBody>
          <a:bodyPr lIns="90000" rIns="90000" tIns="45000" bIns="45000" anchor="t">
            <a:noAutofit/>
          </a:bodyPr>
          <a:p>
            <a:endParaRPr b="0" lang="en-US" sz="1800" spc="-1" strike="noStrike">
              <a:solidFill>
                <a:srgbClr val="000000"/>
              </a:solidFill>
              <a:latin typeface="Arial"/>
            </a:endParaRPr>
          </a:p>
        </p:txBody>
      </p:sp>
      <p:sp>
        <p:nvSpPr>
          <p:cNvPr id="81" name=""/>
          <p:cNvSpPr txBox="1"/>
          <p:nvPr/>
        </p:nvSpPr>
        <p:spPr>
          <a:xfrm>
            <a:off x="648000" y="2235600"/>
            <a:ext cx="4302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Do not make things up</a:t>
            </a:r>
            <a:endParaRPr b="0" lang="en-US" sz="1600" spc="-1" strike="noStrike">
              <a:solidFill>
                <a:srgbClr val="000000"/>
              </a:solidFill>
              <a:latin typeface="Arial"/>
            </a:endParaRPr>
          </a:p>
        </p:txBody>
      </p:sp>
      <p:sp>
        <p:nvSpPr>
          <p:cNvPr id="82" name=""/>
          <p:cNvSpPr txBox="1"/>
          <p:nvPr/>
        </p:nvSpPr>
        <p:spPr>
          <a:xfrm>
            <a:off x="5130000" y="2235600"/>
            <a:ext cx="4302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The same wish, wearing a rule's clothing</a:t>
            </a:r>
            <a:endParaRPr b="0" lang="en-US" sz="1600" spc="-1" strike="noStrike">
              <a:solidFill>
                <a:srgbClr val="000000"/>
              </a:solidFill>
              <a:latin typeface="Arial"/>
            </a:endParaRPr>
          </a:p>
        </p:txBody>
      </p:sp>
      <p:sp>
        <p:nvSpPr>
          <p:cNvPr id="83" name=""/>
          <p:cNvSpPr txBox="1"/>
          <p:nvPr/>
        </p:nvSpPr>
        <p:spPr>
          <a:xfrm>
            <a:off x="576000" y="2494800"/>
            <a:ext cx="8928000" cy="21600"/>
          </a:xfrm>
          <a:prstGeom prst="rect">
            <a:avLst/>
          </a:prstGeom>
          <a:solidFill>
            <a:srgbClr val="0f3d57"/>
          </a:solidFill>
          <a:ln w="0">
            <a:noFill/>
          </a:ln>
        </p:spPr>
        <p:txBody>
          <a:bodyPr lIns="90000" rIns="90000" tIns="-23400" bIns="-23400" anchor="t">
            <a:noAutofit/>
          </a:bodyPr>
          <a:p>
            <a:endParaRPr b="0" lang="en-US" sz="1800" spc="-1" strike="noStrike">
              <a:solidFill>
                <a:srgbClr val="ffffff"/>
              </a:solidFill>
              <a:latin typeface="Arial"/>
            </a:endParaRPr>
          </a:p>
        </p:txBody>
      </p:sp>
      <p:sp>
        <p:nvSpPr>
          <p:cNvPr id="84" name=""/>
          <p:cNvSpPr txBox="1"/>
          <p:nvPr/>
        </p:nvSpPr>
        <p:spPr>
          <a:xfrm>
            <a:off x="648000" y="2545200"/>
            <a:ext cx="4302000" cy="767520"/>
          </a:xfrm>
          <a:prstGeom prst="rect">
            <a:avLst/>
          </a:prstGeom>
          <a:noFill/>
          <a:ln w="0">
            <a:noFill/>
          </a:ln>
        </p:spPr>
        <p:txBody>
          <a:bodyPr lIns="90000" rIns="90000" tIns="45000" bIns="45000" anchor="t">
            <a:noAutofit/>
          </a:bodyPr>
          <a:p>
            <a:r>
              <a:rPr b="1" lang="en-US" sz="1600" spc="-1" strike="noStrike">
                <a:solidFill>
                  <a:srgbClr val="0f3d57"/>
                </a:solidFill>
                <a:latin typeface="Arial"/>
              </a:rPr>
              <a:t>Name every backup job with no success record in the last 7 days, and write NONE FOUND if there are none</a:t>
            </a:r>
            <a:endParaRPr b="0" lang="en-US" sz="1600" spc="-1" strike="noStrike">
              <a:solidFill>
                <a:srgbClr val="000000"/>
              </a:solidFill>
              <a:latin typeface="Arial"/>
            </a:endParaRPr>
          </a:p>
        </p:txBody>
      </p:sp>
      <p:sp>
        <p:nvSpPr>
          <p:cNvPr id="85" name=""/>
          <p:cNvSpPr txBox="1"/>
          <p:nvPr/>
        </p:nvSpPr>
        <p:spPr>
          <a:xfrm>
            <a:off x="5130000" y="2545200"/>
            <a:ext cx="4302000" cy="541800"/>
          </a:xfrm>
          <a:prstGeom prst="rect">
            <a:avLst/>
          </a:prstGeom>
          <a:noFill/>
          <a:ln w="0">
            <a:noFill/>
          </a:ln>
        </p:spPr>
        <p:txBody>
          <a:bodyPr lIns="90000" rIns="90000" tIns="45000" bIns="45000" anchor="t">
            <a:noAutofit/>
          </a:bodyPr>
          <a:p>
            <a:r>
              <a:rPr b="1" lang="en-US" sz="1600" spc="-1" strike="noStrike">
                <a:solidFill>
                  <a:srgbClr val="0f3d57"/>
                </a:solidFill>
                <a:latin typeface="Arial"/>
              </a:rPr>
              <a:t>Checkable. An output either does this or does not</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
          <p:cNvSpPr txBox="1"/>
          <p:nvPr/>
        </p:nvSpPr>
        <p:spPr>
          <a:xfrm>
            <a:off x="648000" y="378000"/>
            <a:ext cx="8784000" cy="1053720"/>
          </a:xfrm>
          <a:prstGeom prst="rect">
            <a:avLst/>
          </a:prstGeom>
          <a:noFill/>
          <a:ln w="0">
            <a:noFill/>
          </a:ln>
        </p:spPr>
        <p:txBody>
          <a:bodyPr lIns="90000" rIns="90000" tIns="45000" bIns="45000" anchor="t">
            <a:noAutofit/>
          </a:bodyPr>
          <a:p>
            <a:r>
              <a:rPr b="1" lang="en-US" sz="3400" spc="-1" strike="noStrike">
                <a:solidFill>
                  <a:srgbClr val="0f3d57"/>
                </a:solidFill>
                <a:latin typeface="Arial"/>
              </a:rPr>
              <a:t>Worked example · the weekly backup report</a:t>
            </a:r>
            <a:endParaRPr b="0" lang="en-US" sz="3400" spc="-1" strike="noStrike">
              <a:solidFill>
                <a:srgbClr val="000000"/>
              </a:solidFill>
              <a:latin typeface="Arial"/>
            </a:endParaRPr>
          </a:p>
        </p:txBody>
      </p:sp>
      <p:sp>
        <p:nvSpPr>
          <p:cNvPr id="87"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88" name=""/>
          <p:cNvSpPr txBox="1"/>
          <p:nvPr/>
        </p:nvSpPr>
        <p:spPr>
          <a:xfrm>
            <a:off x="648000" y="1530000"/>
            <a:ext cx="8784000" cy="3780000"/>
          </a:xfrm>
          <a:prstGeom prst="rect">
            <a:avLst/>
          </a:prstGeom>
          <a:noFill/>
          <a:ln w="0">
            <a:noFill/>
          </a:ln>
        </p:spPr>
        <p:txBody>
          <a:bodyPr lIns="90000" rIns="90000" tIns="45000" bIns="45000" anchor="t">
            <a:noAutofit/>
          </a:bodyPr>
          <a:p>
            <a:r>
              <a:rPr b="0" lang="en-US" sz="2400" spc="-1" strike="noStrike">
                <a:solidFill>
                  <a:srgbClr val="111418"/>
                </a:solidFill>
                <a:latin typeface="Arial"/>
              </a:rPr>
              <a:t>Same report, same platform, two instruction sets.</a:t>
            </a:r>
            <a:endParaRPr b="0" lang="en-US" sz="2400" spc="-1" strike="noStrike">
              <a:solidFill>
                <a:srgbClr val="000000"/>
              </a:solidFill>
              <a:latin typeface="Arial"/>
            </a:endParaRPr>
          </a:p>
          <a:p>
            <a:r>
              <a:rPr b="0" lang="en-US" sz="2400" spc="-1" strike="noStrike">
                <a:solidFill>
                  <a:srgbClr val="111418"/>
                </a:solidFill>
                <a:latin typeface="Arial"/>
              </a:rPr>
              <a:t>**Wish version** returns: "Backups look mostly healthy, with a few jobs worth watching."</a:t>
            </a:r>
            <a:endParaRPr b="0" lang="en-US" sz="2400" spc="-1" strike="noStrike">
              <a:solidFill>
                <a:srgbClr val="000000"/>
              </a:solidFill>
              <a:latin typeface="Arial"/>
            </a:endParaRPr>
          </a:p>
          <a:p>
            <a:r>
              <a:rPr b="0" lang="en-US" sz="2400" spc="-1" strike="noStrike">
                <a:solidFill>
                  <a:srgbClr val="111418"/>
                </a:solidFill>
                <a:latin typeface="Arial"/>
              </a:rPr>
              <a:t>**Checkable version** returns: "Jobs with no success in 7 days: FS-ARCHIVE-02, SQL-NIGHTLY-04. Jobs with no run record at all: NONE FOUND."</a:t>
            </a:r>
            <a:endParaRPr b="0" lang="en-US" sz="2400" spc="-1" strike="noStrike">
              <a:solidFill>
                <a:srgbClr val="000000"/>
              </a:solidFill>
              <a:latin typeface="Arial"/>
            </a:endParaRPr>
          </a:p>
          <a:p>
            <a:r>
              <a:rPr b="0" lang="en-US" sz="2400" spc="-1" strike="noStrike">
                <a:solidFill>
                  <a:srgbClr val="111418"/>
                </a:solidFill>
                <a:latin typeface="Arial"/>
              </a:rPr>
              <a:t>The second is not smarter. It was asked a question that has a wrong answer.</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Context is a working set that leaks</a:t>
            </a:r>
            <a:endParaRPr b="0" lang="en-US" sz="3400" spc="-1" strike="noStrike">
              <a:solidFill>
                <a:srgbClr val="000000"/>
              </a:solidFill>
              <a:latin typeface="Arial"/>
            </a:endParaRPr>
          </a:p>
        </p:txBody>
      </p:sp>
      <p:sp>
        <p:nvSpPr>
          <p:cNvPr id="90"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91" name=""/>
          <p:cNvSpPr txBox="1"/>
          <p:nvPr/>
        </p:nvSpPr>
        <p:spPr>
          <a:xfrm>
            <a:off x="648000" y="1530000"/>
            <a:ext cx="8784000" cy="3780000"/>
          </a:xfrm>
          <a:prstGeom prst="rect">
            <a:avLst/>
          </a:prstGeom>
          <a:noFill/>
          <a:ln w="0">
            <a:noFill/>
          </a:ln>
        </p:spPr>
        <p:txBody>
          <a:bodyPr lIns="90000" rIns="90000" tIns="45000" bIns="45000" anchor="t">
            <a:noAutofit/>
          </a:bodyPr>
          <a:p>
            <a:r>
              <a:rPr b="0" lang="en-US" sz="2400" spc="-1" strike="noStrike">
                <a:solidFill>
                  <a:srgbClr val="111418"/>
                </a:solidFill>
                <a:latin typeface="Arial"/>
              </a:rPr>
              <a:t>• </a:t>
            </a:r>
            <a:r>
              <a:rPr b="0" lang="en-US" sz="2400" spc="-1" strike="noStrike">
                <a:solidFill>
                  <a:srgbClr val="111418"/>
                </a:solidFill>
                <a:latin typeface="Arial"/>
              </a:rPr>
              <a:t>**Context**: what the platform can see right now. It is not memory.</a:t>
            </a:r>
            <a:endParaRPr b="0" lang="en-US" sz="2400" spc="-1" strike="noStrike">
              <a:solidFill>
                <a:srgbClr val="000000"/>
              </a:solidFill>
              <a:latin typeface="Arial"/>
            </a:endParaRPr>
          </a:p>
          <a:p>
            <a:r>
              <a:rPr b="0" lang="en-US" sz="2000" spc="-1" strike="noStrike">
                <a:solidFill>
                  <a:srgbClr val="252c36"/>
                </a:solidFill>
                <a:latin typeface="Arial"/>
              </a:rPr>
              <a:t>– </a:t>
            </a:r>
            <a:r>
              <a:rPr b="0" lang="en-US" sz="2000" spc="-1" strike="noStrike">
                <a:solidFill>
                  <a:srgbClr val="252c36"/>
                </a:solidFill>
                <a:latin typeface="Arial"/>
              </a:rPr>
              <a:t>**Working set**: the same idea you met in memory management</a:t>
            </a:r>
            <a:endParaRPr b="0" lang="en-US" sz="20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Things fall out of it.</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**Nothing announces when they do.**</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So the check is yours to build, not the platform's to provide.</a:t>
            </a:r>
            <a:endParaRPr b="0" lang="en-US" sz="2400" spc="-1" strike="noStrike">
              <a:solidFill>
                <a:srgbClr val="000000"/>
              </a:solidFill>
              <a:latin typeface="Arial"/>
            </a:endParaRPr>
          </a:p>
        </p:txBody>
      </p:sp>
      <p:sp>
        <p:nvSpPr>
          <p:cNvPr id="92" name=""/>
          <p:cNvSpPr txBox="1"/>
          <p:nvPr/>
        </p:nvSpPr>
        <p:spPr>
          <a:xfrm>
            <a:off x="648000" y="3780000"/>
            <a:ext cx="8784000" cy="1116000"/>
          </a:xfrm>
          <a:prstGeom prst="rect">
            <a:avLst/>
          </a:prstGeom>
          <a:solidFill>
            <a:srgbClr val="eff1ea"/>
          </a:solidFill>
          <a:ln w="0">
            <a:solidFill>
              <a:srgbClr val="c6cfc1"/>
            </a:solidFill>
          </a:ln>
        </p:spPr>
        <p:txBody>
          <a:bodyPr lIns="90000" rIns="90000" tIns="45000" bIns="45000" anchor="t">
            <a:noAutofit/>
          </a:bodyPr>
          <a:p>
            <a:pPr algn="ctr">
              <a:spcAft>
                <a:spcPts val="850"/>
              </a:spcAft>
            </a:pPr>
            <a:r>
              <a:rPr b="0" lang="en-US" sz="1500" spc="-1" strike="noStrike">
                <a:solidFill>
                  <a:srgbClr val="252c36"/>
                </a:solidFill>
                <a:latin typeface="Arial"/>
              </a:rPr>
              <a:t>Diagram slot: a constraint set early, still in view, then out of view, with no notification at the boundary</a:t>
            </a:r>
            <a:endParaRPr b="0" lang="en-US" sz="15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Usage windows are an operational fact</a:t>
            </a:r>
            <a:endParaRPr b="0" lang="en-US" sz="3400" spc="-1" strike="noStrike">
              <a:solidFill>
                <a:srgbClr val="000000"/>
              </a:solidFill>
              <a:latin typeface="Arial"/>
            </a:endParaRPr>
          </a:p>
        </p:txBody>
      </p:sp>
      <p:sp>
        <p:nvSpPr>
          <p:cNvPr id="94"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95" name=""/>
          <p:cNvSpPr txBox="1"/>
          <p:nvPr/>
        </p:nvSpPr>
        <p:spPr>
          <a:xfrm>
            <a:off x="648000" y="1530000"/>
            <a:ext cx="8784000" cy="3780000"/>
          </a:xfrm>
          <a:prstGeom prst="rect">
            <a:avLst/>
          </a:prstGeom>
          <a:noFill/>
          <a:ln w="0">
            <a:noFill/>
          </a:ln>
        </p:spPr>
        <p:txBody>
          <a:bodyPr lIns="90000" rIns="90000" tIns="45000" bIns="45000" anchor="t">
            <a:noAutofit/>
          </a:bodyPr>
          <a:p>
            <a:r>
              <a:rPr b="0" lang="en-US" sz="2400" spc="-1" strike="noStrike">
                <a:solidFill>
                  <a:srgbClr val="111418"/>
                </a:solidFill>
                <a:latin typeface="Arial"/>
              </a:rPr>
              <a:t>• </a:t>
            </a:r>
            <a:r>
              <a:rPr b="0" lang="en-US" sz="2400" spc="-1" strike="noStrike">
                <a:solidFill>
                  <a:srgbClr val="111418"/>
                </a:solidFill>
                <a:latin typeface="Arial"/>
              </a:rPr>
              <a:t>A **usage window** is a rate limit, daily and weekly.</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It will interrupt somebody's work at an inconvenient moment this term.</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Probably today. Probably during act 2.</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Write down when it happened and what you were doing. That note is worth marks.</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
          <p:cNvSpPr txBox="1"/>
          <p:nvPr/>
        </p:nvSpPr>
        <p:spPr>
          <a:xfrm>
            <a:off x="648000" y="378000"/>
            <a:ext cx="8784000" cy="792000"/>
          </a:xfrm>
          <a:prstGeom prst="rect">
            <a:avLst/>
          </a:prstGeom>
          <a:noFill/>
          <a:ln w="0">
            <a:noFill/>
          </a:ln>
        </p:spPr>
        <p:txBody>
          <a:bodyPr lIns="90000" rIns="90000" tIns="45000" bIns="45000" anchor="t">
            <a:noAutofit/>
          </a:bodyPr>
          <a:p>
            <a:r>
              <a:rPr b="1" lang="en-US" sz="3400" spc="-1" strike="noStrike">
                <a:solidFill>
                  <a:srgbClr val="0f3d57"/>
                </a:solidFill>
                <a:latin typeface="Arial"/>
              </a:rPr>
              <a:t>Three words for the same instinct</a:t>
            </a:r>
            <a:endParaRPr b="0" lang="en-US" sz="3400" spc="-1" strike="noStrike">
              <a:solidFill>
                <a:srgbClr val="000000"/>
              </a:solidFill>
              <a:latin typeface="Arial"/>
            </a:endParaRPr>
          </a:p>
        </p:txBody>
      </p:sp>
      <p:sp>
        <p:nvSpPr>
          <p:cNvPr id="97"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98" name=""/>
          <p:cNvSpPr txBox="1"/>
          <p:nvPr/>
        </p:nvSpPr>
        <p:spPr>
          <a:xfrm>
            <a:off x="576000" y="1530000"/>
            <a:ext cx="8928000" cy="324000"/>
          </a:xfrm>
          <a:prstGeom prst="rect">
            <a:avLst/>
          </a:prstGeom>
          <a:solidFill>
            <a:srgbClr val="0f3d57"/>
          </a:solidFill>
          <a:ln w="0">
            <a:noFill/>
          </a:ln>
        </p:spPr>
        <p:txBody>
          <a:bodyPr lIns="90000" rIns="90000" tIns="45000" bIns="45000" anchor="t">
            <a:noAutofit/>
          </a:bodyPr>
          <a:p>
            <a:endParaRPr b="0" lang="en-US" sz="1800" spc="-1" strike="noStrike">
              <a:solidFill>
                <a:srgbClr val="ffffff"/>
              </a:solidFill>
              <a:latin typeface="Arial"/>
            </a:endParaRPr>
          </a:p>
        </p:txBody>
      </p:sp>
      <p:sp>
        <p:nvSpPr>
          <p:cNvPr id="99" name=""/>
          <p:cNvSpPr txBox="1"/>
          <p:nvPr/>
        </p:nvSpPr>
        <p:spPr>
          <a:xfrm>
            <a:off x="648000" y="1573200"/>
            <a:ext cx="2592000" cy="316080"/>
          </a:xfrm>
          <a:prstGeom prst="rect">
            <a:avLst/>
          </a:prstGeom>
          <a:noFill/>
          <a:ln w="0">
            <a:noFill/>
          </a:ln>
        </p:spPr>
        <p:txBody>
          <a:bodyPr lIns="90000" rIns="90000" tIns="45000" bIns="45000" anchor="t">
            <a:noAutofit/>
          </a:bodyPr>
          <a:p>
            <a:r>
              <a:rPr b="1" lang="en-US" sz="1600" spc="-1" strike="noStrike">
                <a:solidFill>
                  <a:srgbClr val="ffffff"/>
                </a:solidFill>
                <a:latin typeface="Arial"/>
              </a:rPr>
              <a:t>The claim</a:t>
            </a:r>
            <a:endParaRPr b="0" lang="en-US" sz="1600" spc="-1" strike="noStrike">
              <a:solidFill>
                <a:srgbClr val="000000"/>
              </a:solidFill>
              <a:latin typeface="Arial"/>
            </a:endParaRPr>
          </a:p>
        </p:txBody>
      </p:sp>
      <p:sp>
        <p:nvSpPr>
          <p:cNvPr id="100" name=""/>
          <p:cNvSpPr txBox="1"/>
          <p:nvPr/>
        </p:nvSpPr>
        <p:spPr>
          <a:xfrm>
            <a:off x="3384000" y="1573200"/>
            <a:ext cx="4896000" cy="316080"/>
          </a:xfrm>
          <a:prstGeom prst="rect">
            <a:avLst/>
          </a:prstGeom>
          <a:noFill/>
          <a:ln w="0">
            <a:noFill/>
          </a:ln>
        </p:spPr>
        <p:txBody>
          <a:bodyPr lIns="90000" rIns="90000" tIns="45000" bIns="45000" anchor="t">
            <a:noAutofit/>
          </a:bodyPr>
          <a:p>
            <a:r>
              <a:rPr b="1" lang="en-US" sz="1600" spc="-1" strike="noStrike">
                <a:solidFill>
                  <a:srgbClr val="ffffff"/>
                </a:solidFill>
                <a:latin typeface="Arial"/>
              </a:rPr>
              <a:t>What it actually is</a:t>
            </a:r>
            <a:endParaRPr b="0" lang="en-US" sz="1600" spc="-1" strike="noStrike">
              <a:solidFill>
                <a:srgbClr val="000000"/>
              </a:solidFill>
              <a:latin typeface="Arial"/>
            </a:endParaRPr>
          </a:p>
        </p:txBody>
      </p:sp>
      <p:sp>
        <p:nvSpPr>
          <p:cNvPr id="101" name=""/>
          <p:cNvSpPr txBox="1"/>
          <p:nvPr/>
        </p:nvSpPr>
        <p:spPr>
          <a:xfrm>
            <a:off x="8388000" y="1573200"/>
            <a:ext cx="1152000" cy="541800"/>
          </a:xfrm>
          <a:prstGeom prst="rect">
            <a:avLst/>
          </a:prstGeom>
          <a:noFill/>
          <a:ln w="0">
            <a:noFill/>
          </a:ln>
        </p:spPr>
        <p:txBody>
          <a:bodyPr lIns="90000" rIns="90000" tIns="45000" bIns="45000" anchor="t">
            <a:noAutofit/>
          </a:bodyPr>
          <a:p>
            <a:r>
              <a:rPr b="1" lang="en-US" sz="1600" spc="-1" strike="noStrike">
                <a:solidFill>
                  <a:srgbClr val="ffffff"/>
                </a:solidFill>
                <a:latin typeface="Arial"/>
              </a:rPr>
              <a:t>What proves it</a:t>
            </a:r>
            <a:endParaRPr b="0" lang="en-US" sz="1600" spc="-1" strike="noStrike">
              <a:solidFill>
                <a:srgbClr val="000000"/>
              </a:solidFill>
              <a:latin typeface="Arial"/>
            </a:endParaRPr>
          </a:p>
        </p:txBody>
      </p:sp>
      <p:sp>
        <p:nvSpPr>
          <p:cNvPr id="102" name=""/>
          <p:cNvSpPr txBox="1"/>
          <p:nvPr/>
        </p:nvSpPr>
        <p:spPr>
          <a:xfrm>
            <a:off x="648000" y="1926000"/>
            <a:ext cx="2592000" cy="541800"/>
          </a:xfrm>
          <a:prstGeom prst="rect">
            <a:avLst/>
          </a:prstGeom>
          <a:noFill/>
          <a:ln w="0">
            <a:noFill/>
          </a:ln>
        </p:spPr>
        <p:txBody>
          <a:bodyPr lIns="90000" rIns="90000" tIns="45000" bIns="45000" anchor="t">
            <a:noAutofit/>
          </a:bodyPr>
          <a:p>
            <a:r>
              <a:rPr b="0" lang="en-US" sz="1600" spc="-1" strike="noStrike">
                <a:solidFill>
                  <a:srgbClr val="111418"/>
                </a:solidFill>
                <a:latin typeface="Arial"/>
              </a:rPr>
              <a:t>The connector is authorized</a:t>
            </a:r>
            <a:endParaRPr b="0" lang="en-US" sz="1600" spc="-1" strike="noStrike">
              <a:solidFill>
                <a:srgbClr val="000000"/>
              </a:solidFill>
              <a:latin typeface="Arial"/>
            </a:endParaRPr>
          </a:p>
        </p:txBody>
      </p:sp>
      <p:sp>
        <p:nvSpPr>
          <p:cNvPr id="103" name=""/>
          <p:cNvSpPr txBox="1"/>
          <p:nvPr/>
        </p:nvSpPr>
        <p:spPr>
          <a:xfrm>
            <a:off x="3384000" y="1926000"/>
            <a:ext cx="4896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A token exists</a:t>
            </a:r>
            <a:endParaRPr b="0" lang="en-US" sz="1600" spc="-1" strike="noStrike">
              <a:solidFill>
                <a:srgbClr val="000000"/>
              </a:solidFill>
              <a:latin typeface="Arial"/>
            </a:endParaRPr>
          </a:p>
        </p:txBody>
      </p:sp>
      <p:sp>
        <p:nvSpPr>
          <p:cNvPr id="104" name=""/>
          <p:cNvSpPr txBox="1"/>
          <p:nvPr/>
        </p:nvSpPr>
        <p:spPr>
          <a:xfrm>
            <a:off x="8388000" y="1926000"/>
            <a:ext cx="1152000" cy="993240"/>
          </a:xfrm>
          <a:prstGeom prst="rect">
            <a:avLst/>
          </a:prstGeom>
          <a:noFill/>
          <a:ln w="0">
            <a:noFill/>
          </a:ln>
        </p:spPr>
        <p:txBody>
          <a:bodyPr lIns="90000" rIns="90000" tIns="45000" bIns="45000" anchor="t">
            <a:noAutofit/>
          </a:bodyPr>
          <a:p>
            <a:r>
              <a:rPr b="0" lang="en-US" sz="1600" spc="-1" strike="noStrike">
                <a:solidFill>
                  <a:srgbClr val="111418"/>
                </a:solidFill>
                <a:latin typeface="Arial"/>
              </a:rPr>
              <a:t>Information observed moving</a:t>
            </a:r>
            <a:endParaRPr b="0" lang="en-US" sz="1600" spc="-1" strike="noStrike">
              <a:solidFill>
                <a:srgbClr val="000000"/>
              </a:solidFill>
              <a:latin typeface="Arial"/>
            </a:endParaRPr>
          </a:p>
        </p:txBody>
      </p:sp>
      <p:sp>
        <p:nvSpPr>
          <p:cNvPr id="105" name=""/>
          <p:cNvSpPr txBox="1"/>
          <p:nvPr/>
        </p:nvSpPr>
        <p:spPr>
          <a:xfrm>
            <a:off x="576000" y="2199600"/>
            <a:ext cx="8928000" cy="309600"/>
          </a:xfrm>
          <a:prstGeom prst="rect">
            <a:avLst/>
          </a:prstGeom>
          <a:solidFill>
            <a:srgbClr val="eff1ea"/>
          </a:solidFill>
          <a:ln w="0">
            <a:noFill/>
          </a:ln>
        </p:spPr>
        <p:txBody>
          <a:bodyPr lIns="90000" rIns="90000" tIns="45000" bIns="45000" anchor="t">
            <a:noAutofit/>
          </a:bodyPr>
          <a:p>
            <a:endParaRPr b="0" lang="en-US" sz="1800" spc="-1" strike="noStrike">
              <a:solidFill>
                <a:srgbClr val="000000"/>
              </a:solidFill>
              <a:latin typeface="Arial"/>
            </a:endParaRPr>
          </a:p>
        </p:txBody>
      </p:sp>
      <p:sp>
        <p:nvSpPr>
          <p:cNvPr id="106" name=""/>
          <p:cNvSpPr txBox="1"/>
          <p:nvPr/>
        </p:nvSpPr>
        <p:spPr>
          <a:xfrm>
            <a:off x="648000" y="2235600"/>
            <a:ext cx="2592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The analysis is confident</a:t>
            </a:r>
            <a:endParaRPr b="0" lang="en-US" sz="1600" spc="-1" strike="noStrike">
              <a:solidFill>
                <a:srgbClr val="000000"/>
              </a:solidFill>
              <a:latin typeface="Arial"/>
            </a:endParaRPr>
          </a:p>
        </p:txBody>
      </p:sp>
      <p:sp>
        <p:nvSpPr>
          <p:cNvPr id="107" name=""/>
          <p:cNvSpPr txBox="1"/>
          <p:nvPr/>
        </p:nvSpPr>
        <p:spPr>
          <a:xfrm>
            <a:off x="3384000" y="2235600"/>
            <a:ext cx="4896000" cy="316080"/>
          </a:xfrm>
          <a:prstGeom prst="rect">
            <a:avLst/>
          </a:prstGeom>
          <a:noFill/>
          <a:ln w="0">
            <a:noFill/>
          </a:ln>
        </p:spPr>
        <p:txBody>
          <a:bodyPr lIns="90000" rIns="90000" tIns="45000" bIns="45000" anchor="t">
            <a:noAutofit/>
          </a:bodyPr>
          <a:p>
            <a:r>
              <a:rPr b="0" lang="en-US" sz="1600" spc="-1" strike="noStrike">
                <a:solidFill>
                  <a:srgbClr val="111418"/>
                </a:solidFill>
                <a:latin typeface="Arial"/>
              </a:rPr>
              <a:t>A style, not a measure</a:t>
            </a:r>
            <a:endParaRPr b="0" lang="en-US" sz="1600" spc="-1" strike="noStrike">
              <a:solidFill>
                <a:srgbClr val="000000"/>
              </a:solidFill>
              <a:latin typeface="Arial"/>
            </a:endParaRPr>
          </a:p>
        </p:txBody>
      </p:sp>
      <p:sp>
        <p:nvSpPr>
          <p:cNvPr id="108" name=""/>
          <p:cNvSpPr txBox="1"/>
          <p:nvPr/>
        </p:nvSpPr>
        <p:spPr>
          <a:xfrm>
            <a:off x="8388000" y="2235600"/>
            <a:ext cx="1152000" cy="767520"/>
          </a:xfrm>
          <a:prstGeom prst="rect">
            <a:avLst/>
          </a:prstGeom>
          <a:noFill/>
          <a:ln w="0">
            <a:noFill/>
          </a:ln>
        </p:spPr>
        <p:txBody>
          <a:bodyPr lIns="90000" rIns="90000" tIns="45000" bIns="45000" anchor="t">
            <a:noAutofit/>
          </a:bodyPr>
          <a:p>
            <a:r>
              <a:rPr b="0" lang="en-US" sz="1600" spc="-1" strike="noStrike">
                <a:solidFill>
                  <a:srgbClr val="111418"/>
                </a:solidFill>
                <a:latin typeface="Arial"/>
              </a:rPr>
              <a:t>Evidence quoted per claim</a:t>
            </a:r>
            <a:endParaRPr b="0" lang="en-US" sz="1600" spc="-1" strike="noStrike">
              <a:solidFill>
                <a:srgbClr val="000000"/>
              </a:solidFill>
              <a:latin typeface="Arial"/>
            </a:endParaRPr>
          </a:p>
        </p:txBody>
      </p:sp>
      <p:sp>
        <p:nvSpPr>
          <p:cNvPr id="109" name=""/>
          <p:cNvSpPr txBox="1"/>
          <p:nvPr/>
        </p:nvSpPr>
        <p:spPr>
          <a:xfrm>
            <a:off x="576000" y="2494800"/>
            <a:ext cx="8928000" cy="21600"/>
          </a:xfrm>
          <a:prstGeom prst="rect">
            <a:avLst/>
          </a:prstGeom>
          <a:solidFill>
            <a:srgbClr val="0f3d57"/>
          </a:solidFill>
          <a:ln w="0">
            <a:noFill/>
          </a:ln>
        </p:spPr>
        <p:txBody>
          <a:bodyPr lIns="90000" rIns="90000" tIns="-23400" bIns="-23400" anchor="t">
            <a:noAutofit/>
          </a:bodyPr>
          <a:p>
            <a:endParaRPr b="0" lang="en-US" sz="1800" spc="-1" strike="noStrike">
              <a:solidFill>
                <a:srgbClr val="ffffff"/>
              </a:solidFill>
              <a:latin typeface="Arial"/>
            </a:endParaRPr>
          </a:p>
        </p:txBody>
      </p:sp>
      <p:sp>
        <p:nvSpPr>
          <p:cNvPr id="110" name=""/>
          <p:cNvSpPr txBox="1"/>
          <p:nvPr/>
        </p:nvSpPr>
        <p:spPr>
          <a:xfrm>
            <a:off x="648000" y="2545200"/>
            <a:ext cx="2592000" cy="541800"/>
          </a:xfrm>
          <a:prstGeom prst="rect">
            <a:avLst/>
          </a:prstGeom>
          <a:noFill/>
          <a:ln w="0">
            <a:noFill/>
          </a:ln>
        </p:spPr>
        <p:txBody>
          <a:bodyPr lIns="90000" rIns="90000" tIns="45000" bIns="45000" anchor="t">
            <a:noAutofit/>
          </a:bodyPr>
          <a:p>
            <a:r>
              <a:rPr b="1" lang="en-US" sz="1600" spc="-1" strike="noStrike">
                <a:solidFill>
                  <a:srgbClr val="0f3d57"/>
                </a:solidFill>
                <a:latin typeface="Arial"/>
              </a:rPr>
              <a:t>The tool reported success</a:t>
            </a:r>
            <a:endParaRPr b="0" lang="en-US" sz="1600" spc="-1" strike="noStrike">
              <a:solidFill>
                <a:srgbClr val="000000"/>
              </a:solidFill>
              <a:latin typeface="Arial"/>
            </a:endParaRPr>
          </a:p>
        </p:txBody>
      </p:sp>
      <p:sp>
        <p:nvSpPr>
          <p:cNvPr id="111" name=""/>
          <p:cNvSpPr txBox="1"/>
          <p:nvPr/>
        </p:nvSpPr>
        <p:spPr>
          <a:xfrm>
            <a:off x="3384000" y="2545200"/>
            <a:ext cx="4896000" cy="316080"/>
          </a:xfrm>
          <a:prstGeom prst="rect">
            <a:avLst/>
          </a:prstGeom>
          <a:noFill/>
          <a:ln w="0">
            <a:noFill/>
          </a:ln>
        </p:spPr>
        <p:txBody>
          <a:bodyPr lIns="90000" rIns="90000" tIns="45000" bIns="45000" anchor="t">
            <a:noAutofit/>
          </a:bodyPr>
          <a:p>
            <a:r>
              <a:rPr b="1" lang="en-US" sz="1600" spc="-1" strike="noStrike">
                <a:solidFill>
                  <a:srgbClr val="0f3d57"/>
                </a:solidFill>
                <a:latin typeface="Arial"/>
              </a:rPr>
              <a:t>It finished running</a:t>
            </a:r>
            <a:endParaRPr b="0" lang="en-US" sz="1600" spc="-1" strike="noStrike">
              <a:solidFill>
                <a:srgbClr val="000000"/>
              </a:solidFill>
              <a:latin typeface="Arial"/>
            </a:endParaRPr>
          </a:p>
        </p:txBody>
      </p:sp>
      <p:sp>
        <p:nvSpPr>
          <p:cNvPr id="112" name=""/>
          <p:cNvSpPr txBox="1"/>
          <p:nvPr/>
        </p:nvSpPr>
        <p:spPr>
          <a:xfrm>
            <a:off x="8388000" y="2545200"/>
            <a:ext cx="1152000" cy="1218960"/>
          </a:xfrm>
          <a:prstGeom prst="rect">
            <a:avLst/>
          </a:prstGeom>
          <a:noFill/>
          <a:ln w="0">
            <a:noFill/>
          </a:ln>
        </p:spPr>
        <p:txBody>
          <a:bodyPr lIns="90000" rIns="90000" tIns="45000" bIns="45000" anchor="t">
            <a:noAutofit/>
          </a:bodyPr>
          <a:p>
            <a:r>
              <a:rPr b="1" lang="en-US" sz="1600" spc="-1" strike="noStrike">
                <a:solidFill>
                  <a:srgbClr val="0f3d57"/>
                </a:solidFill>
                <a:latin typeface="Arial"/>
              </a:rPr>
              <a:t>Something counted what should be there</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
          <p:cNvSpPr txBox="1"/>
          <p:nvPr/>
        </p:nvSpPr>
        <p:spPr>
          <a:xfrm>
            <a:off x="648000" y="378000"/>
            <a:ext cx="8784000" cy="792000"/>
          </a:xfrm>
          <a:prstGeom prst="rect">
            <a:avLst/>
          </a:prstGeom>
          <a:noFill/>
          <a:ln w="0">
            <a:noFill/>
          </a:ln>
        </p:spPr>
        <p:txBody>
          <a:bodyPr lIns="90000" rIns="90000" tIns="45000" bIns="45000" anchor="t">
            <a:noAutofit/>
          </a:bodyPr>
          <a:p>
            <a:r>
              <a:rPr b="1" lang="en-US" sz="4000" spc="-1" strike="noStrike">
                <a:solidFill>
                  <a:srgbClr val="0f3d57"/>
                </a:solidFill>
                <a:latin typeface="Arial"/>
              </a:rPr>
              <a:t>Act 1 · build the missing process</a:t>
            </a:r>
            <a:endParaRPr b="0" lang="en-US" sz="4000" spc="-1" strike="noStrike">
              <a:solidFill>
                <a:srgbClr val="000000"/>
              </a:solidFill>
              <a:latin typeface="Arial"/>
            </a:endParaRPr>
          </a:p>
        </p:txBody>
      </p:sp>
      <p:sp>
        <p:nvSpPr>
          <p:cNvPr id="114"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115" name=""/>
          <p:cNvSpPr txBox="1"/>
          <p:nvPr/>
        </p:nvSpPr>
        <p:spPr>
          <a:xfrm>
            <a:off x="648000" y="1530000"/>
            <a:ext cx="8784000" cy="3780000"/>
          </a:xfrm>
          <a:prstGeom prst="rect">
            <a:avLst/>
          </a:prstGeom>
          <a:noFill/>
          <a:ln w="0">
            <a:noFill/>
          </a:ln>
        </p:spPr>
        <p:txBody>
          <a:bodyPr lIns="90000" rIns="90000" tIns="45000" bIns="45000" anchor="t">
            <a:noAutofit/>
          </a:bodyPr>
          <a:p>
            <a:r>
              <a:rPr b="0" lang="en-US" sz="2400" spc="-1" strike="noStrike">
                <a:solidFill>
                  <a:srgbClr val="111418"/>
                </a:solidFill>
                <a:latin typeface="Arial"/>
              </a:rPr>
              <a:t>• </a:t>
            </a:r>
            <a:r>
              <a:rPr b="0" lang="en-US" sz="2400" spc="-1" strike="noStrike">
                <a:solidFill>
                  <a:srgbClr val="111418"/>
                </a:solidFill>
                <a:latin typeface="Arial"/>
              </a:rPr>
              <a:t>Read the packet first. All three files, in order.</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Write the process the note should have contained.</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Do not write it from a blank page: have the platform **interview you**, then turn your own answers into the instruction set.</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Three instructions are written for you. Two are yours.</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
          <p:cNvSpPr txBox="1"/>
          <p:nvPr/>
        </p:nvSpPr>
        <p:spPr>
          <a:xfrm>
            <a:off x="648000" y="378000"/>
            <a:ext cx="8784000" cy="1224360"/>
          </a:xfrm>
          <a:prstGeom prst="rect">
            <a:avLst/>
          </a:prstGeom>
          <a:noFill/>
          <a:ln w="0">
            <a:noFill/>
          </a:ln>
        </p:spPr>
        <p:txBody>
          <a:bodyPr lIns="90000" rIns="90000" tIns="45000" bIns="45000" anchor="t">
            <a:noAutofit/>
          </a:bodyPr>
          <a:p>
            <a:r>
              <a:rPr b="1" lang="en-US" sz="4000" spc="-1" strike="noStrike">
                <a:solidFill>
                  <a:srgbClr val="0f3d57"/>
                </a:solidFill>
                <a:latin typeface="Arial"/>
              </a:rPr>
              <a:t>Acts 2 and 3 · the deliverable is the disagreement</a:t>
            </a:r>
            <a:endParaRPr b="0" lang="en-US" sz="4000" spc="-1" strike="noStrike">
              <a:solidFill>
                <a:srgbClr val="000000"/>
              </a:solidFill>
              <a:latin typeface="Arial"/>
            </a:endParaRPr>
          </a:p>
        </p:txBody>
      </p:sp>
      <p:sp>
        <p:nvSpPr>
          <p:cNvPr id="117"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118" name=""/>
          <p:cNvSpPr txBox="1"/>
          <p:nvPr/>
        </p:nvSpPr>
        <p:spPr>
          <a:xfrm>
            <a:off x="648000" y="1530000"/>
            <a:ext cx="8784000" cy="3780000"/>
          </a:xfrm>
          <a:prstGeom prst="rect">
            <a:avLst/>
          </a:prstGeom>
          <a:noFill/>
          <a:ln w="0">
            <a:noFill/>
          </a:ln>
        </p:spPr>
        <p:txBody>
          <a:bodyPr lIns="90000" rIns="90000" tIns="45000" bIns="45000" anchor="t">
            <a:noAutofit/>
          </a:bodyPr>
          <a:p>
            <a:r>
              <a:rPr b="0" lang="en-US" sz="2400" spc="-1" strike="noStrike">
                <a:solidFill>
                  <a:srgbClr val="111418"/>
                </a:solidFill>
                <a:latin typeface="Arial"/>
              </a:rPr>
              <a:t>• </a:t>
            </a:r>
            <a:r>
              <a:rPr b="0" lang="en-US" sz="2400" spc="-1" strike="noStrike">
                <a:solidFill>
                  <a:srgbClr val="111418"/>
                </a:solidFill>
                <a:latin typeface="Arial"/>
              </a:rPr>
              <a:t>Run your own process against the evidence.</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**You are graded on the critique, not on the analysis.**</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Every claim gets typed: stated, inferred, or unsupported.</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Then the part most people skip: **go back and fix the process that missed it.**</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
          <p:cNvSpPr txBox="1"/>
          <p:nvPr/>
        </p:nvSpPr>
        <p:spPr>
          <a:xfrm>
            <a:off x="648000" y="378000"/>
            <a:ext cx="8784000" cy="792000"/>
          </a:xfrm>
          <a:prstGeom prst="rect">
            <a:avLst/>
          </a:prstGeom>
          <a:noFill/>
          <a:ln w="0">
            <a:noFill/>
          </a:ln>
        </p:spPr>
        <p:txBody>
          <a:bodyPr lIns="90000" rIns="90000" tIns="45000" bIns="45000" anchor="t">
            <a:noAutofit/>
          </a:bodyPr>
          <a:p>
            <a:r>
              <a:rPr b="1" lang="en-US" sz="4000" spc="-1" strike="noStrike">
                <a:solidFill>
                  <a:srgbClr val="0f3d57"/>
                </a:solidFill>
                <a:latin typeface="Arial"/>
              </a:rPr>
              <a:t>Act 4 · hand it on properly</a:t>
            </a:r>
            <a:endParaRPr b="0" lang="en-US" sz="4000" spc="-1" strike="noStrike">
              <a:solidFill>
                <a:srgbClr val="000000"/>
              </a:solidFill>
              <a:latin typeface="Arial"/>
            </a:endParaRPr>
          </a:p>
        </p:txBody>
      </p:sp>
      <p:sp>
        <p:nvSpPr>
          <p:cNvPr id="120"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121" name=""/>
          <p:cNvSpPr txBox="1"/>
          <p:nvPr/>
        </p:nvSpPr>
        <p:spPr>
          <a:xfrm>
            <a:off x="648000" y="1530000"/>
            <a:ext cx="8784000" cy="3780000"/>
          </a:xfrm>
          <a:prstGeom prst="rect">
            <a:avLst/>
          </a:prstGeom>
          <a:noFill/>
          <a:ln w="0">
            <a:noFill/>
          </a:ln>
        </p:spPr>
        <p:txBody>
          <a:bodyPr lIns="90000" rIns="90000" tIns="45000" bIns="45000" anchor="t">
            <a:noAutofit/>
          </a:bodyPr>
          <a:p>
            <a:r>
              <a:rPr b="0" lang="en-US" sz="2400" spc="-1" strike="noStrike">
                <a:solidFill>
                  <a:srgbClr val="111418"/>
                </a:solidFill>
                <a:latin typeface="Arial"/>
              </a:rPr>
              <a:t>• </a:t>
            </a:r>
            <a:r>
              <a:rPr b="0" lang="en-US" sz="2400" spc="-1" strike="noStrike">
                <a:solidFill>
                  <a:srgbClr val="111418"/>
                </a:solidFill>
                <a:latin typeface="Arial"/>
              </a:rPr>
              <a:t>The finding: half a page, for someone who will not read the log.</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The acts onto the board, with dates and an owner, through the connector.</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Branch, pull request, and a description written as the handover you wish you had received.</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Reread the note you were given before you write yours.</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
          <p:cNvSpPr txBox="1"/>
          <p:nvPr/>
        </p:nvSpPr>
        <p:spPr>
          <a:xfrm>
            <a:off x="648000" y="378000"/>
            <a:ext cx="8784000" cy="792000"/>
          </a:xfrm>
          <a:prstGeom prst="rect">
            <a:avLst/>
          </a:prstGeom>
          <a:noFill/>
          <a:ln w="0">
            <a:noFill/>
          </a:ln>
        </p:spPr>
        <p:txBody>
          <a:bodyPr lIns="90000" rIns="90000" tIns="45000" bIns="45000" anchor="t">
            <a:noAutofit/>
          </a:bodyPr>
          <a:p>
            <a:r>
              <a:rPr b="1" lang="en-US" sz="4000" spc="-1" strike="noStrike">
                <a:solidFill>
                  <a:srgbClr val="0f3d57"/>
                </a:solidFill>
                <a:latin typeface="Arial"/>
              </a:rPr>
              <a:t>Before you finish</a:t>
            </a:r>
            <a:endParaRPr b="0" lang="en-US" sz="4000" spc="-1" strike="noStrike">
              <a:solidFill>
                <a:srgbClr val="000000"/>
              </a:solidFill>
              <a:latin typeface="Arial"/>
            </a:endParaRPr>
          </a:p>
        </p:txBody>
      </p:sp>
      <p:sp>
        <p:nvSpPr>
          <p:cNvPr id="123"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124" name=""/>
          <p:cNvSpPr txBox="1"/>
          <p:nvPr/>
        </p:nvSpPr>
        <p:spPr>
          <a:xfrm>
            <a:off x="648000" y="1530000"/>
            <a:ext cx="8784000" cy="3780000"/>
          </a:xfrm>
          <a:prstGeom prst="rect">
            <a:avLst/>
          </a:prstGeom>
          <a:noFill/>
          <a:ln w="0">
            <a:noFill/>
          </a:ln>
        </p:spPr>
        <p:txBody>
          <a:bodyPr lIns="90000" rIns="90000" tIns="45000" bIns="45000" anchor="t">
            <a:noAutofit/>
          </a:bodyPr>
          <a:p>
            <a:r>
              <a:rPr b="0" lang="en-US" sz="2400" spc="-1" strike="noStrike">
                <a:solidFill>
                  <a:srgbClr val="111418"/>
                </a:solidFill>
                <a:latin typeface="Arial"/>
              </a:rPr>
              <a:t>• </a:t>
            </a:r>
            <a:r>
              <a:rPr b="0" lang="en-US" sz="2400" spc="-1" strike="noStrike">
                <a:solidFill>
                  <a:srgbClr val="111418"/>
                </a:solidFill>
                <a:latin typeface="Arial"/>
              </a:rPr>
              <a:t>Journal entry two. It turns from a log into a reflection this module.</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No survey this module. They resume at module 3.</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Everything lands in module_02/ on a branch.</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
          <p:cNvSpPr txBox="1"/>
          <p:nvPr/>
        </p:nvSpPr>
        <p:spPr>
          <a:xfrm>
            <a:off x="648000" y="378000"/>
            <a:ext cx="8784000" cy="792000"/>
          </a:xfrm>
          <a:prstGeom prst="rect">
            <a:avLst/>
          </a:prstGeom>
          <a:noFill/>
          <a:ln w="0">
            <a:noFill/>
          </a:ln>
        </p:spPr>
        <p:txBody>
          <a:bodyPr lIns="90000" rIns="90000" tIns="45000" bIns="45000" anchor="t">
            <a:noAutofit/>
          </a:bodyPr>
          <a:p>
            <a:r>
              <a:rPr b="1" lang="en-US" sz="4000" spc="-1" strike="noStrike">
                <a:solidFill>
                  <a:srgbClr val="0f3d57"/>
                </a:solidFill>
                <a:latin typeface="Arial"/>
              </a:rPr>
              <a:t>Module 3 · Synthesis</a:t>
            </a:r>
            <a:endParaRPr b="0" lang="en-US" sz="4000" spc="-1" strike="noStrike">
              <a:solidFill>
                <a:srgbClr val="000000"/>
              </a:solidFill>
              <a:latin typeface="Arial"/>
            </a:endParaRPr>
          </a:p>
        </p:txBody>
      </p:sp>
      <p:sp>
        <p:nvSpPr>
          <p:cNvPr id="126" name=""/>
          <p:cNvSpPr txBox="1"/>
          <p:nvPr/>
        </p:nvSpPr>
        <p:spPr>
          <a:xfrm>
            <a:off x="648000" y="1242000"/>
            <a:ext cx="1800000" cy="36000"/>
          </a:xfrm>
          <a:prstGeom prst="rect">
            <a:avLst/>
          </a:prstGeom>
          <a:solidFill>
            <a:srgbClr val="0f3d57"/>
          </a:solidFill>
          <a:ln w="0">
            <a:noFill/>
          </a:ln>
        </p:spPr>
        <p:txBody>
          <a:bodyPr lIns="90000" rIns="90000" tIns="-9000" bIns="-9000" anchor="t">
            <a:noAutofit/>
          </a:bodyPr>
          <a:p>
            <a:endParaRPr b="0" lang="en-US" sz="1800" spc="-1" strike="noStrike">
              <a:solidFill>
                <a:srgbClr val="ffffff"/>
              </a:solidFill>
              <a:latin typeface="Arial"/>
            </a:endParaRPr>
          </a:p>
        </p:txBody>
      </p:sp>
      <p:sp>
        <p:nvSpPr>
          <p:cNvPr id="127" name=""/>
          <p:cNvSpPr txBox="1"/>
          <p:nvPr/>
        </p:nvSpPr>
        <p:spPr>
          <a:xfrm>
            <a:off x="648000" y="1530000"/>
            <a:ext cx="8784000" cy="3780000"/>
          </a:xfrm>
          <a:prstGeom prst="rect">
            <a:avLst/>
          </a:prstGeom>
          <a:noFill/>
          <a:ln w="0">
            <a:noFill/>
          </a:ln>
        </p:spPr>
        <p:txBody>
          <a:bodyPr lIns="90000" rIns="90000" tIns="45000" bIns="45000" anchor="t">
            <a:noAutofit/>
          </a:bodyPr>
          <a:p>
            <a:r>
              <a:rPr b="0" lang="en-US" sz="2400" spc="-1" strike="noStrike">
                <a:solidFill>
                  <a:srgbClr val="111418"/>
                </a:solidFill>
                <a:latin typeface="Arial"/>
              </a:rPr>
              <a:t>• </a:t>
            </a:r>
            <a:r>
              <a:rPr b="0" lang="en-US" sz="2400" spc="-1" strike="noStrike">
                <a:solidFill>
                  <a:srgbClr val="111418"/>
                </a:solidFill>
                <a:latin typeface="Arial"/>
              </a:rPr>
              <a:t>A second integration, so you orchestrate two systems rather than one.</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A real investigation, not a summary.</a:t>
            </a:r>
            <a:endParaRPr b="0" lang="en-US" sz="2400" spc="-1" strike="noStrike">
              <a:solidFill>
                <a:srgbClr val="000000"/>
              </a:solidFill>
              <a:latin typeface="Arial"/>
            </a:endParaRPr>
          </a:p>
          <a:p>
            <a:r>
              <a:rPr b="0" lang="en-US" sz="2400" spc="-1" strike="noStrike">
                <a:solidFill>
                  <a:srgbClr val="111418"/>
                </a:solidFill>
                <a:latin typeface="Arial"/>
              </a:rPr>
              <a:t>• </a:t>
            </a:r>
            <a:r>
              <a:rPr b="0" lang="en-US" sz="2400" spc="-1" strike="noStrike">
                <a:solidFill>
                  <a:srgbClr val="111418"/>
                </a:solidFill>
                <a:latin typeface="Arial"/>
              </a:rPr>
              <a:t>**Project 1 is assigned.**</a:t>
            </a:r>
            <a:endParaRPr b="0" lang="en-US"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cp:revision>0</cp:revision>
  <dc:subject/>
  <dc:title/>
</cp:coreProperties>
</file>