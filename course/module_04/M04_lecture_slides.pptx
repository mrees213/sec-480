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5.xml.rels" ContentType="application/vnd.openxmlformats-package.relationships+xml"/>
  <Override PartName="/ppt/notesSlides/_rels/notesSlide2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4D25046-B424-48FC-B66B-499E9215406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Say the tier name once. Groundwork, Application, Synthesis is the shape of every unit and this is the first week of unit 2, 20% of the milestone. Low, Medium and High are internal words and must not be said in the room.</a:t>
            </a:r>
            <a:endParaRPr b="0" lang="en-US" sz="1200" spc="-1" strike="noStrike">
              <a:solidFill>
                <a:srgbClr val="000000"/>
              </a:solidFill>
              <a:latin typeface="Arial"/>
            </a:endParaRPr>
          </a:p>
          <a:p>
            <a:r>
              <a:rPr b="0" lang="en-US" sz="1200" spc="-1" strike="noStrike">
                <a:solidFill>
                  <a:srgbClr val="252c36"/>
                </a:solidFill>
                <a:latin typeface="Arial"/>
              </a:rPr>
              <a:t>Class runs 10:00 to 12:45, 165 minutes. The arc is in M04_lecture_outline.md.</a:t>
            </a: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arc is the point of the slide. The patterns slide that used to precede it was removed 26 Sep 2026, Joe's call.</a:t>
            </a:r>
            <a:endParaRPr b="0" lang="en-US" sz="1200" spc="-1" strike="noStrike">
              <a:solidFill>
                <a:srgbClr val="000000"/>
              </a:solidFill>
              <a:latin typeface="Arial"/>
            </a:endParaRPr>
          </a:p>
          <a:p>
            <a:r>
              <a:rPr b="0" lang="en-US" sz="1200" spc="-1" strike="noStrike">
                <a:solidFill>
                  <a:srgbClr val="252c36"/>
                </a:solidFill>
                <a:latin typeface="Arial"/>
              </a:rPr>
              <a:t>Several students said in unit 1 that they did not know whether what they were doing was right, and did not understand some of their tasks. They were not wrong, and it is worth saying so from the front. That is why every act in this module opens with a picture of where it sits.</a:t>
            </a:r>
            <a:endParaRPr b="0" lang="en-US" sz="1200" spc="-1" strike="noStrike">
              <a:solidFill>
                <a:srgbClr val="000000"/>
              </a:solidFill>
              <a:latin typeface="Arial"/>
            </a:endParaRPr>
          </a:p>
          <a:p>
            <a:r>
              <a:rPr b="0" lang="en-US" sz="1200" spc="-1" strike="noStrike">
                <a:solidFill>
                  <a:srgbClr val="252c36"/>
                </a:solidFill>
                <a:latin typeface="Arial"/>
              </a:rPr>
              <a:t>The four director lines map onto the four acts, in order. Do not say so yet; the next picture does it.</a:t>
            </a: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Keep it short: the previous slide made the argument and this one is the evidence. The point of the list is the last line, so let it land rather than walking the first three.</a:t>
            </a: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highest-value minute of the day. Put it up, say the right-hand column is the unit, and stop. Elaborating turns a sharp line into a lecture.</a:t>
            </a:r>
            <a:endParaRPr b="0" lang="en-US" sz="1200" spc="-1" strike="noStrike">
              <a:solidFill>
                <a:srgbClr val="000000"/>
              </a:solidFill>
              <a:latin typeface="Arial"/>
            </a:endParaRPr>
          </a:p>
          <a:p>
            <a:r>
              <a:rPr b="0" lang="en-US" sz="1200" spc="-1" strike="noStrike">
                <a:solidFill>
                  <a:srgbClr val="252c36"/>
                </a:solidFill>
                <a:latin typeface="Arial"/>
              </a:rPr>
              <a:t>Worth saying out loud because it lands: this course's own grading tools have failed in exactly this direction, repeatedly, printing a green line each time. Six defects in five tools on 18 and 19 September, every one reporting work that exists as work that does not.</a:t>
            </a: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Definition slide, and the first time the term is defined for them. They met the idea in modules 1 to 3 without the name doing this much work. Module 5 is built entirely on it.</a:t>
            </a: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module-level picture, up front. Walk it left to right once. Module 3 ended at the first box. The lab is the other three, plus the plan that comes before them.</a:t>
            </a:r>
            <a:endParaRPr b="0" lang="en-US" sz="1200" spc="-1" strike="noStrike">
              <a:solidFill>
                <a:srgbClr val="000000"/>
              </a:solidFill>
              <a:latin typeface="Arial"/>
            </a:endParaRPr>
          </a:p>
          <a:p>
            <a:r>
              <a:rPr b="0" lang="en-US" sz="1200" spc="-1" strike="noStrike">
                <a:solidFill>
                  <a:srgbClr val="252c36"/>
                </a:solidFill>
                <a:latin typeface="Arial"/>
              </a:rPr>
              <a:t>Point at the last box and say it is the one most people skip, and the one that makes the rest safe to walk away from.</a:t>
            </a: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last line is the thesis of the module. Say it, then stop, then say it again. Everything after this slide is an instance of it.</a:t>
            </a:r>
            <a:endParaRPr b="0" lang="en-US" sz="1200" spc="-1" strike="noStrike">
              <a:solidFill>
                <a:srgbClr val="000000"/>
              </a:solidFill>
              <a:latin typeface="Arial"/>
            </a:endParaRPr>
          </a:p>
          <a:p>
            <a:r>
              <a:rPr b="0" lang="en-US" sz="1200" spc="-1" strike="noStrike">
                <a:solidFill>
                  <a:srgbClr val="252c36"/>
                </a:solidFill>
                <a:latin typeface="Arial"/>
              </a:rPr>
              <a:t>Where the ticket sits in the arc: module 3 was one incident on a finance file share, worked once, by hand, by the student. Unit 2 is the same incident coming back until somebody makes it stop needing a person. Opening the most abstract unit in the course somewhere they already understand costs nothing.</a:t>
            </a: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Worth 3 points. This is the picture that comes back at the start of every act, with that act lit, so a student always knows where they are in the module.</a:t>
            </a: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Issues in GitHub are GitHub's own message threads attached to a repository, not problems to fix. Say the definition again even though module 3 covered it; it caught almost everybody.</a:t>
            </a:r>
            <a:endParaRPr b="0" lang="en-US" sz="1200" spc="-1" strike="noStrike">
              <a:solidFill>
                <a:srgbClr val="000000"/>
              </a:solidFill>
              <a:latin typeface="Arial"/>
            </a:endParaRPr>
          </a:p>
          <a:p>
            <a:r>
              <a:rPr b="0" lang="en-US" sz="1200" spc="-1" strike="noStrike">
                <a:solidFill>
                  <a:srgbClr val="252c36"/>
                </a:solidFill>
                <a:latin typeface="Arial"/>
              </a:rPr>
              <a:t>GitHub issues have no due date field. The milestone carries a date and cannot hold the time, so the 9:00 pm goes in the issue text. Milestone_02 is dated 22 October, Project 2's due date, in all 23 repositories. If a student cannot find it, they make one by hand and are not marked down.</a:t>
            </a:r>
            <a:endParaRPr b="0" lang="en-US" sz="1200" spc="-1" strike="noStrike">
              <a:solidFill>
                <a:srgbClr val="000000"/>
              </a:solidFill>
              <a:latin typeface="Arial"/>
            </a:endParaRPr>
          </a:p>
          <a:p>
            <a:r>
              <a:rPr b="0" lang="en-US" sz="1200" spc="-1" strike="noStrike">
                <a:solidFill>
                  <a:srgbClr val="252c36"/>
                </a:solidFill>
                <a:latin typeface="Arial"/>
              </a:rPr>
              <a:t>The Lab_M0X and Journal_0X labels were created in every repository on 6 Sep by pm_setup.sh, so Lab_M04 and Journal_04 already exist.</a:t>
            </a:r>
            <a:endParaRPr b="0" lang="en-US" sz="1200" spc="-1" strike="noStrike">
              <a:solidFill>
                <a:srgbClr val="000000"/>
              </a:solidFill>
              <a:latin typeface="Arial"/>
            </a:endParaRPr>
          </a:p>
          <a:p>
            <a:r>
              <a:rPr b="0" lang="en-US" sz="1200" spc="-1" strike="noStrike">
                <a:solidFill>
                  <a:srgbClr val="252c36"/>
                </a:solidFill>
                <a:latin typeface="Arial"/>
              </a:rPr>
              <a:t>The plan-before-the-work order is module 3's lesson repeated, so do not re-argue it.</a:t>
            </a: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This is the part that carries CP3 and it is the part they will skip. Say it explicitly. The answer is mostly 'less than I expected', which is the beginning of the unit's argument.</a:t>
            </a:r>
            <a:endParaRPr b="0" lang="en-US" sz="1200" spc="-1" strike="noStrike">
              <a:solidFill>
                <a:srgbClr val="000000"/>
              </a:solidFill>
              <a:latin typeface="Arial"/>
            </a:endParaRPr>
          </a:p>
          <a:p>
            <a:r>
              <a:rPr b="0" lang="en-US" sz="1200" spc="-1" strike="noStrike">
                <a:solidFill>
                  <a:srgbClr val="252c36"/>
                </a:solidFill>
                <a:latin typeface="Arial"/>
              </a:rPr>
              <a:t>'Visible to you' is the student's own view, not the data inside the system. A log they cannot open does not count as something they can see.</a:t>
            </a: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Worth 2 points. A Project is where instructions live so they survive between conversations; define it here, the first place it is used.</a:t>
            </a: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Option 1, Joe's call 25 Sep. The Skill and the instructions come from Project 1 (M03_project.md, requirements 1 and 3), NOT from the module 3 lab, which never asked for a Skill. Project 1 was due Thu 24 Sep 9:00 pm and is not graded yet, so how many students have a Skill is unknown. A local search on 25 Sep found something named skill in at least 5 repositories on the primary branch only; that is a floor, not a count.</a:t>
            </a:r>
            <a:endParaRPr b="0" lang="en-US" sz="1200" spc="-1" strike="noStrike">
              <a:solidFill>
                <a:srgbClr val="000000"/>
              </a:solidFill>
              <a:latin typeface="Arial"/>
            </a:endParaRPr>
          </a:p>
          <a:p>
            <a:r>
              <a:rPr b="0" lang="en-US" sz="1200" spc="-1" strike="noStrike">
                <a:solidFill>
                  <a:srgbClr val="252c36"/>
                </a:solidFill>
                <a:latin typeface="Arial"/>
              </a:rPr>
              <a:t>Define readback on this slide: you ask the system to tell you back what it has stored, and you compare it with what you gave it. Pilots do the same with air traffic control.</a:t>
            </a:r>
            <a:endParaRPr b="0" lang="en-US" sz="1200" spc="-1" strike="noStrike">
              <a:solidFill>
                <a:srgbClr val="000000"/>
              </a:solidFill>
              <a:latin typeface="Arial"/>
            </a:endParaRPr>
          </a:p>
          <a:p>
            <a:r>
              <a:rPr b="0" lang="en-US" sz="1200" spc="-1" strike="noStrike">
                <a:solidFill>
                  <a:srgbClr val="252c36"/>
                </a:solidFill>
                <a:latin typeface="Arial"/>
              </a:rPr>
              <a:t>Project 1 is a prerequisite for acts 2 and 3, Joe's ruling 25 Sep. Say it out loud: not finished, finish it first.</a:t>
            </a: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Plainly: the Project's settings page says what it holds. The readback is Claude telling you what it actually has. If the two differ, the settings page was wrong, and nothing would have told you.</a:t>
            </a:r>
            <a:endParaRPr b="0" lang="en-US" sz="1200" spc="-1" strike="noStrike">
              <a:solidFill>
                <a:srgbClr val="000000"/>
              </a:solidFill>
              <a:latin typeface="Arial"/>
            </a:endParaRPr>
          </a:p>
          <a:p>
            <a:r>
              <a:rPr b="0" lang="en-US" sz="1200" spc="-1" strike="noStrike">
                <a:solidFill>
                  <a:srgbClr val="252c36"/>
                </a:solidFill>
                <a:latin typeface="Arial"/>
              </a:rPr>
              <a:t>Source: M03_lab_repeatable-work.md, lines 36 to 47, a worked example from our own test run, not something students did. Module 1's lesson, the module 3 reference's worked example, now with a reason to care that is specific to this unit. Do not spend long: they have seen the example.</a:t>
            </a: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Define a scheduled task on this slide: work set to run at a time you choose, whether or not you are there, bound to a Project.</a:t>
            </a: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Set the time far enough ahead that they genuinely leave. If they sit and watch the tab the act has not happened, so say that plainly when it starts.</a:t>
            </a:r>
            <a:endParaRPr b="0" lang="en-US" sz="1200" spc="-1" strike="noStrike">
              <a:solidFill>
                <a:srgbClr val="000000"/>
              </a:solidFill>
              <a:latin typeface="Arial"/>
            </a:endParaRPr>
          </a:p>
          <a:p>
            <a:r>
              <a:rPr b="0" lang="en-US" sz="1200" spc="-1" strike="noStrike">
                <a:solidFill>
                  <a:srgbClr val="252c36"/>
                </a:solidFill>
                <a:latin typeface="Arial"/>
              </a:rPr>
              <a:t>Everything graded here works in a browser. Name the desktop application as the option it is, never as the assumed route.</a:t>
            </a:r>
            <a:endParaRPr b="0" lang="en-US" sz="1200" spc="-1" strike="noStrike">
              <a:solidFill>
                <a:srgbClr val="000000"/>
              </a:solidFill>
              <a:latin typeface="Arial"/>
            </a:endParaRPr>
          </a:p>
          <a:p>
            <a:r>
              <a:rPr b="0" lang="en-US" sz="1200" spc="-1" strike="noStrike">
                <a:solidFill>
                  <a:srgbClr val="252c36"/>
                </a:solidFill>
                <a:latin typeface="Arial"/>
              </a:rPr>
              <a:t>The Default model line is from Joe's own test, 26 Sep 2026: a scheduled task left on Default model reported claude-sonnet-5, while chats in the same Project reported claude-opus-5. Evidence in admin/evidence/skill-test/. The point for the room: 'default' hides a decision, and a run nobody watches is the worst place to have one hidden.</a:t>
            </a: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This is the syllabus's COMPARATIVE CAPABILITY ANALYSIS, and it is worth saying that phrase in the room: two models, same instructions, their own work. It has nothing to do with chat and Cowork, which are one product now.</a:t>
            </a:r>
            <a:endParaRPr b="0" lang="en-US" sz="1200" spc="-1" strike="noStrike">
              <a:solidFill>
                <a:srgbClr val="000000"/>
              </a:solidFill>
              <a:latin typeface="Arial"/>
            </a:endParaRPr>
          </a:p>
          <a:p>
            <a:r>
              <a:rPr b="0" lang="en-US" sz="1200" spc="-1" strike="noStrike">
                <a:solidFill>
                  <a:srgbClr val="252c36"/>
                </a:solidFill>
                <a:latin typeface="Arial"/>
              </a:rPr>
              <a:t>SAY BEFORE THEY START: 'they came out the same' is a pass. Otherwise half the room invents a difference. The failure to watch for is the opposite one, a difference asserted in adjectives with nothing in either output to point at.</a:t>
            </a:r>
            <a:endParaRPr b="0" lang="en-US" sz="1200" spc="-1" strike="noStrike">
              <a:solidFill>
                <a:srgbClr val="000000"/>
              </a:solidFill>
              <a:latin typeface="Arial"/>
            </a:endParaRPr>
          </a:p>
          <a:p>
            <a:r>
              <a:rPr b="0" lang="en-US" sz="1200" spc="-1" strike="noStrike">
                <a:solidFill>
                  <a:srgbClr val="252c36"/>
                </a:solidFill>
                <a:latin typeface="Arial"/>
              </a:rPr>
              <a:t>The write-up is committed before the run. A reason written after the output exists is a description of the output.</a:t>
            </a:r>
            <a:endParaRPr b="0" lang="en-US" sz="1200" spc="-1" strike="noStrike">
              <a:solidFill>
                <a:srgbClr val="000000"/>
              </a:solidFill>
              <a:latin typeface="Arial"/>
            </a:endParaRPr>
          </a:p>
          <a:p>
            <a:r>
              <a:rPr b="0" lang="en-US" sz="1200" spc="-1" strike="noStrike">
                <a:solidFill>
                  <a:srgbClr val="252c36"/>
                </a:solidFill>
                <a:latin typeface="Arial"/>
              </a:rPr>
              <a:t>There is NO effort control on that screen. Confirmed on a live account 22 Sep 2026. Do not send them looking for it.</a:t>
            </a:r>
            <a:endParaRPr b="0" lang="en-US" sz="1200" spc="-1" strike="noStrike">
              <a:solidFill>
                <a:srgbClr val="000000"/>
              </a:solidFill>
              <a:latin typeface="Arial"/>
            </a:endParaRPr>
          </a:p>
          <a:p>
            <a:r>
              <a:rPr b="0" lang="en-US" sz="1200" spc="-1" strike="noStrike">
                <a:solidFill>
                  <a:srgbClr val="252c36"/>
                </a:solidFill>
                <a:latin typeface="Arial"/>
              </a:rPr>
              <a:t>The repeat cadence is not marked, but it is worth a sentence: a task that repeats keeps being wrong after you stop paying attention to it.</a:t>
            </a: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Quote it from the screen. The room will have two different sentences because the scheduled task has two screens, the task detail page and the create or edit dialog, and each words the same setting differently. This is not about chat and Cowork. Both were read off a live account 22 Sep 2026.</a:t>
            </a:r>
            <a:endParaRPr b="0" lang="en-US" sz="1200" spc="-1" strike="noStrike">
              <a:solidFill>
                <a:srgbClr val="000000"/>
              </a:solidFill>
              <a:latin typeface="Arial"/>
            </a:endParaRPr>
          </a:p>
          <a:p>
            <a:r>
              <a:rPr b="0" lang="en-US" sz="1200" spc="-1" strike="noStrike">
                <a:solidFill>
                  <a:srgbClr val="252c36"/>
                </a:solidFill>
                <a:latin typeface="Arial"/>
              </a:rPr>
              <a:t>PUT BOTH ON THE BOARD AND ASK WHICH THEY WOULD RELY ON. One promises a pause if something looks unsafe; the other promises no pause at all. A student committing to an unattended run is relying on one of those sentences and the screens do not agree with each other.</a:t>
            </a:r>
            <a:endParaRPr b="0" lang="en-US" sz="1200" spc="-1" strike="noStrike">
              <a:solidFill>
                <a:srgbClr val="000000"/>
              </a:solidFill>
              <a:latin typeface="Arial"/>
            </a:endParaRPr>
          </a:p>
          <a:p>
            <a:r>
              <a:rPr b="0" lang="en-US" sz="1200" spc="-1" strike="noStrike">
                <a:solidFill>
                  <a:srgbClr val="252c36"/>
                </a:solidFill>
                <a:latin typeface="Arial"/>
              </a:rPr>
              <a:t>The point: nobody is checking the work while it happens, so the only thing between an unattended run and a bad outcome is the platform's own judgement about what LOOKS unsafe, applied to a situation the student did not anticipate and is not present for.</a:t>
            </a: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third question carries the act. The student is reading the results of the scheduled run, and the question is what those results cannot show them. Prompt with: did it read everything you assumed it read, did anything fail quietly partway through and get reported as finished, what would that look like and how would it differ from what you are looking at.</a:t>
            </a:r>
            <a:endParaRPr b="0" lang="en-US" sz="1200" spc="-1" strike="noStrike">
              <a:solidFill>
                <a:srgbClr val="000000"/>
              </a:solidFill>
              <a:latin typeface="Arial"/>
            </a:endParaRPr>
          </a:p>
          <a:p>
            <a:r>
              <a:rPr b="0" lang="en-US" sz="1200" spc="-1" strike="noStrike">
                <a:solidFill>
                  <a:srgbClr val="252c36"/>
                </a:solidFill>
                <a:latin typeface="Arial"/>
              </a:rPr>
              <a:t>A task that fires immediately rather than on schedule is a result, not a failure, and the rubric credits it where they wrote it down. Say so before they start so nobody hides it.</a:t>
            </a:r>
            <a:endParaRPr b="0" lang="en-US" sz="1200" spc="-1" strike="noStrike">
              <a:solidFill>
                <a:srgbClr val="000000"/>
              </a:solidFill>
              <a:latin typeface="Arial"/>
            </a:endParaRPr>
          </a:p>
          <a:p>
            <a:r>
              <a:rPr b="0" lang="en-US" sz="1200" spc="-1" strike="noStrike">
                <a:solidFill>
                  <a:srgbClr val="252c36"/>
                </a:solidFill>
                <a:latin typeface="Arial"/>
              </a:rPr>
              <a:t>Some accounts will not show the control. The lab promises full credit for CP6 and CP8 where they say what they looked at and add a help.me file, and that promise is binding.</a:t>
            </a: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Worth 2 points. Handover is used all through the course and this is where it gets defined. The person taking over here is the student, six weeks from now, who will have forgotten.</a:t>
            </a: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Question 3 is the one being marked hard, and the best answer is often 'nobody would know'. That gets full credit, not partial. Say that out loud.</a:t>
            </a:r>
            <a:endParaRPr b="0" lang="en-US" sz="1200" spc="-1" strike="noStrike">
              <a:solidFill>
                <a:srgbClr val="000000"/>
              </a:solidFill>
              <a:latin typeface="Arial"/>
            </a:endParaRPr>
          </a:p>
          <a:p>
            <a:r>
              <a:rPr b="0" lang="en-US" sz="1200" spc="-1" strike="noStrike">
                <a:solidFill>
                  <a:srgbClr val="252c36"/>
                </a:solidFill>
                <a:latin typeface="Arial"/>
              </a:rPr>
              <a:t>Nobody else acts on this document: not reviewed, not assigned, not sent anywhere. Module 3 named a reviewer and said nothing about what the reviewer does, and it produced 22 open pull requests that all looked like they were waiting on me.</a:t>
            </a:r>
            <a:endParaRPr b="0" lang="en-US" sz="12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Due date set by Joe 25 Sep: Thursday 1 October, 9:00 pm, the usual pattern. The lab was not shipped on 25 Sep, so the window is shorter than a week by however long delivery takes. Say the time, not just the day.</a:t>
            </a:r>
            <a:endParaRPr b="0" lang="en-US" sz="1200" spc="-1" strike="noStrike">
              <a:solidFill>
                <a:srgbClr val="000000"/>
              </a:solidFill>
              <a:latin typeface="Arial"/>
            </a:endParaRPr>
          </a:p>
          <a:p>
            <a:r>
              <a:rPr b="0" lang="en-US" sz="1200" spc="-1" strike="noStrike">
                <a:solidFill>
                  <a:srgbClr val="252c36"/>
                </a:solidFill>
                <a:latin typeface="Arial"/>
              </a:rPr>
              <a:t>The pull request line replaces 'a container, nobody opens it', which read as unclear. Same ruling: not reviewed, nobody assigned, no check grades it.</a:t>
            </a:r>
            <a:endParaRPr b="0" lang="en-US" sz="12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same picture the module opened with, now showing what each act produced. Close on it and point at the last box: that is the file that makes walking away safe.</a:t>
            </a: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2214ED9-7F0E-4C7C-968E-6FB883FA2C13}"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5CB65E8-DCB4-47F7-864A-A04296956E90}"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A5A27864-C7C1-40DF-8A9A-6F1BF41BE4C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
          <p:cNvSpPr txBox="1"/>
          <p:nvPr/>
        </p:nvSpPr>
        <p:spPr>
          <a:xfrm>
            <a:off x="720000" y="1764000"/>
            <a:ext cx="8640000" cy="936000"/>
          </a:xfrm>
          <a:prstGeom prst="rect">
            <a:avLst/>
          </a:prstGeom>
          <a:noFill/>
          <a:ln w="0">
            <a:noFill/>
          </a:ln>
        </p:spPr>
        <p:txBody>
          <a:bodyPr lIns="90000" rIns="90000" tIns="45000" bIns="45000" anchor="t">
            <a:noAutofit/>
          </a:bodyPr>
          <a:p>
            <a:r>
              <a:rPr b="1" lang="en-US" sz="5000" spc="-1" strike="noStrike">
                <a:solidFill>
                  <a:srgbClr val="0f3d57"/>
                </a:solidFill>
                <a:latin typeface="Arial"/>
              </a:rPr>
              <a:t>Module 4 · Groundwork</a:t>
            </a:r>
            <a:endParaRPr b="0" lang="en-US" sz="5000" spc="-1" strike="noStrike">
              <a:solidFill>
                <a:srgbClr val="000000"/>
              </a:solidFill>
              <a:latin typeface="Arial"/>
            </a:endParaRPr>
          </a:p>
        </p:txBody>
      </p:sp>
      <p:sp>
        <p:nvSpPr>
          <p:cNvPr id="14" name=""/>
          <p:cNvSpPr txBox="1"/>
          <p:nvPr/>
        </p:nvSpPr>
        <p:spPr>
          <a:xfrm>
            <a:off x="720000" y="2844000"/>
            <a:ext cx="8640000" cy="10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What changes when you leave the room.</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Wrapping up unit 1</a:t>
            </a:r>
            <a:endParaRPr b="0" lang="en-US" sz="3400" spc="-1" strike="noStrike">
              <a:solidFill>
                <a:srgbClr val="000000"/>
              </a:solidFill>
              <a:latin typeface="Arial"/>
            </a:endParaRPr>
          </a:p>
        </p:txBody>
      </p:sp>
      <p:sp>
        <p:nvSpPr>
          <p:cNvPr id="1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7" name=""/>
          <p:cNvSpPr txBox="1"/>
          <p:nvPr/>
        </p:nvSpPr>
        <p:spPr>
          <a:xfrm>
            <a:off x="648000" y="1530000"/>
            <a:ext cx="8784000" cy="4719960"/>
          </a:xfrm>
          <a:prstGeom prst="rect">
            <a:avLst/>
          </a:prstGeom>
          <a:noFill/>
          <a:ln w="0">
            <a:noFill/>
          </a:ln>
        </p:spPr>
        <p:txBody>
          <a:bodyPr lIns="90000" rIns="90000" tIns="45000" bIns="45000" anchor="t">
            <a:noAutofit/>
          </a:bodyPr>
          <a:p>
            <a:r>
              <a:rPr b="1" lang="en-US" sz="2400" spc="-1" strike="noStrike">
                <a:solidFill>
                  <a:srgbClr val="111418"/>
                </a:solidFill>
                <a:latin typeface="Arial"/>
              </a:rPr>
              <a:t>Unit 1: you were the consumer, the doer.</a:t>
            </a:r>
            <a:r>
              <a:rPr b="0" lang="en-US" sz="2400" spc="-1" strike="noStrike">
                <a:solidFill>
                  <a:srgbClr val="111418"/>
                </a:solidFill>
                <a:latin typeface="Arial"/>
              </a:rPr>
              <a:t> Your hands were on everything. You built it, proved it, and tried to disprove it yourself. That is most people's experience of AI.</a:t>
            </a:r>
            <a:endParaRPr b="0" lang="en-US" sz="2400" spc="-1" strike="noStrike">
              <a:solidFill>
                <a:srgbClr val="000000"/>
              </a:solidFill>
              <a:latin typeface="Arial"/>
            </a:endParaRPr>
          </a:p>
          <a:p>
            <a:r>
              <a:rPr b="1" lang="en-US" sz="2400" spc="-1" strike="noStrike">
                <a:solidFill>
                  <a:srgbClr val="111418"/>
                </a:solidFill>
                <a:latin typeface="Arial"/>
              </a:rPr>
              <a:t>Unit 2: you are the director.</a:t>
            </a:r>
            <a:r>
              <a:rPr b="0" lang="en-US" sz="2400" spc="-1" strike="noStrike">
                <a:solidFill>
                  <a:srgbClr val="111418"/>
                </a:solidFill>
                <a:latin typeface="Arial"/>
              </a:rPr>
              <a:t> Directing AI work means four things:</a:t>
            </a:r>
            <a:endParaRPr b="0" lang="en-US" sz="24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Decide what the work is, and write it down so it can be done without you.</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Choose what does it: which model, with which instructions.</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Let it run where you cannot see it.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Decide in advance how you would know it went wrong.</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txBox="1"/>
          <p:nvPr/>
        </p:nvSpPr>
        <p:spPr>
          <a:xfrm>
            <a:off x="648000" y="378000"/>
            <a:ext cx="8784000" cy="792000"/>
          </a:xfrm>
          <a:prstGeom prst="rect">
            <a:avLst/>
          </a:prstGeom>
          <a:noFill/>
          <a:ln w="0">
            <a:noFill/>
          </a:ln>
        </p:spPr>
        <p:txBody>
          <a:bodyPr lIns="90000" rIns="90000" tIns="45000" bIns="45000" anchor="t">
            <a:noAutofit/>
          </a:bodyPr>
          <a:p>
            <a:r>
              <a:rPr b="1" lang="en-US" sz="2700" spc="-1" strike="noStrike">
                <a:solidFill>
                  <a:srgbClr val="0f3d57"/>
                </a:solidFill>
                <a:latin typeface="Arial"/>
              </a:rPr>
              <a:t>Unit 1 was doing the work. Unit 2 is directing it.</a:t>
            </a:r>
            <a:endParaRPr b="0" lang="en-US" sz="2700" spc="-1" strike="noStrike">
              <a:solidFill>
                <a:srgbClr val="000000"/>
              </a:solidFill>
              <a:latin typeface="Arial"/>
            </a:endParaRPr>
          </a:p>
        </p:txBody>
      </p:sp>
      <p:sp>
        <p:nvSpPr>
          <p:cNvPr id="1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Module 1: does the connection work?</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Module 2: is the output true?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Module 3: can you design where the platform sits in the work?</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All three had your hands on it the whole time.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Doing versus directing</a:t>
            </a:r>
            <a:endParaRPr b="0" lang="en-US" sz="3400" spc="-1" strike="noStrike">
              <a:solidFill>
                <a:srgbClr val="000000"/>
              </a:solidFill>
              <a:latin typeface="Arial"/>
            </a:endParaRPr>
          </a:p>
        </p:txBody>
      </p:sp>
      <p:sp>
        <p:nvSpPr>
          <p:cNvPr id="2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3"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24" name=""/>
          <p:cNvSpPr txBox="1"/>
          <p:nvPr/>
        </p:nvSpPr>
        <p:spPr>
          <a:xfrm>
            <a:off x="648000" y="1573200"/>
            <a:ext cx="1869120" cy="427320"/>
          </a:xfrm>
          <a:prstGeom prst="rect">
            <a:avLst/>
          </a:prstGeom>
          <a:noFill/>
          <a:ln w="0">
            <a:noFill/>
          </a:ln>
        </p:spPr>
        <p:txBody>
          <a:bodyPr lIns="90000" rIns="90000" tIns="45000" bIns="45000" anchor="t">
            <a:noAutofit/>
          </a:bodyPr>
          <a:p>
            <a:endParaRPr b="0" lang="en-US" sz="1800" spc="-1" strike="noStrike">
              <a:solidFill>
                <a:srgbClr val="000000"/>
              </a:solidFill>
              <a:latin typeface="Arial"/>
            </a:endParaRPr>
          </a:p>
        </p:txBody>
      </p:sp>
      <p:sp>
        <p:nvSpPr>
          <p:cNvPr id="25" name=""/>
          <p:cNvSpPr txBox="1"/>
          <p:nvPr/>
        </p:nvSpPr>
        <p:spPr>
          <a:xfrm>
            <a:off x="2661120" y="1573200"/>
            <a:ext cx="305856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You do the work</a:t>
            </a:r>
            <a:endParaRPr b="0" lang="en-US" sz="1600" spc="-1" strike="noStrike">
              <a:solidFill>
                <a:srgbClr val="000000"/>
              </a:solidFill>
              <a:latin typeface="Arial"/>
            </a:endParaRPr>
          </a:p>
        </p:txBody>
      </p:sp>
      <p:sp>
        <p:nvSpPr>
          <p:cNvPr id="26" name=""/>
          <p:cNvSpPr txBox="1"/>
          <p:nvPr/>
        </p:nvSpPr>
        <p:spPr>
          <a:xfrm>
            <a:off x="5863680" y="1573200"/>
            <a:ext cx="356832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You direct the work</a:t>
            </a:r>
            <a:endParaRPr b="0" lang="en-US" sz="1600" spc="-1" strike="noStrike">
              <a:solidFill>
                <a:srgbClr val="000000"/>
              </a:solidFill>
              <a:latin typeface="Arial"/>
            </a:endParaRPr>
          </a:p>
        </p:txBody>
      </p:sp>
      <p:sp>
        <p:nvSpPr>
          <p:cNvPr id="27" name=""/>
          <p:cNvSpPr txBox="1"/>
          <p:nvPr/>
        </p:nvSpPr>
        <p:spPr>
          <a:xfrm>
            <a:off x="648000" y="1926000"/>
            <a:ext cx="186912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How it fails</a:t>
            </a:r>
            <a:endParaRPr b="0" lang="en-US" sz="1600" spc="-1" strike="noStrike">
              <a:solidFill>
                <a:srgbClr val="000000"/>
              </a:solidFill>
              <a:latin typeface="Arial"/>
            </a:endParaRPr>
          </a:p>
        </p:txBody>
      </p:sp>
      <p:sp>
        <p:nvSpPr>
          <p:cNvPr id="28" name=""/>
          <p:cNvSpPr txBox="1"/>
          <p:nvPr/>
        </p:nvSpPr>
        <p:spPr>
          <a:xfrm>
            <a:off x="2661120" y="1926000"/>
            <a:ext cx="305856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You get it wrong</a:t>
            </a:r>
            <a:endParaRPr b="0" lang="en-US" sz="1600" spc="-1" strike="noStrike">
              <a:solidFill>
                <a:srgbClr val="000000"/>
              </a:solidFill>
              <a:latin typeface="Arial"/>
            </a:endParaRPr>
          </a:p>
        </p:txBody>
      </p:sp>
      <p:sp>
        <p:nvSpPr>
          <p:cNvPr id="29" name=""/>
          <p:cNvSpPr txBox="1"/>
          <p:nvPr/>
        </p:nvSpPr>
        <p:spPr>
          <a:xfrm>
            <a:off x="5863680" y="1926000"/>
            <a:ext cx="356832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It goes wrong and you do not notice</a:t>
            </a:r>
            <a:endParaRPr b="0" lang="en-US" sz="1600" spc="-1" strike="noStrike">
              <a:solidFill>
                <a:srgbClr val="000000"/>
              </a:solidFill>
              <a:latin typeface="Arial"/>
            </a:endParaRPr>
          </a:p>
        </p:txBody>
      </p:sp>
      <p:sp>
        <p:nvSpPr>
          <p:cNvPr id="30" name=""/>
          <p:cNvSpPr txBox="1"/>
          <p:nvPr/>
        </p:nvSpPr>
        <p:spPr>
          <a:xfrm>
            <a:off x="576000" y="2444400"/>
            <a:ext cx="8928000" cy="3312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31" name=""/>
          <p:cNvSpPr txBox="1"/>
          <p:nvPr/>
        </p:nvSpPr>
        <p:spPr>
          <a:xfrm>
            <a:off x="648000" y="2480400"/>
            <a:ext cx="186912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When you find out</a:t>
            </a:r>
            <a:endParaRPr b="0" lang="en-US" sz="1600" spc="-1" strike="noStrike">
              <a:solidFill>
                <a:srgbClr val="000000"/>
              </a:solidFill>
              <a:latin typeface="Arial"/>
            </a:endParaRPr>
          </a:p>
        </p:txBody>
      </p:sp>
      <p:sp>
        <p:nvSpPr>
          <p:cNvPr id="32" name=""/>
          <p:cNvSpPr txBox="1"/>
          <p:nvPr/>
        </p:nvSpPr>
        <p:spPr>
          <a:xfrm>
            <a:off x="2661120" y="2480400"/>
            <a:ext cx="305856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While you are looking at it</a:t>
            </a:r>
            <a:endParaRPr b="0" lang="en-US" sz="1600" spc="-1" strike="noStrike">
              <a:solidFill>
                <a:srgbClr val="000000"/>
              </a:solidFill>
              <a:latin typeface="Arial"/>
            </a:endParaRPr>
          </a:p>
        </p:txBody>
      </p:sp>
      <p:sp>
        <p:nvSpPr>
          <p:cNvPr id="33" name=""/>
          <p:cNvSpPr txBox="1"/>
          <p:nvPr/>
        </p:nvSpPr>
        <p:spPr>
          <a:xfrm>
            <a:off x="5863680" y="2480400"/>
            <a:ext cx="356832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When somebody else finds it</a:t>
            </a:r>
            <a:endParaRPr b="0" lang="en-US" sz="1600" spc="-1" strike="noStrike">
              <a:solidFill>
                <a:srgbClr val="000000"/>
              </a:solidFill>
              <a:latin typeface="Arial"/>
            </a:endParaRPr>
          </a:p>
        </p:txBody>
      </p:sp>
      <p:sp>
        <p:nvSpPr>
          <p:cNvPr id="34" name=""/>
          <p:cNvSpPr txBox="1"/>
          <p:nvPr/>
        </p:nvSpPr>
        <p:spPr>
          <a:xfrm>
            <a:off x="576000" y="27612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35" name=""/>
          <p:cNvSpPr txBox="1"/>
          <p:nvPr/>
        </p:nvSpPr>
        <p:spPr>
          <a:xfrm>
            <a:off x="648000" y="2811600"/>
            <a:ext cx="1869120" cy="541800"/>
          </a:xfrm>
          <a:prstGeom prst="rect">
            <a:avLst/>
          </a:prstGeom>
          <a:noFill/>
          <a:ln w="0">
            <a:noFill/>
          </a:ln>
        </p:spPr>
        <p:txBody>
          <a:bodyPr lIns="90000" rIns="90000" tIns="45000" bIns="45000" anchor="t">
            <a:noAutofit/>
          </a:bodyPr>
          <a:p>
            <a:r>
              <a:rPr b="1" lang="en-US" sz="1600" spc="-1" strike="noStrike">
                <a:solidFill>
                  <a:srgbClr val="0f3d57"/>
                </a:solidFill>
                <a:latin typeface="Arial"/>
              </a:rPr>
              <a:t>What protects you</a:t>
            </a:r>
            <a:endParaRPr b="0" lang="en-US" sz="1600" spc="-1" strike="noStrike">
              <a:solidFill>
                <a:srgbClr val="000000"/>
              </a:solidFill>
              <a:latin typeface="Arial"/>
            </a:endParaRPr>
          </a:p>
        </p:txBody>
      </p:sp>
      <p:sp>
        <p:nvSpPr>
          <p:cNvPr id="36" name=""/>
          <p:cNvSpPr txBox="1"/>
          <p:nvPr/>
        </p:nvSpPr>
        <p:spPr>
          <a:xfrm>
            <a:off x="2661120" y="2811600"/>
            <a:ext cx="305856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Checking your answer</a:t>
            </a:r>
            <a:endParaRPr b="0" lang="en-US" sz="1600" spc="-1" strike="noStrike">
              <a:solidFill>
                <a:srgbClr val="000000"/>
              </a:solidFill>
              <a:latin typeface="Arial"/>
            </a:endParaRPr>
          </a:p>
        </p:txBody>
      </p:sp>
      <p:sp>
        <p:nvSpPr>
          <p:cNvPr id="37" name=""/>
          <p:cNvSpPr txBox="1"/>
          <p:nvPr/>
        </p:nvSpPr>
        <p:spPr>
          <a:xfrm>
            <a:off x="5863680" y="2811600"/>
            <a:ext cx="3568320" cy="541800"/>
          </a:xfrm>
          <a:prstGeom prst="rect">
            <a:avLst/>
          </a:prstGeom>
          <a:noFill/>
          <a:ln w="0">
            <a:noFill/>
          </a:ln>
        </p:spPr>
        <p:txBody>
          <a:bodyPr lIns="90000" rIns="90000" tIns="45000" bIns="45000" anchor="t">
            <a:noAutofit/>
          </a:bodyPr>
          <a:p>
            <a:r>
              <a:rPr b="1" lang="en-US" sz="1600" spc="-1" strike="noStrike">
                <a:solidFill>
                  <a:srgbClr val="0f3d57"/>
                </a:solidFill>
                <a:latin typeface="Arial"/>
              </a:rPr>
              <a:t>Deciding in advance what you would check</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Silent success</a:t>
            </a:r>
            <a:endParaRPr b="0" lang="en-US" sz="3400" spc="-1" strike="noStrike">
              <a:solidFill>
                <a:srgbClr val="000000"/>
              </a:solidFill>
              <a:latin typeface="Arial"/>
            </a:endParaRPr>
          </a:p>
        </p:txBody>
      </p:sp>
      <p:sp>
        <p:nvSpPr>
          <p:cNvPr id="3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40" name=""/>
          <p:cNvSpPr txBox="1"/>
          <p:nvPr/>
        </p:nvSpPr>
        <p:spPr>
          <a:xfrm>
            <a:off x="648000" y="1530000"/>
            <a:ext cx="8784000" cy="3780000"/>
          </a:xfrm>
          <a:prstGeom prst="rect">
            <a:avLst/>
          </a:prstGeom>
          <a:noFill/>
          <a:ln w="0">
            <a:noFill/>
          </a:ln>
        </p:spPr>
        <p:txBody>
          <a:bodyPr lIns="90000" rIns="90000" tIns="45000" bIns="45000" anchor="t">
            <a:noAutofit/>
          </a:bodyPr>
          <a:p>
            <a:r>
              <a:rPr b="1" lang="en-US" sz="2400" spc="-1" strike="noStrike">
                <a:solidFill>
                  <a:srgbClr val="111418"/>
                </a:solidFill>
                <a:latin typeface="Arial"/>
              </a:rPr>
              <a:t>Silent success:</a:t>
            </a:r>
            <a:r>
              <a:rPr b="0" lang="en-US" sz="2400" spc="-1" strike="noStrike">
                <a:solidFill>
                  <a:srgbClr val="111418"/>
                </a:solidFill>
                <a:latin typeface="Arial"/>
              </a:rPr>
              <a:t> a system reports that it worked, and the thing you wanted did not happen.</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It has been in every module of this course.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From here it stops being a thing you catch and starts being a thing you design against.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Module 4 in one picture</a:t>
            </a:r>
            <a:endParaRPr b="0" lang="en-US" sz="3400" spc="-1" strike="noStrike">
              <a:solidFill>
                <a:srgbClr val="000000"/>
              </a:solidFill>
              <a:latin typeface="Arial"/>
            </a:endParaRPr>
          </a:p>
        </p:txBody>
      </p:sp>
      <p:sp>
        <p:nvSpPr>
          <p:cNvPr id="4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43"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From something you did by hand to something that runs without you, and that somebody can tell has broken.</a:t>
            </a:r>
            <a:endParaRPr b="0" lang="en-US" sz="2400" spc="-1" strike="noStrike">
              <a:solidFill>
                <a:srgbClr val="000000"/>
              </a:solidFill>
              <a:latin typeface="Arial"/>
            </a:endParaRPr>
          </a:p>
        </p:txBody>
      </p:sp>
      <p:sp>
        <p:nvSpPr>
          <p:cNvPr id="44" name=""/>
          <p:cNvSpPr txBox="1"/>
          <p:nvPr/>
        </p:nvSpPr>
        <p:spPr>
          <a:xfrm>
            <a:off x="648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By hand</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Module 3: one incident, handled once, by you</a:t>
            </a:r>
            <a:endParaRPr b="0" lang="en-US" sz="1400" spc="-1" strike="noStrike">
              <a:solidFill>
                <a:srgbClr val="000000"/>
              </a:solidFill>
              <a:latin typeface="Arial"/>
            </a:endParaRPr>
          </a:p>
        </p:txBody>
      </p:sp>
      <p:sp>
        <p:nvSpPr>
          <p:cNvPr id="45" name=""/>
          <p:cNvSpPr txBox="1"/>
          <p:nvPr/>
        </p:nvSpPr>
        <p:spPr>
          <a:xfrm>
            <a:off x="2574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46" name=""/>
          <p:cNvSpPr txBox="1"/>
          <p:nvPr/>
        </p:nvSpPr>
        <p:spPr>
          <a:xfrm>
            <a:off x="2934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Written down</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The procedure lives in a Project, not in your head</a:t>
            </a:r>
            <a:endParaRPr b="0" lang="en-US" sz="1400" spc="-1" strike="noStrike">
              <a:solidFill>
                <a:srgbClr val="000000"/>
              </a:solidFill>
              <a:latin typeface="Arial"/>
            </a:endParaRPr>
          </a:p>
        </p:txBody>
      </p:sp>
      <p:sp>
        <p:nvSpPr>
          <p:cNvPr id="47" name=""/>
          <p:cNvSpPr txBox="1"/>
          <p:nvPr/>
        </p:nvSpPr>
        <p:spPr>
          <a:xfrm>
            <a:off x="4860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48" name=""/>
          <p:cNvSpPr txBox="1"/>
          <p:nvPr/>
        </p:nvSpPr>
        <p:spPr>
          <a:xfrm>
            <a:off x="5220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Runs without you</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A scheduled task does it while you are elsewhere</a:t>
            </a:r>
            <a:endParaRPr b="0" lang="en-US" sz="1400" spc="-1" strike="noStrike">
              <a:solidFill>
                <a:srgbClr val="000000"/>
              </a:solidFill>
              <a:latin typeface="Arial"/>
            </a:endParaRPr>
          </a:p>
        </p:txBody>
      </p:sp>
      <p:sp>
        <p:nvSpPr>
          <p:cNvPr id="49" name=""/>
          <p:cNvSpPr txBox="1"/>
          <p:nvPr/>
        </p:nvSpPr>
        <p:spPr>
          <a:xfrm>
            <a:off x="7146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50" name=""/>
          <p:cNvSpPr txBox="1"/>
          <p:nvPr/>
        </p:nvSpPr>
        <p:spPr>
          <a:xfrm>
            <a:off x="7506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Somebody can tell</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A handover says how anyone would know it stopped</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SD-4680, again</a:t>
            </a:r>
            <a:endParaRPr b="0" lang="en-US" sz="3400" spc="-1" strike="noStrike">
              <a:solidFill>
                <a:srgbClr val="000000"/>
              </a:solidFill>
              <a:latin typeface="Arial"/>
            </a:endParaRPr>
          </a:p>
        </p:txBody>
      </p:sp>
      <p:sp>
        <p:nvSpPr>
          <p:cNvPr id="5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53" name=""/>
          <p:cNvSpPr txBox="1"/>
          <p:nvPr/>
        </p:nvSpPr>
        <p:spPr>
          <a:xfrm>
            <a:off x="648000" y="1530000"/>
            <a:ext cx="8784000" cy="3843720"/>
          </a:xfrm>
          <a:prstGeom prst="rect">
            <a:avLst/>
          </a:prstGeom>
          <a:noFill/>
          <a:ln w="0">
            <a:noFill/>
          </a:ln>
        </p:spPr>
        <p:txBody>
          <a:bodyPr lIns="90000" rIns="90000" tIns="45000" bIns="45000" anchor="t">
            <a:noAutofit/>
          </a:bodyPr>
          <a:p>
            <a:r>
              <a:rPr b="0" lang="en-US" sz="2400" spc="-1" strike="noStrike">
                <a:solidFill>
                  <a:srgbClr val="111418"/>
                </a:solidFill>
                <a:latin typeface="Arial"/>
              </a:rPr>
              <a:t>Same ticket, same server, same person. Deliberately.</a:t>
            </a:r>
            <a:endParaRPr b="0" lang="en-US" sz="24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Module 3: Dana Okafor in Finance reported that </a:t>
            </a:r>
            <a:r>
              <a:rPr b="0" lang="en-US" sz="2200" spc="-1" strike="noStrike">
                <a:solidFill>
                  <a:srgbClr val="111418"/>
                </a:solidFill>
                <a:latin typeface="Courier New"/>
              </a:rPr>
              <a:t>\\fs02\finance\Q3-working</a:t>
            </a:r>
            <a:r>
              <a:rPr b="0" lang="en-US" sz="2200" spc="-1" strike="noStrike">
                <a:solidFill>
                  <a:srgbClr val="111418"/>
                </a:solidFill>
                <a:latin typeface="Arial"/>
              </a:rPr>
              <a:t>, the shared folder holding about forty quarter-end working papers, had vanished overnight. She needed to know who deleted it and when. You worked it out once, by hand.</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This week: "This is the fourth time this quarter. Make it not need you."</a:t>
            </a:r>
            <a:endParaRPr b="0" lang="en-US" sz="2200" spc="-1" strike="noStrike">
              <a:solidFill>
                <a:srgbClr val="000000"/>
              </a:solidFill>
              <a:latin typeface="Arial"/>
            </a:endParaRPr>
          </a:p>
          <a:p>
            <a:r>
              <a:rPr b="1" lang="en-US" sz="2400" spc="-1" strike="noStrike">
                <a:solidFill>
                  <a:srgbClr val="111418"/>
                </a:solidFill>
                <a:latin typeface="Arial"/>
              </a:rPr>
              <a:t>They are not asking for a better answer. They are asking for an answer that arrives when you are not there.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1 · Plan it</a:t>
            </a:r>
            <a:endParaRPr b="0" lang="en-US" sz="4000" spc="-1" strike="noStrike">
              <a:solidFill>
                <a:srgbClr val="000000"/>
              </a:solidFill>
              <a:latin typeface="Arial"/>
            </a:endParaRPr>
          </a:p>
        </p:txBody>
      </p:sp>
      <p:sp>
        <p:nvSpPr>
          <p:cNvPr id="5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56"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An </a:t>
            </a:r>
            <a:r>
              <a:rPr b="1" lang="en-US" sz="2700" spc="-1" strike="noStrike">
                <a:solidFill>
                  <a:srgbClr val="111418"/>
                </a:solidFill>
                <a:latin typeface="Arial"/>
              </a:rPr>
              <a:t>act</a:t>
            </a:r>
            <a:r>
              <a:rPr b="0" lang="en-US" sz="2700" spc="-1" strike="noStrike">
                <a:solidFill>
                  <a:srgbClr val="111418"/>
                </a:solidFill>
                <a:latin typeface="Arial"/>
              </a:rPr>
              <a:t> is one of the four numbered sections of the lab. Each states what it is worth and how you know it worked.</a:t>
            </a:r>
            <a:endParaRPr b="0" lang="en-US" sz="2700" spc="-1" strike="noStrike">
              <a:solidFill>
                <a:srgbClr val="000000"/>
              </a:solidFill>
              <a:latin typeface="Arial"/>
            </a:endParaRPr>
          </a:p>
        </p:txBody>
      </p:sp>
      <p:sp>
        <p:nvSpPr>
          <p:cNvPr id="57" name=""/>
          <p:cNvSpPr txBox="1"/>
          <p:nvPr/>
        </p:nvSpPr>
        <p:spPr>
          <a:xfrm>
            <a:off x="648000" y="3348000"/>
            <a:ext cx="1926000" cy="1656000"/>
          </a:xfrm>
          <a:prstGeom prst="rect">
            <a:avLst/>
          </a:prstGeom>
          <a:solidFill>
            <a:srgbClr val="0f3d57"/>
          </a:solidFill>
          <a:ln w="0">
            <a:solidFill>
              <a:srgbClr val="0f3d57"/>
            </a:solidFill>
          </a:ln>
        </p:spPr>
        <p:txBody>
          <a:bodyPr lIns="90000" rIns="90000" tIns="45000" bIns="45000" anchor="ctr">
            <a:noAutofit/>
          </a:bodyPr>
          <a:p>
            <a:pPr algn="ctr">
              <a:spcAft>
                <a:spcPts val="567"/>
              </a:spcAft>
            </a:pPr>
            <a:r>
              <a:rPr b="1" lang="en-US" sz="1800" spc="-1" strike="noStrike">
                <a:solidFill>
                  <a:srgbClr val="ffffff"/>
                </a:solidFill>
                <a:latin typeface="Arial"/>
              </a:rPr>
              <a:t>Act 1 · Plan it</a:t>
            </a:r>
            <a:endParaRPr b="0" lang="en-US" sz="1800" spc="-1" strike="noStrike">
              <a:solidFill>
                <a:srgbClr val="ffffff"/>
              </a:solidFill>
              <a:latin typeface="Arial"/>
            </a:endParaRPr>
          </a:p>
          <a:p>
            <a:pPr algn="ctr">
              <a:spcAft>
                <a:spcPts val="283"/>
              </a:spcAft>
            </a:pPr>
            <a:r>
              <a:rPr b="0" lang="en-US" sz="1400" spc="-1" strike="noStrike">
                <a:solidFill>
                  <a:srgbClr val="ffffff"/>
                </a:solidFill>
                <a:latin typeface="Arial"/>
              </a:rPr>
              <a:t>Four issues on Milestone_02, before any work · 3 pts</a:t>
            </a:r>
            <a:endParaRPr b="0" lang="en-US" sz="1400" spc="-1" strike="noStrike">
              <a:solidFill>
                <a:srgbClr val="ffffff"/>
              </a:solidFill>
              <a:latin typeface="Arial"/>
            </a:endParaRPr>
          </a:p>
        </p:txBody>
      </p:sp>
      <p:sp>
        <p:nvSpPr>
          <p:cNvPr id="58" name=""/>
          <p:cNvSpPr txBox="1"/>
          <p:nvPr/>
        </p:nvSpPr>
        <p:spPr>
          <a:xfrm>
            <a:off x="2574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59" name=""/>
          <p:cNvSpPr txBox="1"/>
          <p:nvPr/>
        </p:nvSpPr>
        <p:spPr>
          <a:xfrm>
            <a:off x="2934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2 · Give it a home</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Your Project 1 work, then read back · 2 pts</a:t>
            </a:r>
            <a:endParaRPr b="0" lang="en-US" sz="1400" spc="-1" strike="noStrike">
              <a:solidFill>
                <a:srgbClr val="000000"/>
              </a:solidFill>
              <a:latin typeface="Arial"/>
            </a:endParaRPr>
          </a:p>
        </p:txBody>
      </p:sp>
      <p:sp>
        <p:nvSpPr>
          <p:cNvPr id="60" name=""/>
          <p:cNvSpPr txBox="1"/>
          <p:nvPr/>
        </p:nvSpPr>
        <p:spPr>
          <a:xfrm>
            <a:off x="4860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61" name=""/>
          <p:cNvSpPr txBox="1"/>
          <p:nvPr/>
        </p:nvSpPr>
        <p:spPr>
          <a:xfrm>
            <a:off x="5220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3 · Leave it running</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Schedule it, choose a model, walk away · 5 pts</a:t>
            </a:r>
            <a:endParaRPr b="0" lang="en-US" sz="1400" spc="-1" strike="noStrike">
              <a:solidFill>
                <a:srgbClr val="000000"/>
              </a:solidFill>
              <a:latin typeface="Arial"/>
            </a:endParaRPr>
          </a:p>
        </p:txBody>
      </p:sp>
      <p:sp>
        <p:nvSpPr>
          <p:cNvPr id="62" name=""/>
          <p:cNvSpPr txBox="1"/>
          <p:nvPr/>
        </p:nvSpPr>
        <p:spPr>
          <a:xfrm>
            <a:off x="7146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63" name=""/>
          <p:cNvSpPr txBox="1"/>
          <p:nvPr/>
        </p:nvSpPr>
        <p:spPr>
          <a:xfrm>
            <a:off x="7506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4 · Hand it over</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How would anyone know it stopped? · 2 pts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Before any work: the tracking</a:t>
            </a:r>
            <a:endParaRPr b="0" lang="en-US" sz="3400" spc="-1" strike="noStrike">
              <a:solidFill>
                <a:srgbClr val="000000"/>
              </a:solidFill>
              <a:latin typeface="Arial"/>
            </a:endParaRPr>
          </a:p>
        </p:txBody>
      </p:sp>
      <p:sp>
        <p:nvSpPr>
          <p:cNvPr id="6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6" name=""/>
          <p:cNvSpPr txBox="1"/>
          <p:nvPr/>
        </p:nvSpPr>
        <p:spPr>
          <a:xfrm>
            <a:off x="648000" y="1530000"/>
            <a:ext cx="8784000" cy="45486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Courier New"/>
              </a:rPr>
              <a:t>Milestone_02</a:t>
            </a:r>
            <a:r>
              <a:rPr b="0" lang="en-US" sz="2200" spc="-1" strike="noStrike">
                <a:solidFill>
                  <a:srgbClr val="111418"/>
                </a:solidFill>
                <a:latin typeface="Arial"/>
              </a:rPr>
              <a:t> is already in your repository. It holds all of unit 2: modules 4, 5, 6 and Project 2.</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Four issues in GitHub, one per act, each attached to </a:t>
            </a:r>
            <a:r>
              <a:rPr b="0" lang="en-US" sz="2200" spc="-1" strike="noStrike">
                <a:solidFill>
                  <a:srgbClr val="111418"/>
                </a:solidFill>
                <a:latin typeface="Courier New"/>
              </a:rPr>
              <a:t>Milestone_02</a:t>
            </a:r>
            <a:r>
              <a:rPr b="0" lang="en-US" sz="2200" spc="-1" strike="noStrike">
                <a:solidFill>
                  <a:srgbClr val="111418"/>
                </a:solidFill>
                <a:latin typeface="Arial"/>
              </a:rPr>
              <a: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Assign each one to yourself.</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Put the due date in each issue: </a:t>
            </a:r>
            <a:r>
              <a:rPr b="1" lang="en-US" sz="2200" spc="-1" strike="noStrike">
                <a:solidFill>
                  <a:srgbClr val="111418"/>
                </a:solidFill>
                <a:latin typeface="Arial"/>
              </a:rPr>
              <a:t>Thursday 1 October, 9:00 pm</a:t>
            </a:r>
            <a:r>
              <a:rPr b="0" lang="en-US" sz="2200" spc="-1" strike="noStrike">
                <a:solidFill>
                  <a:srgbClr val="111418"/>
                </a:solidFill>
                <a:latin typeface="Arial"/>
              </a:rPr>
              <a: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Label each one </a:t>
            </a:r>
            <a:r>
              <a:rPr b="0" lang="en-US" sz="2200" spc="-1" strike="noStrike">
                <a:solidFill>
                  <a:srgbClr val="111418"/>
                </a:solidFill>
                <a:latin typeface="Courier New"/>
              </a:rPr>
              <a:t>Lab_M04</a:t>
            </a:r>
            <a:r>
              <a:rPr b="0" lang="en-US" sz="2200" spc="-1" strike="noStrike">
                <a:solidFill>
                  <a:srgbClr val="111418"/>
                </a:solidFill>
                <a:latin typeface="Arial"/>
              </a:rPr>
              <a:t>. It should already exist in your repository; if not, create it.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All of this before the first commit of real work. The commit history shows the order.</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The question underneath act 1</a:t>
            </a:r>
            <a:endParaRPr b="0" lang="en-US" sz="3400" spc="-1" strike="noStrike">
              <a:solidFill>
                <a:srgbClr val="000000"/>
              </a:solidFill>
              <a:latin typeface="Arial"/>
            </a:endParaRPr>
          </a:p>
        </p:txBody>
      </p:sp>
      <p:sp>
        <p:nvSpPr>
          <p:cNvPr id="6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9"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What can </a:t>
            </a:r>
            <a:r>
              <a:rPr b="1" lang="en-US" sz="2400" spc="-1" strike="noStrike">
                <a:solidFill>
                  <a:srgbClr val="111418"/>
                </a:solidFill>
                <a:latin typeface="Arial"/>
              </a:rPr>
              <a:t>you</a:t>
            </a:r>
            <a:r>
              <a:rPr b="0" lang="en-US" sz="2400" spc="-1" strike="noStrike">
                <a:solidFill>
                  <a:srgbClr val="111418"/>
                </a:solidFill>
                <a:latin typeface="Arial"/>
              </a:rPr>
              <a:t> see of a piece of work before it runs, while it runs, and after?</a:t>
            </a:r>
            <a:endParaRPr b="0" lang="en-US" sz="2400" spc="-1" strike="noStrike">
              <a:solidFill>
                <a:srgbClr val="000000"/>
              </a:solidFill>
              <a:latin typeface="Arial"/>
            </a:endParaRPr>
          </a:p>
          <a:p>
            <a:r>
              <a:rPr b="0" lang="en-US" sz="2400" spc="-1" strike="noStrike">
                <a:solidFill>
                  <a:srgbClr val="111418"/>
                </a:solidFill>
                <a:latin typeface="Arial"/>
              </a:rPr>
              <a:t>Not what the system knows. What you, the person, can actually look at: a screen, a file, a message.</a:t>
            </a:r>
            <a:endParaRPr b="0" lang="en-US" sz="2400" spc="-1" strike="noStrike">
              <a:solidFill>
                <a:srgbClr val="000000"/>
              </a:solidFill>
              <a:latin typeface="Arial"/>
            </a:endParaRPr>
          </a:p>
        </p:txBody>
      </p:sp>
      <p:sp>
        <p:nvSpPr>
          <p:cNvPr id="70" name=""/>
          <p:cNvSpPr txBox="1"/>
          <p:nvPr/>
        </p:nvSpPr>
        <p:spPr>
          <a:xfrm>
            <a:off x="648000" y="3348000"/>
            <a:ext cx="268812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Before</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What you told it: the instructions, the Project, the model</a:t>
            </a:r>
            <a:endParaRPr b="0" lang="en-US" sz="1400" spc="-1" strike="noStrike">
              <a:solidFill>
                <a:srgbClr val="000000"/>
              </a:solidFill>
              <a:latin typeface="Arial"/>
            </a:endParaRPr>
          </a:p>
        </p:txBody>
      </p:sp>
      <p:sp>
        <p:nvSpPr>
          <p:cNvPr id="71" name=""/>
          <p:cNvSpPr txBox="1"/>
          <p:nvPr/>
        </p:nvSpPr>
        <p:spPr>
          <a:xfrm>
            <a:off x="333612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72" name=""/>
          <p:cNvSpPr txBox="1"/>
          <p:nvPr/>
        </p:nvSpPr>
        <p:spPr>
          <a:xfrm>
            <a:off x="3696120" y="3348000"/>
            <a:ext cx="268812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While</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Watching, you see it work. Scheduled, you see nothing</a:t>
            </a:r>
            <a:endParaRPr b="0" lang="en-US" sz="1400" spc="-1" strike="noStrike">
              <a:solidFill>
                <a:srgbClr val="000000"/>
              </a:solidFill>
              <a:latin typeface="Arial"/>
            </a:endParaRPr>
          </a:p>
        </p:txBody>
      </p:sp>
      <p:sp>
        <p:nvSpPr>
          <p:cNvPr id="73" name=""/>
          <p:cNvSpPr txBox="1"/>
          <p:nvPr/>
        </p:nvSpPr>
        <p:spPr>
          <a:xfrm>
            <a:off x="638388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74" name=""/>
          <p:cNvSpPr txBox="1"/>
          <p:nvPr/>
        </p:nvSpPr>
        <p:spPr>
          <a:xfrm>
            <a:off x="6743880" y="3348000"/>
            <a:ext cx="268812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After</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What it reports back, which may not be what happened</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2 · Give it a home</a:t>
            </a:r>
            <a:endParaRPr b="0" lang="en-US" sz="4000" spc="-1" strike="noStrike">
              <a:solidFill>
                <a:srgbClr val="000000"/>
              </a:solidFill>
              <a:latin typeface="Arial"/>
            </a:endParaRPr>
          </a:p>
        </p:txBody>
      </p:sp>
      <p:sp>
        <p:nvSpPr>
          <p:cNvPr id="7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7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Your Project 1 Project and Skill come forward into this module.</a:t>
            </a:r>
            <a:endParaRPr b="0" lang="en-US" sz="2700" spc="-1" strike="noStrike">
              <a:solidFill>
                <a:srgbClr val="000000"/>
              </a:solidFill>
              <a:latin typeface="Arial"/>
            </a:endParaRPr>
          </a:p>
        </p:txBody>
      </p:sp>
      <p:sp>
        <p:nvSpPr>
          <p:cNvPr id="78" name=""/>
          <p:cNvSpPr txBox="1"/>
          <p:nvPr/>
        </p:nvSpPr>
        <p:spPr>
          <a:xfrm>
            <a:off x="648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1 · Plan it</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Four issues on Milestone_02, before any work · 3 pts</a:t>
            </a:r>
            <a:endParaRPr b="0" lang="en-US" sz="1400" spc="-1" strike="noStrike">
              <a:solidFill>
                <a:srgbClr val="000000"/>
              </a:solidFill>
              <a:latin typeface="Arial"/>
            </a:endParaRPr>
          </a:p>
        </p:txBody>
      </p:sp>
      <p:sp>
        <p:nvSpPr>
          <p:cNvPr id="79" name=""/>
          <p:cNvSpPr txBox="1"/>
          <p:nvPr/>
        </p:nvSpPr>
        <p:spPr>
          <a:xfrm>
            <a:off x="2574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80" name=""/>
          <p:cNvSpPr txBox="1"/>
          <p:nvPr/>
        </p:nvSpPr>
        <p:spPr>
          <a:xfrm>
            <a:off x="2934000" y="3348000"/>
            <a:ext cx="1926000" cy="1656000"/>
          </a:xfrm>
          <a:prstGeom prst="rect">
            <a:avLst/>
          </a:prstGeom>
          <a:solidFill>
            <a:srgbClr val="0f3d57"/>
          </a:solidFill>
          <a:ln w="0">
            <a:solidFill>
              <a:srgbClr val="0f3d57"/>
            </a:solidFill>
          </a:ln>
        </p:spPr>
        <p:txBody>
          <a:bodyPr lIns="90000" rIns="90000" tIns="45000" bIns="45000" anchor="ctr">
            <a:noAutofit/>
          </a:bodyPr>
          <a:p>
            <a:pPr algn="ctr">
              <a:spcAft>
                <a:spcPts val="567"/>
              </a:spcAft>
            </a:pPr>
            <a:r>
              <a:rPr b="1" lang="en-US" sz="1800" spc="-1" strike="noStrike">
                <a:solidFill>
                  <a:srgbClr val="ffffff"/>
                </a:solidFill>
                <a:latin typeface="Arial"/>
              </a:rPr>
              <a:t>Act 2 · Give it a home</a:t>
            </a:r>
            <a:endParaRPr b="0" lang="en-US" sz="1800" spc="-1" strike="noStrike">
              <a:solidFill>
                <a:srgbClr val="ffffff"/>
              </a:solidFill>
              <a:latin typeface="Arial"/>
            </a:endParaRPr>
          </a:p>
          <a:p>
            <a:pPr algn="ctr">
              <a:spcAft>
                <a:spcPts val="283"/>
              </a:spcAft>
            </a:pPr>
            <a:r>
              <a:rPr b="0" lang="en-US" sz="1400" spc="-1" strike="noStrike">
                <a:solidFill>
                  <a:srgbClr val="ffffff"/>
                </a:solidFill>
                <a:latin typeface="Arial"/>
              </a:rPr>
              <a:t>Your Project 1 work, then read back · 2 pts</a:t>
            </a:r>
            <a:endParaRPr b="0" lang="en-US" sz="1400" spc="-1" strike="noStrike">
              <a:solidFill>
                <a:srgbClr val="ffffff"/>
              </a:solidFill>
              <a:latin typeface="Arial"/>
            </a:endParaRPr>
          </a:p>
        </p:txBody>
      </p:sp>
      <p:sp>
        <p:nvSpPr>
          <p:cNvPr id="81" name=""/>
          <p:cNvSpPr txBox="1"/>
          <p:nvPr/>
        </p:nvSpPr>
        <p:spPr>
          <a:xfrm>
            <a:off x="4860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82" name=""/>
          <p:cNvSpPr txBox="1"/>
          <p:nvPr/>
        </p:nvSpPr>
        <p:spPr>
          <a:xfrm>
            <a:off x="5220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3 · Leave it running</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Schedule it, choose a model, walk away · 5 pts</a:t>
            </a:r>
            <a:endParaRPr b="0" lang="en-US" sz="1400" spc="-1" strike="noStrike">
              <a:solidFill>
                <a:srgbClr val="000000"/>
              </a:solidFill>
              <a:latin typeface="Arial"/>
            </a:endParaRPr>
          </a:p>
        </p:txBody>
      </p:sp>
      <p:sp>
        <p:nvSpPr>
          <p:cNvPr id="83" name=""/>
          <p:cNvSpPr txBox="1"/>
          <p:nvPr/>
        </p:nvSpPr>
        <p:spPr>
          <a:xfrm>
            <a:off x="7146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84" name=""/>
          <p:cNvSpPr txBox="1"/>
          <p:nvPr/>
        </p:nvSpPr>
        <p:spPr>
          <a:xfrm>
            <a:off x="7506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4 · Hand it over</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How would anyone know it stopped? · 2 pts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Bring your Project 1 work forward</a:t>
            </a:r>
            <a:endParaRPr b="0" lang="en-US" sz="3400" spc="-1" strike="noStrike">
              <a:solidFill>
                <a:srgbClr val="000000"/>
              </a:solidFill>
              <a:latin typeface="Arial"/>
            </a:endParaRPr>
          </a:p>
        </p:txBody>
      </p:sp>
      <p:sp>
        <p:nvSpPr>
          <p:cNvPr id="8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8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Project 1 asked you to build a Project, write its instructions, and build one Skill.</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Bring that Project and that Skill into module 4.</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Then do a </a:t>
            </a:r>
            <a:r>
              <a:rPr b="1" lang="en-US" sz="2400" spc="-1" strike="noStrike">
                <a:solidFill>
                  <a:srgbClr val="111418"/>
                </a:solidFill>
                <a:latin typeface="Arial"/>
              </a:rPr>
              <a:t>readback</a:t>
            </a:r>
            <a:r>
              <a:rPr b="0" lang="en-US" sz="2400" spc="-1" strike="noStrike">
                <a:solidFill>
                  <a:srgbClr val="111418"/>
                </a:solidFill>
                <a:latin typeface="Arial"/>
              </a:rPr>
              <a:t>: open a new conversation in the Project, paste nothing, and ask Claude to repeat the instructions you wrote for it, word for word.</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Compare what comes back with what you wrote.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
          <p:cNvSpPr txBox="1"/>
          <p:nvPr/>
        </p:nvSpPr>
        <p:spPr>
          <a:xfrm>
            <a:off x="648000" y="378000"/>
            <a:ext cx="8784000" cy="792000"/>
          </a:xfrm>
          <a:prstGeom prst="rect">
            <a:avLst/>
          </a:prstGeom>
          <a:noFill/>
          <a:ln w="0">
            <a:noFill/>
          </a:ln>
        </p:spPr>
        <p:txBody>
          <a:bodyPr lIns="90000" rIns="90000" tIns="45000" bIns="45000" anchor="t">
            <a:noAutofit/>
          </a:bodyPr>
          <a:p>
            <a:r>
              <a:rPr b="1" lang="en-US" sz="2700" spc="-1" strike="noStrike">
                <a:solidFill>
                  <a:srgbClr val="0f3d57"/>
                </a:solidFill>
                <a:latin typeface="Arial"/>
              </a:rPr>
              <a:t>A settings screen is a claim about itself</a:t>
            </a:r>
            <a:endParaRPr b="0" lang="en-US" sz="2700" spc="-1" strike="noStrike">
              <a:solidFill>
                <a:srgbClr val="000000"/>
              </a:solidFill>
              <a:latin typeface="Arial"/>
            </a:endParaRPr>
          </a:p>
        </p:txBody>
      </p:sp>
      <p:sp>
        <p:nvSpPr>
          <p:cNvPr id="8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The readback is how you check the claim.</a:t>
            </a:r>
            <a:endParaRPr b="0" lang="en-US" sz="2400" spc="-1" strike="noStrike">
              <a:solidFill>
                <a:srgbClr val="000000"/>
              </a:solidFill>
              <a:latin typeface="Arial"/>
            </a:endParaRPr>
          </a:p>
          <a:p>
            <a:r>
              <a:rPr b="0" lang="en-US" sz="2400" spc="-1" strike="noStrike">
                <a:solidFill>
                  <a:srgbClr val="111418"/>
                </a:solidFill>
                <a:latin typeface="Arial"/>
              </a:rPr>
              <a:t>In the module 3 reference, </a:t>
            </a:r>
            <a:r>
              <a:rPr b="1" lang="en-US" sz="2400" spc="-1" strike="noStrike">
                <a:solidFill>
                  <a:srgbClr val="111418"/>
                </a:solidFill>
                <a:latin typeface="Arial"/>
              </a:rPr>
              <a:t>Making work repeatable</a:t>
            </a:r>
            <a:r>
              <a:rPr b="0" lang="en-US" sz="2400" spc="-1" strike="noStrike">
                <a:solidFill>
                  <a:srgbClr val="111418"/>
                </a:solidFill>
                <a:latin typeface="Arial"/>
              </a:rPr>
              <a:t>, five instructions went in and two came back changed. Both changes removed the part that did the work.</a:t>
            </a:r>
            <a:endParaRPr b="0" lang="en-US" sz="2400" spc="-1" strike="noStrike">
              <a:solidFill>
                <a:srgbClr val="000000"/>
              </a:solidFill>
              <a:latin typeface="Arial"/>
            </a:endParaRPr>
          </a:p>
          <a:p>
            <a:r>
              <a:rPr b="1" lang="en-US" sz="2400" spc="-1" strike="noStrike">
                <a:solidFill>
                  <a:srgbClr val="111418"/>
                </a:solidFill>
                <a:latin typeface="Arial"/>
              </a:rPr>
              <a:t>A Project you are about to walk away from is a worse place to be wrong.</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3 · Leave it running</a:t>
            </a:r>
            <a:endParaRPr b="0" lang="en-US" sz="4000" spc="-1" strike="noStrike">
              <a:solidFill>
                <a:srgbClr val="000000"/>
              </a:solidFill>
              <a:latin typeface="Arial"/>
            </a:endParaRPr>
          </a:p>
        </p:txBody>
      </p:sp>
      <p:sp>
        <p:nvSpPr>
          <p:cNvPr id="9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3"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The largest act in the module. 5 of 12 points.</a:t>
            </a:r>
            <a:endParaRPr b="0" lang="en-US" sz="2700" spc="-1" strike="noStrike">
              <a:solidFill>
                <a:srgbClr val="000000"/>
              </a:solidFill>
              <a:latin typeface="Arial"/>
            </a:endParaRPr>
          </a:p>
        </p:txBody>
      </p:sp>
      <p:sp>
        <p:nvSpPr>
          <p:cNvPr id="94" name=""/>
          <p:cNvSpPr txBox="1"/>
          <p:nvPr/>
        </p:nvSpPr>
        <p:spPr>
          <a:xfrm>
            <a:off x="648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1 · Plan it</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Four issues on Milestone_02, before any work · 3 pts</a:t>
            </a:r>
            <a:endParaRPr b="0" lang="en-US" sz="1400" spc="-1" strike="noStrike">
              <a:solidFill>
                <a:srgbClr val="000000"/>
              </a:solidFill>
              <a:latin typeface="Arial"/>
            </a:endParaRPr>
          </a:p>
        </p:txBody>
      </p:sp>
      <p:sp>
        <p:nvSpPr>
          <p:cNvPr id="95" name=""/>
          <p:cNvSpPr txBox="1"/>
          <p:nvPr/>
        </p:nvSpPr>
        <p:spPr>
          <a:xfrm>
            <a:off x="2574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96" name=""/>
          <p:cNvSpPr txBox="1"/>
          <p:nvPr/>
        </p:nvSpPr>
        <p:spPr>
          <a:xfrm>
            <a:off x="2934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2 · Give it a home</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Your Project 1 work, then read back · 2 pts</a:t>
            </a:r>
            <a:endParaRPr b="0" lang="en-US" sz="1400" spc="-1" strike="noStrike">
              <a:solidFill>
                <a:srgbClr val="000000"/>
              </a:solidFill>
              <a:latin typeface="Arial"/>
            </a:endParaRPr>
          </a:p>
        </p:txBody>
      </p:sp>
      <p:sp>
        <p:nvSpPr>
          <p:cNvPr id="97" name=""/>
          <p:cNvSpPr txBox="1"/>
          <p:nvPr/>
        </p:nvSpPr>
        <p:spPr>
          <a:xfrm>
            <a:off x="4860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98" name=""/>
          <p:cNvSpPr txBox="1"/>
          <p:nvPr/>
        </p:nvSpPr>
        <p:spPr>
          <a:xfrm>
            <a:off x="5220000" y="3348000"/>
            <a:ext cx="1926000" cy="1656000"/>
          </a:xfrm>
          <a:prstGeom prst="rect">
            <a:avLst/>
          </a:prstGeom>
          <a:solidFill>
            <a:srgbClr val="0f3d57"/>
          </a:solidFill>
          <a:ln w="0">
            <a:solidFill>
              <a:srgbClr val="0f3d57"/>
            </a:solidFill>
          </a:ln>
        </p:spPr>
        <p:txBody>
          <a:bodyPr lIns="90000" rIns="90000" tIns="45000" bIns="45000" anchor="ctr">
            <a:noAutofit/>
          </a:bodyPr>
          <a:p>
            <a:pPr algn="ctr">
              <a:spcAft>
                <a:spcPts val="567"/>
              </a:spcAft>
            </a:pPr>
            <a:r>
              <a:rPr b="1" lang="en-US" sz="1800" spc="-1" strike="noStrike">
                <a:solidFill>
                  <a:srgbClr val="ffffff"/>
                </a:solidFill>
                <a:latin typeface="Arial"/>
              </a:rPr>
              <a:t>Act 3 · Leave it running</a:t>
            </a:r>
            <a:endParaRPr b="0" lang="en-US" sz="1800" spc="-1" strike="noStrike">
              <a:solidFill>
                <a:srgbClr val="ffffff"/>
              </a:solidFill>
              <a:latin typeface="Arial"/>
            </a:endParaRPr>
          </a:p>
          <a:p>
            <a:pPr algn="ctr">
              <a:spcAft>
                <a:spcPts val="283"/>
              </a:spcAft>
            </a:pPr>
            <a:r>
              <a:rPr b="0" lang="en-US" sz="1400" spc="-1" strike="noStrike">
                <a:solidFill>
                  <a:srgbClr val="ffffff"/>
                </a:solidFill>
                <a:latin typeface="Arial"/>
              </a:rPr>
              <a:t>Schedule it, choose a model, walk away · 5 pts</a:t>
            </a:r>
            <a:endParaRPr b="0" lang="en-US" sz="1400" spc="-1" strike="noStrike">
              <a:solidFill>
                <a:srgbClr val="ffffff"/>
              </a:solidFill>
              <a:latin typeface="Arial"/>
            </a:endParaRPr>
          </a:p>
        </p:txBody>
      </p:sp>
      <p:sp>
        <p:nvSpPr>
          <p:cNvPr id="99" name=""/>
          <p:cNvSpPr txBox="1"/>
          <p:nvPr/>
        </p:nvSpPr>
        <p:spPr>
          <a:xfrm>
            <a:off x="7146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00" name=""/>
          <p:cNvSpPr txBox="1"/>
          <p:nvPr/>
        </p:nvSpPr>
        <p:spPr>
          <a:xfrm>
            <a:off x="7506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4 · Hand it over</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How would anyone know it stopped? · 2 pts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Schedule it, and be somewhere else</a:t>
            </a:r>
            <a:endParaRPr b="0" lang="en-US" sz="3400" spc="-1" strike="noStrike">
              <a:solidFill>
                <a:srgbClr val="000000"/>
              </a:solidFill>
              <a:latin typeface="Arial"/>
            </a:endParaRPr>
          </a:p>
        </p:txBody>
      </p:sp>
      <p:sp>
        <p:nvSpPr>
          <p:cNvPr id="10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03" name=""/>
          <p:cNvSpPr txBox="1"/>
          <p:nvPr/>
        </p:nvSpPr>
        <p:spPr>
          <a:xfrm>
            <a:off x="648000" y="1530000"/>
            <a:ext cx="8784000" cy="416268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Sidebar, </a:t>
            </a:r>
            <a:r>
              <a:rPr b="1" lang="en-US" sz="2200" spc="-1" strike="noStrike">
                <a:solidFill>
                  <a:srgbClr val="111418"/>
                </a:solidFill>
                <a:latin typeface="Arial"/>
              </a:rPr>
              <a:t>Scheduled</a:t>
            </a:r>
            <a:r>
              <a:rPr b="0" lang="en-US" sz="2200" spc="-1" strike="noStrike">
                <a:solidFill>
                  <a:srgbClr val="111418"/>
                </a:solidFill>
                <a:latin typeface="Arial"/>
              </a:rPr>
              <a:t>: </a:t>
            </a:r>
            <a:r>
              <a:rPr b="1" lang="en-US" sz="2200" spc="-1" strike="noStrike">
                <a:solidFill>
                  <a:srgbClr val="111418"/>
                </a:solidFill>
                <a:latin typeface="Arial"/>
              </a:rPr>
              <a:t>Create scheduled task</a:t>
            </a:r>
            <a:r>
              <a:rPr b="0" lang="en-US" sz="2200" spc="-1" strike="noStrike">
                <a:solidFill>
                  <a:srgbClr val="111418"/>
                </a:solidFill>
                <a:latin typeface="Arial"/>
              </a:rPr>
              <a:t>. Name, instructions, your Project, a frequency.</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Frequency starts at </a:t>
            </a:r>
            <a:r>
              <a:rPr b="1" lang="en-US" sz="2200" spc="-1" strike="noStrike">
                <a:solidFill>
                  <a:srgbClr val="111418"/>
                </a:solidFill>
                <a:latin typeface="Arial"/>
              </a:rPr>
              <a:t>Manual</a:t>
            </a:r>
            <a:r>
              <a:rPr b="0" lang="en-US" sz="2200" spc="-1" strike="noStrike">
                <a:solidFill>
                  <a:srgbClr val="111418"/>
                </a:solidFill>
                <a:latin typeface="Arial"/>
              </a:rPr>
              <a:t>. Change it: Hourly or longer.</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The model menu starts at </a:t>
            </a:r>
            <a:r>
              <a:rPr b="1" lang="en-US" sz="2200" spc="-1" strike="noStrike">
                <a:solidFill>
                  <a:srgbClr val="111418"/>
                </a:solidFill>
                <a:latin typeface="Arial"/>
              </a:rPr>
              <a:t>Default model</a:t>
            </a:r>
            <a:r>
              <a:rPr b="0" lang="en-US" sz="2200" spc="-1" strike="noStrike">
                <a:solidFill>
                  <a:srgbClr val="111418"/>
                </a:solidFill>
                <a:latin typeface="Arial"/>
              </a:rPr>
              <a:t>. Pick a named one: on a test run, Default model ran a different model on the schedule than the same Project's chats did.</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One of those is a decision, not a form field: the model.</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Go and do something unrelated. Come back after it has run.</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Then pause it: </a:t>
            </a:r>
            <a:r>
              <a:rPr b="1" lang="en-US" sz="2200" spc="-1" strike="noStrike">
                <a:solidFill>
                  <a:srgbClr val="111418"/>
                </a:solidFill>
                <a:latin typeface="Arial"/>
              </a:rPr>
              <a:t>Scheduled</a:t>
            </a:r>
            <a:r>
              <a:rPr b="0" lang="en-US" sz="2200" spc="-1" strike="noStrike">
                <a:solidFill>
                  <a:srgbClr val="111418"/>
                </a:solidFill>
                <a:latin typeface="Arial"/>
              </a:rPr>
              <a:t>, your task, toggle to </a:t>
            </a:r>
            <a:r>
              <a:rPr b="1" lang="en-US" sz="2200" spc="-1" strike="noStrike">
                <a:solidFill>
                  <a:srgbClr val="111418"/>
                </a:solidFill>
                <a:latin typeface="Arial"/>
              </a:rPr>
              <a:t>Paused</a:t>
            </a:r>
            <a:r>
              <a:rPr b="0" lang="en-US" sz="2200" spc="-1" strike="noStrike">
                <a:solidFill>
                  <a:srgbClr val="111418"/>
                </a:solidFill>
                <a:latin typeface="Arial"/>
              </a:rPr>
              <a:t>.</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txBox="1"/>
          <p:nvPr/>
        </p:nvSpPr>
        <p:spPr>
          <a:xfrm>
            <a:off x="648000" y="378000"/>
            <a:ext cx="8784000" cy="792000"/>
          </a:xfrm>
          <a:prstGeom prst="rect">
            <a:avLst/>
          </a:prstGeom>
          <a:noFill/>
          <a:ln w="0">
            <a:noFill/>
          </a:ln>
        </p:spPr>
        <p:txBody>
          <a:bodyPr lIns="90000" rIns="90000" tIns="45000" bIns="45000" anchor="t">
            <a:noAutofit/>
          </a:bodyPr>
          <a:p>
            <a:r>
              <a:rPr b="1" lang="en-US" sz="2700" spc="-1" strike="noStrike">
                <a:solidFill>
                  <a:srgbClr val="0f3d57"/>
                </a:solidFill>
                <a:latin typeface="Arial"/>
              </a:rPr>
              <a:t>The decision being marked: which model?</a:t>
            </a:r>
            <a:endParaRPr b="0" lang="en-US" sz="2700" spc="-1" strike="noStrike">
              <a:solidFill>
                <a:srgbClr val="000000"/>
              </a:solidFill>
              <a:latin typeface="Arial"/>
            </a:endParaRPr>
          </a:p>
        </p:txBody>
      </p:sp>
      <p:sp>
        <p:nvSpPr>
          <p:cNvPr id="10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06" name=""/>
          <p:cNvSpPr txBox="1"/>
          <p:nvPr/>
        </p:nvSpPr>
        <p:spPr>
          <a:xfrm>
            <a:off x="648000" y="1530000"/>
            <a:ext cx="8784000" cy="3958920"/>
          </a:xfrm>
          <a:prstGeom prst="rect">
            <a:avLst/>
          </a:prstGeom>
          <a:noFill/>
          <a:ln w="0">
            <a:noFill/>
          </a:ln>
        </p:spPr>
        <p:txBody>
          <a:bodyPr lIns="90000" rIns="90000" tIns="45000" bIns="45000" anchor="t">
            <a:noAutofit/>
          </a:bodyPr>
          <a:p>
            <a:r>
              <a:rPr b="0" lang="en-US" sz="2400" spc="-1" strike="noStrike">
                <a:solidFill>
                  <a:srgbClr val="111418"/>
                </a:solidFill>
                <a:latin typeface="Arial"/>
              </a:rPr>
              <a:t>Nobody reads the result as it appears, and nobody notices if it is thin. So:</a:t>
            </a:r>
            <a:endParaRPr b="0" lang="en-US" sz="24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Run the same instructions on two models, while you are watching.</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Name a difference you can point at in the output, not an adjective.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Choose one model for the scheduled run, and say what you gave up by not picking the other, if anything.</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If the two look the same, say so. That is a result, not a failure.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Write this down </a:t>
            </a:r>
            <a:r>
              <a:rPr b="1" lang="en-US" sz="2200" spc="-1" strike="noStrike">
                <a:solidFill>
                  <a:srgbClr val="111418"/>
                </a:solidFill>
                <a:latin typeface="Arial"/>
              </a:rPr>
              <a:t>before</a:t>
            </a:r>
            <a:r>
              <a:rPr b="0" lang="en-US" sz="2200" spc="-1" strike="noStrike">
                <a:solidFill>
                  <a:srgbClr val="111418"/>
                </a:solidFill>
                <a:latin typeface="Arial"/>
              </a:rPr>
              <a:t> the scheduled run.</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Read this line twice</a:t>
            </a:r>
            <a:endParaRPr b="0" lang="en-US" sz="4000" spc="-1" strike="noStrike">
              <a:solidFill>
                <a:srgbClr val="000000"/>
              </a:solidFill>
              <a:latin typeface="Arial"/>
            </a:endParaRPr>
          </a:p>
        </p:txBody>
      </p:sp>
      <p:sp>
        <p:nvSpPr>
          <p:cNvPr id="10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09" name=""/>
          <p:cNvSpPr txBox="1"/>
          <p:nvPr/>
        </p:nvSpPr>
        <p:spPr>
          <a:xfrm>
            <a:off x="648000" y="1530000"/>
            <a:ext cx="8784000" cy="3847320"/>
          </a:xfrm>
          <a:prstGeom prst="rect">
            <a:avLst/>
          </a:prstGeom>
          <a:noFill/>
          <a:ln w="0">
            <a:noFill/>
          </a:ln>
        </p:spPr>
        <p:txBody>
          <a:bodyPr lIns="90000" rIns="90000" tIns="45000" bIns="45000" anchor="t">
            <a:noAutofit/>
          </a:bodyPr>
          <a:p>
            <a:r>
              <a:rPr b="0" lang="en-US" sz="2700" spc="-1" strike="noStrike">
                <a:solidFill>
                  <a:srgbClr val="111418"/>
                </a:solidFill>
                <a:latin typeface="Arial"/>
              </a:rPr>
              <a:t>On the task's own page: </a:t>
            </a:r>
            <a:r>
              <a:rPr b="1" lang="en-US" sz="2700" spc="-1" strike="noStrike">
                <a:solidFill>
                  <a:srgbClr val="111418"/>
                </a:solidFill>
                <a:latin typeface="Arial"/>
              </a:rPr>
              <a:t>Automatically approve.</a:t>
            </a:r>
            <a:r>
              <a:rPr b="0" lang="en-US" sz="2700" spc="-1" strike="noStrike">
                <a:solidFill>
                  <a:srgbClr val="111418"/>
                </a:solidFill>
                <a:latin typeface="Arial"/>
              </a:rPr>
              <a:t> "Claude runs on its own and pauses to ask if anything looks unsafe."</a:t>
            </a:r>
            <a:endParaRPr b="0" lang="en-US" sz="2700" spc="-1" strike="noStrike">
              <a:solidFill>
                <a:srgbClr val="000000"/>
              </a:solidFill>
              <a:latin typeface="Arial"/>
            </a:endParaRPr>
          </a:p>
          <a:p>
            <a:r>
              <a:rPr b="0" lang="en-US" sz="2700" spc="-1" strike="noStrike">
                <a:solidFill>
                  <a:srgbClr val="111418"/>
                </a:solidFill>
                <a:latin typeface="Arial"/>
              </a:rPr>
              <a:t>In the dialog where you create or edit it: "For this task, Claude will work and use connectors without pausing for approval."</a:t>
            </a:r>
            <a:endParaRPr b="0" lang="en-US" sz="2700" spc="-1" strike="noStrike">
              <a:solidFill>
                <a:srgbClr val="000000"/>
              </a:solidFill>
              <a:latin typeface="Arial"/>
            </a:endParaRPr>
          </a:p>
          <a:p>
            <a:r>
              <a:rPr b="1" lang="en-US" sz="2700" spc="-1" strike="noStrike">
                <a:solidFill>
                  <a:srgbClr val="111418"/>
                </a:solidFill>
                <a:latin typeface="Arial"/>
              </a:rPr>
              <a:t>Same setting. Two screens. Which one would you rely on?</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
          <p:cNvSpPr txBox="1"/>
          <p:nvPr/>
        </p:nvSpPr>
        <p:spPr>
          <a:xfrm>
            <a:off x="648000" y="378000"/>
            <a:ext cx="8784000" cy="792000"/>
          </a:xfrm>
          <a:prstGeom prst="rect">
            <a:avLst/>
          </a:prstGeom>
          <a:noFill/>
          <a:ln w="0">
            <a:noFill/>
          </a:ln>
        </p:spPr>
        <p:txBody>
          <a:bodyPr lIns="90000" rIns="90000" tIns="45000" bIns="45000" anchor="t">
            <a:noAutofit/>
          </a:bodyPr>
          <a:p>
            <a:r>
              <a:rPr b="1" lang="en-US" sz="2700" spc="-1" strike="noStrike">
                <a:solidFill>
                  <a:srgbClr val="0f3d57"/>
                </a:solidFill>
                <a:latin typeface="Arial"/>
              </a:rPr>
              <a:t>When you come back: read a run you did not watch</a:t>
            </a:r>
            <a:endParaRPr b="0" lang="en-US" sz="2700" spc="-1" strike="noStrike">
              <a:solidFill>
                <a:srgbClr val="000000"/>
              </a:solidFill>
              <a:latin typeface="Arial"/>
            </a:endParaRPr>
          </a:p>
        </p:txBody>
      </p:sp>
      <p:sp>
        <p:nvSpPr>
          <p:cNvPr id="111"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12"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Open the scheduled run's output. It was produced while you were somewhere else.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When was it scheduled, and when did it actually run?</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What came back?</a:t>
            </a:r>
            <a:endParaRPr b="0" lang="en-US" sz="2400" spc="-1" strike="noStrike">
              <a:solidFill>
                <a:srgbClr val="000000"/>
              </a:solidFill>
              <a:latin typeface="Arial"/>
            </a:endParaRPr>
          </a:p>
          <a:p>
            <a:r>
              <a:rPr b="0" lang="en-US" sz="2400" spc="-1" strike="noStrike">
                <a:solidFill>
                  <a:srgbClr val="111418"/>
                </a:solidFill>
                <a:latin typeface="Arial"/>
              </a:rPr>
              <a:t>• </a:t>
            </a:r>
            <a:r>
              <a:rPr b="1" lang="en-US" sz="2400" spc="-1" strike="noStrike">
                <a:solidFill>
                  <a:srgbClr val="111418"/>
                </a:solidFill>
                <a:latin typeface="Arial"/>
              </a:rPr>
              <a:t>What can you not tell from this output?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4 · Hand it over</a:t>
            </a:r>
            <a:endParaRPr b="0" lang="en-US" sz="4000" spc="-1" strike="noStrike">
              <a:solidFill>
                <a:srgbClr val="000000"/>
              </a:solidFill>
              <a:latin typeface="Arial"/>
            </a:endParaRPr>
          </a:p>
        </p:txBody>
      </p:sp>
      <p:sp>
        <p:nvSpPr>
          <p:cNvPr id="11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15"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A </a:t>
            </a:r>
            <a:r>
              <a:rPr b="1" lang="en-US" sz="2700" spc="-1" strike="noStrike">
                <a:solidFill>
                  <a:srgbClr val="111418"/>
                </a:solidFill>
                <a:latin typeface="Arial"/>
              </a:rPr>
              <a:t>handover</a:t>
            </a:r>
            <a:r>
              <a:rPr b="0" lang="en-US" sz="2700" spc="-1" strike="noStrike">
                <a:solidFill>
                  <a:srgbClr val="111418"/>
                </a:solidFill>
                <a:latin typeface="Arial"/>
              </a:rPr>
              <a:t> is a note that lets somebody take over a piece of work without having to ask you anything. Think of a shift change at a hospital.</a:t>
            </a:r>
            <a:endParaRPr b="0" lang="en-US" sz="2700" spc="-1" strike="noStrike">
              <a:solidFill>
                <a:srgbClr val="000000"/>
              </a:solidFill>
              <a:latin typeface="Arial"/>
            </a:endParaRPr>
          </a:p>
        </p:txBody>
      </p:sp>
      <p:sp>
        <p:nvSpPr>
          <p:cNvPr id="116" name=""/>
          <p:cNvSpPr txBox="1"/>
          <p:nvPr/>
        </p:nvSpPr>
        <p:spPr>
          <a:xfrm>
            <a:off x="648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1 · Plan it</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Four issues on Milestone_02, before any work · 3 pts</a:t>
            </a:r>
            <a:endParaRPr b="0" lang="en-US" sz="1400" spc="-1" strike="noStrike">
              <a:solidFill>
                <a:srgbClr val="000000"/>
              </a:solidFill>
              <a:latin typeface="Arial"/>
            </a:endParaRPr>
          </a:p>
        </p:txBody>
      </p:sp>
      <p:sp>
        <p:nvSpPr>
          <p:cNvPr id="117" name=""/>
          <p:cNvSpPr txBox="1"/>
          <p:nvPr/>
        </p:nvSpPr>
        <p:spPr>
          <a:xfrm>
            <a:off x="2574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18" name=""/>
          <p:cNvSpPr txBox="1"/>
          <p:nvPr/>
        </p:nvSpPr>
        <p:spPr>
          <a:xfrm>
            <a:off x="2934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2 · Give it a home</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Your Project 1 work, then read back · 2 pts</a:t>
            </a:r>
            <a:endParaRPr b="0" lang="en-US" sz="1400" spc="-1" strike="noStrike">
              <a:solidFill>
                <a:srgbClr val="000000"/>
              </a:solidFill>
              <a:latin typeface="Arial"/>
            </a:endParaRPr>
          </a:p>
        </p:txBody>
      </p:sp>
      <p:sp>
        <p:nvSpPr>
          <p:cNvPr id="119" name=""/>
          <p:cNvSpPr txBox="1"/>
          <p:nvPr/>
        </p:nvSpPr>
        <p:spPr>
          <a:xfrm>
            <a:off x="4860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20" name=""/>
          <p:cNvSpPr txBox="1"/>
          <p:nvPr/>
        </p:nvSpPr>
        <p:spPr>
          <a:xfrm>
            <a:off x="5220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3 · Leave it running</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Schedule it, choose a model, walk away · 5 pts</a:t>
            </a:r>
            <a:endParaRPr b="0" lang="en-US" sz="1400" spc="-1" strike="noStrike">
              <a:solidFill>
                <a:srgbClr val="000000"/>
              </a:solidFill>
              <a:latin typeface="Arial"/>
            </a:endParaRPr>
          </a:p>
        </p:txBody>
      </p:sp>
      <p:sp>
        <p:nvSpPr>
          <p:cNvPr id="121" name=""/>
          <p:cNvSpPr txBox="1"/>
          <p:nvPr/>
        </p:nvSpPr>
        <p:spPr>
          <a:xfrm>
            <a:off x="7146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22" name=""/>
          <p:cNvSpPr txBox="1"/>
          <p:nvPr/>
        </p:nvSpPr>
        <p:spPr>
          <a:xfrm>
            <a:off x="7506000" y="3348000"/>
            <a:ext cx="1926000" cy="1656000"/>
          </a:xfrm>
          <a:prstGeom prst="rect">
            <a:avLst/>
          </a:prstGeom>
          <a:solidFill>
            <a:srgbClr val="0f3d57"/>
          </a:solidFill>
          <a:ln w="0">
            <a:solidFill>
              <a:srgbClr val="0f3d57"/>
            </a:solidFill>
          </a:ln>
        </p:spPr>
        <p:txBody>
          <a:bodyPr lIns="90000" rIns="90000" tIns="45000" bIns="45000" anchor="ctr">
            <a:noAutofit/>
          </a:bodyPr>
          <a:p>
            <a:pPr algn="ctr">
              <a:spcAft>
                <a:spcPts val="567"/>
              </a:spcAft>
            </a:pPr>
            <a:r>
              <a:rPr b="1" lang="en-US" sz="1800" spc="-1" strike="noStrike">
                <a:solidFill>
                  <a:srgbClr val="ffffff"/>
                </a:solidFill>
                <a:latin typeface="Arial"/>
              </a:rPr>
              <a:t>Act 4 · Hand it over</a:t>
            </a:r>
            <a:endParaRPr b="0" lang="en-US" sz="1800" spc="-1" strike="noStrike">
              <a:solidFill>
                <a:srgbClr val="ffffff"/>
              </a:solidFill>
              <a:latin typeface="Arial"/>
            </a:endParaRPr>
          </a:p>
          <a:p>
            <a:pPr algn="ctr">
              <a:spcAft>
                <a:spcPts val="283"/>
              </a:spcAft>
            </a:pPr>
            <a:r>
              <a:rPr b="0" lang="en-US" sz="1400" spc="-1" strike="noStrike">
                <a:solidFill>
                  <a:srgbClr val="ffffff"/>
                </a:solidFill>
                <a:latin typeface="Arial"/>
              </a:rPr>
              <a:t>How would anyone know it stopped? · 2 pts</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The handover you write to yourself</a:t>
            </a:r>
            <a:endParaRPr b="0" lang="en-US" sz="3400" spc="-1" strike="noStrike">
              <a:solidFill>
                <a:srgbClr val="000000"/>
              </a:solidFill>
              <a:latin typeface="Arial"/>
            </a:endParaRPr>
          </a:p>
        </p:txBody>
      </p:sp>
      <p:sp>
        <p:nvSpPr>
          <p:cNvPr id="12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5"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1. What this runs, on what schedule, and what it is for.</a:t>
            </a:r>
            <a:endParaRPr b="0" lang="en-US" sz="2400" spc="-1" strike="noStrike">
              <a:solidFill>
                <a:srgbClr val="000000"/>
              </a:solidFill>
              <a:latin typeface="Arial"/>
            </a:endParaRPr>
          </a:p>
          <a:p>
            <a:r>
              <a:rPr b="0" lang="en-US" sz="2400" spc="-1" strike="noStrike">
                <a:solidFill>
                  <a:srgbClr val="111418"/>
                </a:solidFill>
                <a:latin typeface="Arial"/>
              </a:rPr>
              <a:t>2. What it relies on being true.</a:t>
            </a:r>
            <a:endParaRPr b="0" lang="en-US" sz="2400" spc="-1" strike="noStrike">
              <a:solidFill>
                <a:srgbClr val="000000"/>
              </a:solidFill>
              <a:latin typeface="Arial"/>
            </a:endParaRPr>
          </a:p>
          <a:p>
            <a:r>
              <a:rPr b="0" lang="en-US" sz="2400" spc="-1" strike="noStrike">
                <a:solidFill>
                  <a:srgbClr val="111418"/>
                </a:solidFill>
                <a:latin typeface="Arial"/>
              </a:rPr>
              <a:t>3. </a:t>
            </a:r>
            <a:r>
              <a:rPr b="1" lang="en-US" sz="2400" spc="-1" strike="noStrike">
                <a:solidFill>
                  <a:srgbClr val="111418"/>
                </a:solidFill>
                <a:latin typeface="Arial"/>
              </a:rPr>
              <a:t>How somebody would know it had stopped working.</a:t>
            </a:r>
            <a:endParaRPr b="0" lang="en-US" sz="2400" spc="-1" strike="noStrike">
              <a:solidFill>
                <a:srgbClr val="000000"/>
              </a:solidFill>
              <a:latin typeface="Arial"/>
            </a:endParaRPr>
          </a:p>
          <a:p>
            <a:r>
              <a:rPr b="0" lang="en-US" sz="2400" spc="-1" strike="noStrike">
                <a:solidFill>
                  <a:srgbClr val="111418"/>
                </a:solidFill>
                <a:latin typeface="Arial"/>
              </a:rPr>
              <a:t>4. What you would change first.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Due Thursday 1 October, 9:00 pm</a:t>
            </a:r>
            <a:endParaRPr b="0" lang="en-US" sz="4000" spc="-1" strike="noStrike">
              <a:solidFill>
                <a:srgbClr val="000000"/>
              </a:solidFill>
              <a:latin typeface="Arial"/>
            </a:endParaRPr>
          </a:p>
        </p:txBody>
      </p:sp>
      <p:sp>
        <p:nvSpPr>
          <p:cNvPr id="127"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8"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The lab, 12 points: four issues, </a:t>
            </a:r>
            <a:r>
              <a:rPr b="0" lang="en-US" sz="2400" spc="-1" strike="noStrike">
                <a:solidFill>
                  <a:srgbClr val="111418"/>
                </a:solidFill>
                <a:latin typeface="Courier New"/>
              </a:rPr>
              <a:t>account.md</a:t>
            </a:r>
            <a:r>
              <a:rPr b="0" lang="en-US" sz="2400" spc="-1" strike="noStrike">
                <a:solidFill>
                  <a:srgbClr val="111418"/>
                </a:solidFill>
                <a:latin typeface="Arial"/>
              </a:rPr>
              <a:t>, </a:t>
            </a:r>
            <a:r>
              <a:rPr b="0" lang="en-US" sz="2400" spc="-1" strike="noStrike">
                <a:solidFill>
                  <a:srgbClr val="111418"/>
                </a:solidFill>
                <a:latin typeface="Courier New"/>
              </a:rPr>
              <a:t>project.md</a:t>
            </a:r>
            <a:r>
              <a:rPr b="0" lang="en-US" sz="2400" spc="-1" strike="noStrike">
                <a:solidFill>
                  <a:srgbClr val="111418"/>
                </a:solidFill>
                <a:latin typeface="Arial"/>
              </a:rPr>
              <a:t>, </a:t>
            </a:r>
            <a:r>
              <a:rPr b="0" lang="en-US" sz="2400" spc="-1" strike="noStrike">
                <a:solidFill>
                  <a:srgbClr val="111418"/>
                </a:solidFill>
                <a:latin typeface="Courier New"/>
              </a:rPr>
              <a:t>schedule.md</a:t>
            </a:r>
            <a:r>
              <a:rPr b="0" lang="en-US" sz="2400" spc="-1" strike="noStrike">
                <a:solidFill>
                  <a:srgbClr val="111418"/>
                </a:solidFill>
                <a:latin typeface="Arial"/>
              </a:rPr>
              <a:t>, </a:t>
            </a:r>
            <a:r>
              <a:rPr b="0" lang="en-US" sz="2400" spc="-1" strike="noStrike">
                <a:solidFill>
                  <a:srgbClr val="111418"/>
                </a:solidFill>
                <a:latin typeface="Courier New"/>
              </a:rPr>
              <a:t>handover.md</a:t>
            </a:r>
            <a:r>
              <a:rPr b="0" lang="en-US" sz="2400" spc="-1" strike="noStrike">
                <a:solidFill>
                  <a:srgbClr val="111418"/>
                </a:solidFill>
                <a:latin typeface="Arial"/>
              </a:rPr>
              <a: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journal, 6 points, six headings.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One pull request carries it all in. It only bundles the files: nobody reviews it, approves it, or merges it. Open it, say what is in it, and you are done.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Module 4, recapped</a:t>
            </a:r>
            <a:endParaRPr b="0" lang="en-US" sz="4000" spc="-1" strike="noStrike">
              <a:solidFill>
                <a:srgbClr val="000000"/>
              </a:solidFill>
              <a:latin typeface="Arial"/>
            </a:endParaRPr>
          </a:p>
        </p:txBody>
      </p:sp>
      <p:sp>
        <p:nvSpPr>
          <p:cNvPr id="130"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31"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What each act left in your repository.</a:t>
            </a:r>
            <a:endParaRPr b="0" lang="en-US" sz="2700" spc="-1" strike="noStrike">
              <a:solidFill>
                <a:srgbClr val="000000"/>
              </a:solidFill>
              <a:latin typeface="Arial"/>
            </a:endParaRPr>
          </a:p>
        </p:txBody>
      </p:sp>
      <p:sp>
        <p:nvSpPr>
          <p:cNvPr id="132" name=""/>
          <p:cNvSpPr txBox="1"/>
          <p:nvPr/>
        </p:nvSpPr>
        <p:spPr>
          <a:xfrm>
            <a:off x="648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1 · Plan it</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four issues in GitHub, account.md</a:t>
            </a:r>
            <a:endParaRPr b="0" lang="en-US" sz="1400" spc="-1" strike="noStrike">
              <a:solidFill>
                <a:srgbClr val="000000"/>
              </a:solidFill>
              <a:latin typeface="Arial"/>
            </a:endParaRPr>
          </a:p>
        </p:txBody>
      </p:sp>
      <p:sp>
        <p:nvSpPr>
          <p:cNvPr id="133" name=""/>
          <p:cNvSpPr txBox="1"/>
          <p:nvPr/>
        </p:nvSpPr>
        <p:spPr>
          <a:xfrm>
            <a:off x="2574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34" name=""/>
          <p:cNvSpPr txBox="1"/>
          <p:nvPr/>
        </p:nvSpPr>
        <p:spPr>
          <a:xfrm>
            <a:off x="2934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2 · Give it a home</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project.md</a:t>
            </a:r>
            <a:endParaRPr b="0" lang="en-US" sz="1400" spc="-1" strike="noStrike">
              <a:solidFill>
                <a:srgbClr val="000000"/>
              </a:solidFill>
              <a:latin typeface="Arial"/>
            </a:endParaRPr>
          </a:p>
        </p:txBody>
      </p:sp>
      <p:sp>
        <p:nvSpPr>
          <p:cNvPr id="135" name=""/>
          <p:cNvSpPr txBox="1"/>
          <p:nvPr/>
        </p:nvSpPr>
        <p:spPr>
          <a:xfrm>
            <a:off x="4860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36" name=""/>
          <p:cNvSpPr txBox="1"/>
          <p:nvPr/>
        </p:nvSpPr>
        <p:spPr>
          <a:xfrm>
            <a:off x="5220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3 · Leave it running</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schedule.md</a:t>
            </a:r>
            <a:endParaRPr b="0" lang="en-US" sz="1400" spc="-1" strike="noStrike">
              <a:solidFill>
                <a:srgbClr val="000000"/>
              </a:solidFill>
              <a:latin typeface="Arial"/>
            </a:endParaRPr>
          </a:p>
        </p:txBody>
      </p:sp>
      <p:sp>
        <p:nvSpPr>
          <p:cNvPr id="137" name=""/>
          <p:cNvSpPr txBox="1"/>
          <p:nvPr/>
        </p:nvSpPr>
        <p:spPr>
          <a:xfrm>
            <a:off x="7146000" y="3924000"/>
            <a:ext cx="360000" cy="504000"/>
          </a:xfrm>
          <a:prstGeom prst="rect">
            <a:avLst/>
          </a:prstGeom>
          <a:noFill/>
          <a:ln w="0">
            <a:noFill/>
          </a:ln>
        </p:spPr>
        <p:txBody>
          <a:bodyPr lIns="90000" rIns="90000" tIns="45000" bIns="45000" anchor="t">
            <a:noAutofit/>
          </a:bodyPr>
          <a:p>
            <a:pPr algn="ctr">
              <a:spcAft>
                <a:spcPts val="850"/>
              </a:spcAft>
            </a:pPr>
            <a:r>
              <a:rPr b="1" lang="en-US" sz="2800" spc="-1" strike="noStrike">
                <a:solidFill>
                  <a:srgbClr val="0f3d57"/>
                </a:solidFill>
                <a:latin typeface="Arial"/>
              </a:rPr>
              <a:t>→</a:t>
            </a:r>
            <a:endParaRPr b="0" lang="en-US" sz="2800" spc="-1" strike="noStrike">
              <a:solidFill>
                <a:srgbClr val="000000"/>
              </a:solidFill>
              <a:latin typeface="Arial"/>
            </a:endParaRPr>
          </a:p>
        </p:txBody>
      </p:sp>
      <p:sp>
        <p:nvSpPr>
          <p:cNvPr id="138" name=""/>
          <p:cNvSpPr txBox="1"/>
          <p:nvPr/>
        </p:nvSpPr>
        <p:spPr>
          <a:xfrm>
            <a:off x="7506000" y="3348000"/>
            <a:ext cx="1926000" cy="1656000"/>
          </a:xfrm>
          <a:prstGeom prst="rect">
            <a:avLst/>
          </a:prstGeom>
          <a:solidFill>
            <a:srgbClr val="d3e6df"/>
          </a:solidFill>
          <a:ln w="0">
            <a:solidFill>
              <a:srgbClr val="0f3d57"/>
            </a:solidFill>
          </a:ln>
        </p:spPr>
        <p:txBody>
          <a:bodyPr lIns="90000" rIns="90000" tIns="45000" bIns="45000" anchor="ctr">
            <a:noAutofit/>
          </a:bodyPr>
          <a:p>
            <a:pPr algn="ctr">
              <a:spcAft>
                <a:spcPts val="567"/>
              </a:spcAft>
            </a:pPr>
            <a:r>
              <a:rPr b="1" lang="en-US" sz="1800" spc="-1" strike="noStrike">
                <a:solidFill>
                  <a:srgbClr val="0f3d57"/>
                </a:solidFill>
                <a:latin typeface="Arial"/>
              </a:rPr>
              <a:t>Act 4 · Hand it over</a:t>
            </a:r>
            <a:endParaRPr b="0" lang="en-US" sz="1800" spc="-1" strike="noStrike">
              <a:solidFill>
                <a:srgbClr val="000000"/>
              </a:solidFill>
              <a:latin typeface="Arial"/>
            </a:endParaRPr>
          </a:p>
          <a:p>
            <a:pPr algn="ctr">
              <a:spcAft>
                <a:spcPts val="283"/>
              </a:spcAft>
            </a:pPr>
            <a:r>
              <a:rPr b="0" lang="en-US" sz="1400" spc="-1" strike="noStrike">
                <a:solidFill>
                  <a:srgbClr val="111418"/>
                </a:solidFill>
                <a:latin typeface="Arial"/>
              </a:rPr>
              <a:t>handover.md</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