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1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1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5" name="PlaceHolder 4"/>
          <p:cNvSpPr>
            <a:spLocks noGrp="1"/>
          </p:cNvSpPr>
          <p:nvPr>
            <p:ph type="dt" idx="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 name="PlaceHolder 5"/>
          <p:cNvSpPr>
            <a:spLocks noGrp="1"/>
          </p:cNvSpPr>
          <p:nvPr>
            <p:ph type="ftr" idx="8"/>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7" name="PlaceHolder 6"/>
          <p:cNvSpPr>
            <a:spLocks noGrp="1"/>
          </p:cNvSpPr>
          <p:nvPr>
            <p:ph type="sldNum" idx="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536652C-62F6-42E7-BEB0-51F26A50BB3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Say the tier name once. Groundwork, Application, Synthesis is the shape of every unit and this is the last one: 50% of the milestone against Application's 30%. Low, Medium and High are internal words and must not be said in the room.</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Class runs 10:00 to 12:45, 165 minutes. The arc is in M03_session-walkthrough.md.</a:t>
            </a: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Ungraded, spoken, hands up, thirty seconds. Question 2 is the one that changes how you spend the next hour: you already have the count from the connection-check column, so use this to confirm it rather than discover it. Question 3 is the useful one and 'it did not land' is the answer you want.</a:t>
            </a: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This is the whole recap and there is no second recap slide. Do not re-teach module 2. If something did not land, fix it one to one during the lab blocks, not from the front. The framing does the work here; let the table sit for a moment rather than reading it out.</a:t>
            </a: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Highest-value minute of the framing. Say it and stop. The temptation is to elaborate, and elaborating turns a sharp line into a lecture.</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This is also the honest answer to 'why is this module worth half the milestone'.</a:t>
            </a: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Name them as one picture rather than five recaps. The point of the table is that they arrive together in Project 1, which they see at the end of the session.</a:t>
            </a: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Definition gets its own bullet now, not a sub-bullet hanging off the sentence above it. The first version read 'that place', which only makes sense if you are still holding the previous line in your head.</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Draw two boxes and an arrow on the whiteboard while saying this, and point at the arrow, not the boxes. The diagram is worth more than the slide, because the whole idea is that the thing that breaks is the part nobody drew.</a:t>
            </a: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Say out loud that this is the third arrival at the same lesson. The repetition is the curriculum, not a shortage of material, and naming it as deliberate is what stops it reading as repetition.</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General write-up: 00_resources/lessons-learned.md, entry 1, 'Silent success'.</a:t>
            </a: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Same standard as module 1 and worth repeating in those words. If the connection-check count was low, this is the slide to slow down on. If it was high, move.</a:t>
            </a: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They were told in module 2 that they would do it the other way round and find out why. This is the payoff, so name it as one. The five issues force them to decide what each act produces before doing any of it, which is the actual discomfort of planning.</a:t>
            </a: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Do not say which half. That is the exercise and it collapses the moment it is given away.</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Two design constraints on the packet, for your own reference: it cannot be answerable from one artifact, and the honest answer is partly 'not determinable'. Both are load-bearing.</a:t>
            </a: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Worked example on a backup report, deliberately unrelated to the lab packet. The point lands harder as a table than as a sentence.</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This is why the lab makes them write the word 'Nothing' under the heading rather than leaving it blank. An absent section reads as reassurance.</a:t>
            </a: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The single most valuable distinction in the module and the one they got a first rep at in module 2. Example is a backup report, not the lab's packet.</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The reason it is hard: output arrives at one confidence level whichever kind it is. Nothing in the writing distinguishes them.</a:t>
            </a: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Twenty seconds. The reread of module 2's handoff note is what closes the loop, and they have already done that once, so it does not need re-explaining.</a:t>
            </a: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This slide comes after both act blocks and that ordering is deliberate. A student who sees the brief before doing the acts reads it as three separate assignments; after, it reads as one thing they have already done small versions of.</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Two dates on this slide and the room will conflate them. The lab is due Thursday 17th, the project Thursday 24th, and the Friday between them has no class. Say it twice.</a:t>
            </a: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Walk the table. This is what makes the project land as synthesis rather than as a new assignment, and it is worth the sixty seconds.</a:t>
            </a: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First project of the course, so this distinction has never been drawn. It is not a slide of definitions: the practical consequence is the last row, and it is why Part 1's tracking is worth 25% of a project that is otherwise about analysis.</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Say the consequence plainly: nobody is going to tell you you are behind.</a:t>
            </a: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These are the capabilities moved out of module 2 on 4 September. They arrive as something the project demands rather than an act the room performs, which is the better motivation.</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The fourth bullet answers the question they will ask: module 3 lands in module_03/, and the project lands in project-01/. The brief has the full directory tree.</a:t>
            </a:r>
            <a:endParaRPr b="0" lang="en-US" sz="1200" spc="-1" strike="noStrike">
              <a:solidFill>
                <a:srgbClr val="000000"/>
              </a:solidFill>
              <a:latin typeface="Arial"/>
            </a:endParaRPr>
          </a:p>
          <a:p>
            <a:pPr>
              <a:lnSpc>
                <a:spcPct val="100000"/>
              </a:lnSpc>
            </a:pPr>
            <a:r>
              <a:rPr b="0" lang="en-US" sz="1200" spc="-1" strike="noStrike">
                <a:solidFill>
                  <a:srgbClr val="252c36"/>
                </a:solidFill>
                <a:latin typeface="Arial"/>
              </a:rPr>
              <a:t>The reference is M03_lab_repeatable-work.md, in course/module_03/. Point at it by name.</a:t>
            </a: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
          <p:cNvSpPr/>
          <p:nvPr/>
        </p:nvSpPr>
        <p:spPr>
          <a:xfrm>
            <a:off x="720000" y="1440000"/>
            <a:ext cx="5399640" cy="431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200" spc="-1" strike="noStrike">
                <a:solidFill>
                  <a:srgbClr val="252c36"/>
                </a:solidFill>
                <a:latin typeface="Arial"/>
              </a:rPr>
              <a:t>The survey framing matters: this is the first one that has actually run, so it is the baseline. Say that, or it reads as busywork. Module 1's and module 2's were both dropped.</a:t>
            </a: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FF2DB435-5737-4E91-A4C8-91A368CCA2C5}"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10" name="PlaceHolder 1"/>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 name="PlaceHolder 2"/>
          <p:cNvSpPr>
            <a:spLocks noGrp="1"/>
          </p:cNvSpPr>
          <p:nvPr>
            <p:ph type="subTitle"/>
          </p:nvPr>
        </p:nvSpPr>
        <p:spPr>
          <a:xfrm>
            <a:off x="504000" y="1326600"/>
            <a:ext cx="9072000" cy="32886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9CA01E80-738C-468B-8B99-BC8FA48B0507}" type="slidenum">
              <a:t>&lt;#&gt;</a:t>
            </a:fld>
          </a:p>
        </p:txBody>
      </p:sp>
      <p:sp>
        <p:nvSpPr>
          <p:cNvPr id="6" name="PlaceHolder 5"/>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ftr" idx="1"/>
          </p:nvPr>
        </p:nvSpPr>
        <p:spPr>
          <a:xfrm>
            <a:off x="3447360" y="5165280"/>
            <a:ext cx="3194640" cy="3902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 name="PlaceHolder 2"/>
          <p:cNvSpPr>
            <a:spLocks noGrp="1"/>
          </p:cNvSpPr>
          <p:nvPr>
            <p:ph type="sldNum" idx="2"/>
          </p:nvPr>
        </p:nvSpPr>
        <p:spPr>
          <a:xfrm>
            <a:off x="7227360" y="5165280"/>
            <a:ext cx="2347920" cy="390240"/>
          </a:xfrm>
          <a:prstGeom prst="rect">
            <a:avLst/>
          </a:prstGeom>
          <a:noFill/>
          <a:ln w="0">
            <a:noFill/>
          </a:ln>
        </p:spPr>
        <p:txBody>
          <a:bodyPr lIns="0" rIns="0" tIns="0" bIns="0" anchor="t">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EB00607B-2402-4902-908C-4772B91F209C}"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2" name="PlaceHolder 3"/>
          <p:cNvSpPr>
            <a:spLocks noGrp="1"/>
          </p:cNvSpPr>
          <p:nvPr>
            <p:ph type="dt" idx="3"/>
          </p:nvPr>
        </p:nvSpPr>
        <p:spPr>
          <a:xfrm>
            <a:off x="504000" y="5165280"/>
            <a:ext cx="2347920" cy="3902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a:t>
            </a:r>
            <a:r>
              <a:rPr b="0" lang="en-US" sz="4400" spc="-1" strike="noStrike">
                <a:solidFill>
                  <a:srgbClr val="000000"/>
                </a:solidFill>
                <a:latin typeface="Arial"/>
              </a:rPr>
              <a:t>title text format</a:t>
            </a:r>
            <a:endParaRPr b="0" lang="en-US" sz="4400" spc="-1" strike="noStrike">
              <a:solidFill>
                <a:srgbClr val="000000"/>
              </a:solidFill>
              <a:latin typeface="Arial"/>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28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6" name="PlaceHolder 2"/>
          <p:cNvSpPr>
            <a:spLocks noGrp="1"/>
          </p:cNvSpPr>
          <p:nvPr>
            <p:ph type="ftr" idx="4"/>
          </p:nvPr>
        </p:nvSpPr>
        <p:spPr>
          <a:xfrm>
            <a:off x="3447360" y="5165280"/>
            <a:ext cx="3194640" cy="390240"/>
          </a:xfrm>
          <a:prstGeom prst="rect">
            <a:avLst/>
          </a:prstGeom>
          <a:noFill/>
          <a:ln w="0">
            <a:noFill/>
          </a:ln>
        </p:spPr>
        <p:txBody>
          <a:bodyPr lIns="0" rIns="0" tIns="0" bIns="0" anchor="t">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3"/>
          <p:cNvSpPr>
            <a:spLocks noGrp="1"/>
          </p:cNvSpPr>
          <p:nvPr>
            <p:ph type="sldNum" idx="5"/>
          </p:nvPr>
        </p:nvSpPr>
        <p:spPr>
          <a:xfrm>
            <a:off x="7227360" y="5165280"/>
            <a:ext cx="2347920" cy="390240"/>
          </a:xfrm>
          <a:prstGeom prst="rect">
            <a:avLst/>
          </a:prstGeom>
          <a:noFill/>
          <a:ln w="0">
            <a:noFill/>
          </a:ln>
        </p:spPr>
        <p:txBody>
          <a:bodyPr lIns="0" rIns="0" tIns="0" bIns="0" anchor="t">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5BCBE7E7-0F3C-4BD1-86CE-2BDCA1D61C07}"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
        <p:nvSpPr>
          <p:cNvPr id="8" name="PlaceHolder 4"/>
          <p:cNvSpPr>
            <a:spLocks noGrp="1"/>
          </p:cNvSpPr>
          <p:nvPr>
            <p:ph type="dt" idx="6"/>
          </p:nvPr>
        </p:nvSpPr>
        <p:spPr>
          <a:xfrm>
            <a:off x="504000" y="5165280"/>
            <a:ext cx="2347920" cy="39024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p:nvPr/>
        </p:nvSpPr>
        <p:spPr>
          <a:xfrm>
            <a:off x="720000" y="1764000"/>
            <a:ext cx="8639640" cy="935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5000" spc="-1" strike="noStrike">
                <a:solidFill>
                  <a:srgbClr val="0f3d57"/>
                </a:solidFill>
                <a:latin typeface="Arial"/>
              </a:rPr>
              <a:t>Module 3 · Synthesis</a:t>
            </a:r>
            <a:endParaRPr b="0" lang="en-US" sz="5000" spc="-1" strike="noStrike">
              <a:solidFill>
                <a:srgbClr val="000000"/>
              </a:solidFill>
              <a:latin typeface="Arial"/>
            </a:endParaRPr>
          </a:p>
        </p:txBody>
      </p:sp>
      <p:sp>
        <p:nvSpPr>
          <p:cNvPr id="19" name=""/>
          <p:cNvSpPr/>
          <p:nvPr/>
        </p:nvSpPr>
        <p:spPr>
          <a:xfrm>
            <a:off x="720000" y="2844000"/>
            <a:ext cx="8639640" cy="10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700" spc="-1" strike="noStrike">
                <a:solidFill>
                  <a:srgbClr val="111418"/>
                </a:solidFill>
                <a:latin typeface="Arial"/>
              </a:rPr>
              <a:t>The crossing point.</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Readiness check</a:t>
            </a:r>
            <a:endParaRPr b="0" lang="en-US" sz="4000" spc="-1" strike="noStrike">
              <a:solidFill>
                <a:srgbClr val="000000"/>
              </a:solidFill>
              <a:latin typeface="Arial"/>
            </a:endParaRPr>
          </a:p>
        </p:txBody>
      </p:sp>
      <p:sp>
        <p:nvSpPr>
          <p:cNvPr id="21"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22"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Which of the three terms did you already know?</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Did the Drive connection work, refuse, or not get tried?</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Anything you read and still could not picture?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Three modules, one question each</a:t>
            </a:r>
            <a:endParaRPr b="0" lang="en-US" sz="3400" spc="-1" strike="noStrike">
              <a:solidFill>
                <a:srgbClr val="000000"/>
              </a:solidFill>
              <a:latin typeface="Arial"/>
            </a:endParaRPr>
          </a:p>
        </p:txBody>
      </p:sp>
      <p:sp>
        <p:nvSpPr>
          <p:cNvPr id="24"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25" name=""/>
          <p:cNvSpPr/>
          <p:nvPr/>
        </p:nvSpPr>
        <p:spPr>
          <a:xfrm>
            <a:off x="576000" y="1530000"/>
            <a:ext cx="8927640" cy="323640"/>
          </a:xfrm>
          <a:prstGeom prst="rect">
            <a:avLst/>
          </a:prstGeom>
          <a:solidFill>
            <a:srgbClr val="0f3d5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26" name=""/>
          <p:cNvSpPr/>
          <p:nvPr/>
        </p:nvSpPr>
        <p:spPr>
          <a:xfrm>
            <a:off x="648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Module</a:t>
            </a:r>
            <a:endParaRPr b="0" lang="en-US" sz="1600" spc="-1" strike="noStrike">
              <a:solidFill>
                <a:srgbClr val="000000"/>
              </a:solidFill>
              <a:latin typeface="Arial"/>
            </a:endParaRPr>
          </a:p>
        </p:txBody>
      </p:sp>
      <p:sp>
        <p:nvSpPr>
          <p:cNvPr id="27" name=""/>
          <p:cNvSpPr/>
          <p:nvPr/>
        </p:nvSpPr>
        <p:spPr>
          <a:xfrm>
            <a:off x="5130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The question it asked</a:t>
            </a:r>
            <a:endParaRPr b="0" lang="en-US" sz="1600" spc="-1" strike="noStrike">
              <a:solidFill>
                <a:srgbClr val="000000"/>
              </a:solidFill>
              <a:latin typeface="Arial"/>
            </a:endParaRPr>
          </a:p>
        </p:txBody>
      </p:sp>
      <p:sp>
        <p:nvSpPr>
          <p:cNvPr id="28" name=""/>
          <p:cNvSpPr/>
          <p:nvPr/>
        </p:nvSpPr>
        <p:spPr>
          <a:xfrm>
            <a:off x="648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1</a:t>
            </a:r>
            <a:endParaRPr b="0" lang="en-US" sz="1600" spc="-1" strike="noStrike">
              <a:solidFill>
                <a:srgbClr val="000000"/>
              </a:solidFill>
              <a:latin typeface="Arial"/>
            </a:endParaRPr>
          </a:p>
        </p:txBody>
      </p:sp>
      <p:sp>
        <p:nvSpPr>
          <p:cNvPr id="29" name=""/>
          <p:cNvSpPr/>
          <p:nvPr/>
        </p:nvSpPr>
        <p:spPr>
          <a:xfrm>
            <a:off x="5130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Does the connection work?</a:t>
            </a:r>
            <a:endParaRPr b="0" lang="en-US" sz="1600" spc="-1" strike="noStrike">
              <a:solidFill>
                <a:srgbClr val="000000"/>
              </a:solidFill>
              <a:latin typeface="Arial"/>
            </a:endParaRPr>
          </a:p>
        </p:txBody>
      </p:sp>
      <p:sp>
        <p:nvSpPr>
          <p:cNvPr id="30" name=""/>
          <p:cNvSpPr/>
          <p:nvPr/>
        </p:nvSpPr>
        <p:spPr>
          <a:xfrm>
            <a:off x="576000" y="21996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1" name=""/>
          <p:cNvSpPr/>
          <p:nvPr/>
        </p:nvSpPr>
        <p:spPr>
          <a:xfrm>
            <a:off x="648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2</a:t>
            </a:r>
            <a:endParaRPr b="0" lang="en-US" sz="1600" spc="-1" strike="noStrike">
              <a:solidFill>
                <a:srgbClr val="000000"/>
              </a:solidFill>
              <a:latin typeface="Arial"/>
            </a:endParaRPr>
          </a:p>
        </p:txBody>
      </p:sp>
      <p:sp>
        <p:nvSpPr>
          <p:cNvPr id="32" name=""/>
          <p:cNvSpPr/>
          <p:nvPr/>
        </p:nvSpPr>
        <p:spPr>
          <a:xfrm>
            <a:off x="5130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Is the output true?</a:t>
            </a:r>
            <a:endParaRPr b="0" lang="en-US" sz="1600" spc="-1" strike="noStrike">
              <a:solidFill>
                <a:srgbClr val="000000"/>
              </a:solidFill>
              <a:latin typeface="Arial"/>
            </a:endParaRPr>
          </a:p>
        </p:txBody>
      </p:sp>
      <p:sp>
        <p:nvSpPr>
          <p:cNvPr id="33" name=""/>
          <p:cNvSpPr/>
          <p:nvPr/>
        </p:nvSpPr>
        <p:spPr>
          <a:xfrm>
            <a:off x="576000" y="2494800"/>
            <a:ext cx="8927640" cy="21240"/>
          </a:xfrm>
          <a:prstGeom prst="rect">
            <a:avLst/>
          </a:prstGeom>
          <a:solidFill>
            <a:srgbClr val="0f3d57"/>
          </a:solidFill>
          <a:ln w="0">
            <a:noFill/>
          </a:ln>
        </p:spPr>
        <p:style>
          <a:lnRef idx="0"/>
          <a:fillRef idx="0"/>
          <a:effectRef idx="0"/>
          <a:fontRef idx="minor"/>
        </p:style>
        <p:txBody>
          <a:bodyPr lIns="90000" rIns="90000" tIns="-23400" bIns="-23400" anchor="t">
            <a:noAutofit/>
          </a:bodyPr>
          <a:p>
            <a:pPr>
              <a:lnSpc>
                <a:spcPct val="100000"/>
              </a:lnSpc>
            </a:pPr>
            <a:endParaRPr b="0" lang="en-US" sz="1800" spc="-1" strike="noStrike">
              <a:solidFill>
                <a:srgbClr val="ffffff"/>
              </a:solidFill>
              <a:latin typeface="Arial"/>
            </a:endParaRPr>
          </a:p>
        </p:txBody>
      </p:sp>
      <p:sp>
        <p:nvSpPr>
          <p:cNvPr id="34" name=""/>
          <p:cNvSpPr/>
          <p:nvPr/>
        </p:nvSpPr>
        <p:spPr>
          <a:xfrm>
            <a:off x="648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3</a:t>
            </a:r>
            <a:endParaRPr b="0" lang="en-US" sz="1600" spc="-1" strike="noStrike">
              <a:solidFill>
                <a:srgbClr val="000000"/>
              </a:solidFill>
              <a:latin typeface="Arial"/>
            </a:endParaRPr>
          </a:p>
        </p:txBody>
      </p:sp>
      <p:sp>
        <p:nvSpPr>
          <p:cNvPr id="35" name=""/>
          <p:cNvSpPr/>
          <p:nvPr/>
        </p:nvSpPr>
        <p:spPr>
          <a:xfrm>
            <a:off x="5130000" y="2545200"/>
            <a:ext cx="4301640" cy="5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Can you design where the platform sits in the work?</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That last one is the step that matters</a:t>
            </a:r>
            <a:endParaRPr b="0" lang="en-US" sz="3400" spc="-1" strike="noStrike">
              <a:solidFill>
                <a:srgbClr val="000000"/>
              </a:solidFill>
              <a:latin typeface="Arial"/>
            </a:endParaRPr>
          </a:p>
        </p:txBody>
      </p:sp>
      <p:sp>
        <p:nvSpPr>
          <p:cNvPr id="37"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38"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Operating a tool is following instructions. Deciding where a tool belongs in a piece of work is an engineering decision.</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The capstone sequence tests the second one.</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Everything today is one rep at making that decision and then living with it.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Five threads close today</a:t>
            </a:r>
            <a:endParaRPr b="0" lang="en-US" sz="3400" spc="-1" strike="noStrike">
              <a:solidFill>
                <a:srgbClr val="000000"/>
              </a:solidFill>
              <a:latin typeface="Arial"/>
            </a:endParaRPr>
          </a:p>
        </p:txBody>
      </p:sp>
      <p:sp>
        <p:nvSpPr>
          <p:cNvPr id="40"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41" name=""/>
          <p:cNvSpPr/>
          <p:nvPr/>
        </p:nvSpPr>
        <p:spPr>
          <a:xfrm>
            <a:off x="576000" y="1530000"/>
            <a:ext cx="8927640" cy="323640"/>
          </a:xfrm>
          <a:prstGeom prst="rect">
            <a:avLst/>
          </a:prstGeom>
          <a:solidFill>
            <a:srgbClr val="0f3d5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2" name=""/>
          <p:cNvSpPr/>
          <p:nvPr/>
        </p:nvSpPr>
        <p:spPr>
          <a:xfrm>
            <a:off x="648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Thread</a:t>
            </a:r>
            <a:endParaRPr b="0" lang="en-US" sz="1600" spc="-1" strike="noStrike">
              <a:solidFill>
                <a:srgbClr val="000000"/>
              </a:solidFill>
              <a:latin typeface="Arial"/>
            </a:endParaRPr>
          </a:p>
        </p:txBody>
      </p:sp>
      <p:sp>
        <p:nvSpPr>
          <p:cNvPr id="43" name=""/>
          <p:cNvSpPr/>
          <p:nvPr/>
        </p:nvSpPr>
        <p:spPr>
          <a:xfrm>
            <a:off x="5130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Closes as</a:t>
            </a:r>
            <a:endParaRPr b="0" lang="en-US" sz="1600" spc="-1" strike="noStrike">
              <a:solidFill>
                <a:srgbClr val="000000"/>
              </a:solidFill>
              <a:latin typeface="Arial"/>
            </a:endParaRPr>
          </a:p>
        </p:txBody>
      </p:sp>
      <p:sp>
        <p:nvSpPr>
          <p:cNvPr id="44" name=""/>
          <p:cNvSpPr/>
          <p:nvPr/>
        </p:nvSpPr>
        <p:spPr>
          <a:xfrm>
            <a:off x="648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One integration (M1)</a:t>
            </a:r>
            <a:endParaRPr b="0" lang="en-US" sz="1600" spc="-1" strike="noStrike">
              <a:solidFill>
                <a:srgbClr val="000000"/>
              </a:solidFill>
              <a:latin typeface="Arial"/>
            </a:endParaRPr>
          </a:p>
        </p:txBody>
      </p:sp>
      <p:sp>
        <p:nvSpPr>
          <p:cNvPr id="45" name=""/>
          <p:cNvSpPr/>
          <p:nvPr/>
        </p:nvSpPr>
        <p:spPr>
          <a:xfrm>
            <a:off x="5130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 second one, so two systems</a:t>
            </a:r>
            <a:endParaRPr b="0" lang="en-US" sz="1600" spc="-1" strike="noStrike">
              <a:solidFill>
                <a:srgbClr val="000000"/>
              </a:solidFill>
              <a:latin typeface="Arial"/>
            </a:endParaRPr>
          </a:p>
        </p:txBody>
      </p:sp>
      <p:sp>
        <p:nvSpPr>
          <p:cNvPr id="46" name=""/>
          <p:cNvSpPr/>
          <p:nvPr/>
        </p:nvSpPr>
        <p:spPr>
          <a:xfrm>
            <a:off x="576000" y="21996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7" name=""/>
          <p:cNvSpPr/>
          <p:nvPr/>
        </p:nvSpPr>
        <p:spPr>
          <a:xfrm>
            <a:off x="648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Direct commits (M1)</a:t>
            </a:r>
            <a:endParaRPr b="0" lang="en-US" sz="1600" spc="-1" strike="noStrike">
              <a:solidFill>
                <a:srgbClr val="000000"/>
              </a:solidFill>
              <a:latin typeface="Arial"/>
            </a:endParaRPr>
          </a:p>
        </p:txBody>
      </p:sp>
      <p:sp>
        <p:nvSpPr>
          <p:cNvPr id="48" name=""/>
          <p:cNvSpPr/>
          <p:nvPr/>
        </p:nvSpPr>
        <p:spPr>
          <a:xfrm>
            <a:off x="5130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 reviewed pull request</a:t>
            </a:r>
            <a:endParaRPr b="0" lang="en-US" sz="1600" spc="-1" strike="noStrike">
              <a:solidFill>
                <a:srgbClr val="000000"/>
              </a:solidFill>
              <a:latin typeface="Arial"/>
            </a:endParaRPr>
          </a:p>
        </p:txBody>
      </p:sp>
      <p:sp>
        <p:nvSpPr>
          <p:cNvPr id="49" name=""/>
          <p:cNvSpPr/>
          <p:nvPr/>
        </p:nvSpPr>
        <p:spPr>
          <a:xfrm>
            <a:off x="648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The instruction set (M2)</a:t>
            </a:r>
            <a:endParaRPr b="0" lang="en-US" sz="1600" spc="-1" strike="noStrike">
              <a:solidFill>
                <a:srgbClr val="000000"/>
              </a:solidFill>
              <a:latin typeface="Arial"/>
            </a:endParaRPr>
          </a:p>
        </p:txBody>
      </p:sp>
      <p:sp>
        <p:nvSpPr>
          <p:cNvPr id="50" name=""/>
          <p:cNvSpPr/>
          <p:nvPr/>
        </p:nvSpPr>
        <p:spPr>
          <a:xfrm>
            <a:off x="5130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Packaged into something reusable</a:t>
            </a:r>
            <a:endParaRPr b="0" lang="en-US" sz="1600" spc="-1" strike="noStrike">
              <a:solidFill>
                <a:srgbClr val="000000"/>
              </a:solidFill>
              <a:latin typeface="Arial"/>
            </a:endParaRPr>
          </a:p>
        </p:txBody>
      </p:sp>
      <p:sp>
        <p:nvSpPr>
          <p:cNvPr id="51" name=""/>
          <p:cNvSpPr/>
          <p:nvPr/>
        </p:nvSpPr>
        <p:spPr>
          <a:xfrm>
            <a:off x="576000" y="28188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2" name=""/>
          <p:cNvSpPr/>
          <p:nvPr/>
        </p:nvSpPr>
        <p:spPr>
          <a:xfrm>
            <a:off x="648000" y="28548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Critique of an analysis (M2)</a:t>
            </a:r>
            <a:endParaRPr b="0" lang="en-US" sz="1600" spc="-1" strike="noStrike">
              <a:solidFill>
                <a:srgbClr val="000000"/>
              </a:solidFill>
              <a:latin typeface="Arial"/>
            </a:endParaRPr>
          </a:p>
        </p:txBody>
      </p:sp>
      <p:sp>
        <p:nvSpPr>
          <p:cNvPr id="53" name=""/>
          <p:cNvSpPr/>
          <p:nvPr/>
        </p:nvSpPr>
        <p:spPr>
          <a:xfrm>
            <a:off x="5130000" y="28548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 real investigation</a:t>
            </a:r>
            <a:endParaRPr b="0" lang="en-US" sz="1600" spc="-1" strike="noStrike">
              <a:solidFill>
                <a:srgbClr val="000000"/>
              </a:solidFill>
              <a:latin typeface="Arial"/>
            </a:endParaRPr>
          </a:p>
        </p:txBody>
      </p:sp>
      <p:sp>
        <p:nvSpPr>
          <p:cNvPr id="54" name=""/>
          <p:cNvSpPr/>
          <p:nvPr/>
        </p:nvSpPr>
        <p:spPr>
          <a:xfrm>
            <a:off x="576000" y="3114000"/>
            <a:ext cx="8927640" cy="21240"/>
          </a:xfrm>
          <a:prstGeom prst="rect">
            <a:avLst/>
          </a:prstGeom>
          <a:solidFill>
            <a:srgbClr val="0f3d57"/>
          </a:solidFill>
          <a:ln w="0">
            <a:noFill/>
          </a:ln>
        </p:spPr>
        <p:style>
          <a:lnRef idx="0"/>
          <a:fillRef idx="0"/>
          <a:effectRef idx="0"/>
          <a:fontRef idx="minor"/>
        </p:style>
        <p:txBody>
          <a:bodyPr lIns="90000" rIns="90000" tIns="-23400" bIns="-23400" anchor="t">
            <a:noAutofit/>
          </a:bodyPr>
          <a:p>
            <a:pPr>
              <a:lnSpc>
                <a:spcPct val="100000"/>
              </a:lnSpc>
            </a:pPr>
            <a:endParaRPr b="0" lang="en-US" sz="1800" spc="-1" strike="noStrike">
              <a:solidFill>
                <a:srgbClr val="ffffff"/>
              </a:solidFill>
              <a:latin typeface="Arial"/>
            </a:endParaRPr>
          </a:p>
        </p:txBody>
      </p:sp>
      <p:sp>
        <p:nvSpPr>
          <p:cNvPr id="55" name=""/>
          <p:cNvSpPr/>
          <p:nvPr/>
        </p:nvSpPr>
        <p:spPr>
          <a:xfrm>
            <a:off x="648000" y="31644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Meta-prompting, opened (M2)</a:t>
            </a:r>
            <a:endParaRPr b="0" lang="en-US" sz="1600" spc="-1" strike="noStrike">
              <a:solidFill>
                <a:srgbClr val="000000"/>
              </a:solidFill>
              <a:latin typeface="Arial"/>
            </a:endParaRPr>
          </a:p>
        </p:txBody>
      </p:sp>
      <p:sp>
        <p:nvSpPr>
          <p:cNvPr id="56" name=""/>
          <p:cNvSpPr/>
          <p:nvPr/>
        </p:nvSpPr>
        <p:spPr>
          <a:xfrm>
            <a:off x="5130000" y="31644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The question supplied at run time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Two is not one, twice</a:t>
            </a:r>
            <a:endParaRPr b="0" lang="en-US" sz="4000" spc="-1" strike="noStrike">
              <a:solidFill>
                <a:srgbClr val="000000"/>
              </a:solidFill>
              <a:latin typeface="Arial"/>
            </a:endParaRPr>
          </a:p>
        </p:txBody>
      </p:sp>
      <p:sp>
        <p:nvSpPr>
          <p:cNvPr id="58"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59"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One system: it can see the thing, or it cannot. Yes or no.</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Two systems: information has to get from one to the other.</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**Crossing point**: the handover itself.</a:t>
            </a:r>
            <a:endParaRPr b="0" lang="en-US" sz="2400" spc="-1" strike="noStrike">
              <a:solidFill>
                <a:srgbClr val="000000"/>
              </a:solidFill>
              <a:latin typeface="Arial"/>
            </a:endParaRPr>
          </a:p>
          <a:p>
            <a:pPr>
              <a:lnSpc>
                <a:spcPct val="100000"/>
              </a:lnSpc>
            </a:pPr>
            <a:r>
              <a:rPr b="0" lang="en-US" sz="2000" spc="-1" strike="noStrike">
                <a:solidFill>
                  <a:srgbClr val="252c36"/>
                </a:solidFill>
                <a:latin typeface="Arial"/>
              </a:rPr>
              <a:t>– </a:t>
            </a:r>
            <a:r>
              <a:rPr b="0" lang="en-US" sz="2000" spc="-1" strike="noStrike">
                <a:solidFill>
                  <a:srgbClr val="252c36"/>
                </a:solidFill>
                <a:latin typeface="Arial"/>
              </a:rPr>
              <a:t>Not either system. The gap between them, which neither one owns.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Why the crossing point is where it breaks</a:t>
            </a:r>
            <a:endParaRPr b="0" lang="en-US" sz="3400" spc="-1" strike="noStrike">
              <a:solidFill>
                <a:srgbClr val="000000"/>
              </a:solidFill>
              <a:latin typeface="Arial"/>
            </a:endParaRPr>
          </a:p>
        </p:txBody>
      </p:sp>
      <p:sp>
        <p:nvSpPr>
          <p:cNvPr id="61"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62"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Each system reports its own step succeeding.</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**Nothing reports that the handoff between them did nothing.**</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Module 1: authorization is not validation. </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Module 2: confident and wrong. </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Today: the same thing, one scale up.</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Validation is still a round trip</a:t>
            </a:r>
            <a:endParaRPr b="0" lang="en-US" sz="4000" spc="-1" strike="noStrike">
              <a:solidFill>
                <a:srgbClr val="000000"/>
              </a:solidFill>
              <a:latin typeface="Arial"/>
            </a:endParaRPr>
          </a:p>
        </p:txBody>
      </p:sp>
      <p:sp>
        <p:nvSpPr>
          <p:cNvPr id="64"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65"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Put something in, ask for it back, confirm what returns is what you sent.</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Then have something written, and go and look at it yourself.</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 settings screen is a claim a system makes about itself.</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Plan first this time</a:t>
            </a:r>
            <a:endParaRPr b="0" lang="en-US" sz="4000" spc="-1" strike="noStrike">
              <a:solidFill>
                <a:srgbClr val="000000"/>
              </a:solidFill>
              <a:latin typeface="Arial"/>
            </a:endParaRPr>
          </a:p>
        </p:txBody>
      </p:sp>
      <p:sp>
        <p:nvSpPr>
          <p:cNvPr id="67"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68"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Last module the tracking came after the work. That is a record, not a plan.</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 plan written first can be wrong, which is what makes it useful.</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 plan written last cannot be wrong, and cannot tell you anything.</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Not module 2 with more lines</a:t>
            </a:r>
            <a:endParaRPr b="0" lang="en-US" sz="4000" spc="-1" strike="noStrike">
              <a:solidFill>
                <a:srgbClr val="000000"/>
              </a:solidFill>
              <a:latin typeface="Arial"/>
            </a:endParaRPr>
          </a:p>
        </p:txBody>
      </p:sp>
      <p:sp>
        <p:nvSpPr>
          <p:cNvPr id="70"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71"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Four files, four authors, four reasons for existing.</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No single one settles it.</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Half the ticket's question has an answer. The other half does not.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Absent is not empty</a:t>
            </a:r>
            <a:endParaRPr b="0" lang="en-US" sz="3400" spc="-1" strike="noStrike">
              <a:solidFill>
                <a:srgbClr val="000000"/>
              </a:solidFill>
              <a:latin typeface="Arial"/>
            </a:endParaRPr>
          </a:p>
        </p:txBody>
      </p:sp>
      <p:sp>
        <p:nvSpPr>
          <p:cNvPr id="73"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74" name=""/>
          <p:cNvSpPr/>
          <p:nvPr/>
        </p:nvSpPr>
        <p:spPr>
          <a:xfrm>
            <a:off x="576000" y="1530000"/>
            <a:ext cx="8927640" cy="323640"/>
          </a:xfrm>
          <a:prstGeom prst="rect">
            <a:avLst/>
          </a:prstGeom>
          <a:solidFill>
            <a:srgbClr val="0f3d5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5" name=""/>
          <p:cNvSpPr/>
          <p:nvPr/>
        </p:nvSpPr>
        <p:spPr>
          <a:xfrm>
            <a:off x="648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What you see</a:t>
            </a:r>
            <a:endParaRPr b="0" lang="en-US" sz="1600" spc="-1" strike="noStrike">
              <a:solidFill>
                <a:srgbClr val="000000"/>
              </a:solidFill>
              <a:latin typeface="Arial"/>
            </a:endParaRPr>
          </a:p>
        </p:txBody>
      </p:sp>
      <p:sp>
        <p:nvSpPr>
          <p:cNvPr id="76" name=""/>
          <p:cNvSpPr/>
          <p:nvPr/>
        </p:nvSpPr>
        <p:spPr>
          <a:xfrm>
            <a:off x="5130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What it means</a:t>
            </a:r>
            <a:endParaRPr b="0" lang="en-US" sz="1600" spc="-1" strike="noStrike">
              <a:solidFill>
                <a:srgbClr val="000000"/>
              </a:solidFill>
              <a:latin typeface="Arial"/>
            </a:endParaRPr>
          </a:p>
        </p:txBody>
      </p:sp>
      <p:sp>
        <p:nvSpPr>
          <p:cNvPr id="77" name=""/>
          <p:cNvSpPr/>
          <p:nvPr/>
        </p:nvSpPr>
        <p:spPr>
          <a:xfrm>
            <a:off x="648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'Cannot determine: nothing'</a:t>
            </a:r>
            <a:endParaRPr b="0" lang="en-US" sz="1600" spc="-1" strike="noStrike">
              <a:solidFill>
                <a:srgbClr val="000000"/>
              </a:solidFill>
              <a:latin typeface="Arial"/>
            </a:endParaRPr>
          </a:p>
        </p:txBody>
      </p:sp>
      <p:sp>
        <p:nvSpPr>
          <p:cNvPr id="78" name=""/>
          <p:cNvSpPr/>
          <p:nvPr/>
        </p:nvSpPr>
        <p:spPr>
          <a:xfrm>
            <a:off x="5130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Somebody looked and found no gaps</a:t>
            </a:r>
            <a:endParaRPr b="0" lang="en-US" sz="1600" spc="-1" strike="noStrike">
              <a:solidFill>
                <a:srgbClr val="000000"/>
              </a:solidFill>
              <a:latin typeface="Arial"/>
            </a:endParaRPr>
          </a:p>
        </p:txBody>
      </p:sp>
      <p:sp>
        <p:nvSpPr>
          <p:cNvPr id="79" name=""/>
          <p:cNvSpPr/>
          <p:nvPr/>
        </p:nvSpPr>
        <p:spPr>
          <a:xfrm>
            <a:off x="576000" y="21996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0" name=""/>
          <p:cNvSpPr/>
          <p:nvPr/>
        </p:nvSpPr>
        <p:spPr>
          <a:xfrm>
            <a:off x="648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Heading present, nothing under it</a:t>
            </a:r>
            <a:endParaRPr b="0" lang="en-US" sz="1600" spc="-1" strike="noStrike">
              <a:solidFill>
                <a:srgbClr val="000000"/>
              </a:solidFill>
              <a:latin typeface="Arial"/>
            </a:endParaRPr>
          </a:p>
        </p:txBody>
      </p:sp>
      <p:sp>
        <p:nvSpPr>
          <p:cNvPr id="81" name=""/>
          <p:cNvSpPr/>
          <p:nvPr/>
        </p:nvSpPr>
        <p:spPr>
          <a:xfrm>
            <a:off x="5130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Ambiguous. Looked, or ran out of room?</a:t>
            </a:r>
            <a:endParaRPr b="0" lang="en-US" sz="1600" spc="-1" strike="noStrike">
              <a:solidFill>
                <a:srgbClr val="000000"/>
              </a:solidFill>
              <a:latin typeface="Arial"/>
            </a:endParaRPr>
          </a:p>
        </p:txBody>
      </p:sp>
      <p:sp>
        <p:nvSpPr>
          <p:cNvPr id="82" name=""/>
          <p:cNvSpPr/>
          <p:nvPr/>
        </p:nvSpPr>
        <p:spPr>
          <a:xfrm>
            <a:off x="576000" y="2494800"/>
            <a:ext cx="8927640" cy="21240"/>
          </a:xfrm>
          <a:prstGeom prst="rect">
            <a:avLst/>
          </a:prstGeom>
          <a:solidFill>
            <a:srgbClr val="0f3d57"/>
          </a:solidFill>
          <a:ln w="0">
            <a:noFill/>
          </a:ln>
        </p:spPr>
        <p:style>
          <a:lnRef idx="0"/>
          <a:fillRef idx="0"/>
          <a:effectRef idx="0"/>
          <a:fontRef idx="minor"/>
        </p:style>
        <p:txBody>
          <a:bodyPr lIns="90000" rIns="90000" tIns="-23400" bIns="-23400" anchor="t">
            <a:noAutofit/>
          </a:bodyPr>
          <a:p>
            <a:pPr>
              <a:lnSpc>
                <a:spcPct val="100000"/>
              </a:lnSpc>
            </a:pPr>
            <a:endParaRPr b="0" lang="en-US" sz="1800" spc="-1" strike="noStrike">
              <a:solidFill>
                <a:srgbClr val="ffffff"/>
              </a:solidFill>
              <a:latin typeface="Arial"/>
            </a:endParaRPr>
          </a:p>
        </p:txBody>
      </p:sp>
      <p:sp>
        <p:nvSpPr>
          <p:cNvPr id="83" name=""/>
          <p:cNvSpPr/>
          <p:nvPr/>
        </p:nvSpPr>
        <p:spPr>
          <a:xfrm>
            <a:off x="648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No heading at all</a:t>
            </a:r>
            <a:endParaRPr b="0" lang="en-US" sz="1600" spc="-1" strike="noStrike">
              <a:solidFill>
                <a:srgbClr val="000000"/>
              </a:solidFill>
              <a:latin typeface="Arial"/>
            </a:endParaRPr>
          </a:p>
        </p:txBody>
      </p:sp>
      <p:sp>
        <p:nvSpPr>
          <p:cNvPr id="84" name=""/>
          <p:cNvSpPr/>
          <p:nvPr/>
        </p:nvSpPr>
        <p:spPr>
          <a:xfrm>
            <a:off x="5130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Nothing at all. And it reads as the first row</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Stated against inferred</a:t>
            </a:r>
            <a:endParaRPr b="0" lang="en-US" sz="3400" spc="-1" strike="noStrike">
              <a:solidFill>
                <a:srgbClr val="000000"/>
              </a:solidFill>
              <a:latin typeface="Arial"/>
            </a:endParaRPr>
          </a:p>
        </p:txBody>
      </p:sp>
      <p:sp>
        <p:nvSpPr>
          <p:cNvPr id="86"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87" name=""/>
          <p:cNvSpPr/>
          <p:nvPr/>
        </p:nvSpPr>
        <p:spPr>
          <a:xfrm>
            <a:off x="576000" y="1530000"/>
            <a:ext cx="8927640" cy="323640"/>
          </a:xfrm>
          <a:prstGeom prst="rect">
            <a:avLst/>
          </a:prstGeom>
          <a:solidFill>
            <a:srgbClr val="0f3d5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8" name=""/>
          <p:cNvSpPr/>
          <p:nvPr/>
        </p:nvSpPr>
        <p:spPr>
          <a:xfrm>
            <a:off x="648000" y="1573200"/>
            <a:ext cx="259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It says</a:t>
            </a:r>
            <a:endParaRPr b="0" lang="en-US" sz="1600" spc="-1" strike="noStrike">
              <a:solidFill>
                <a:srgbClr val="000000"/>
              </a:solidFill>
              <a:latin typeface="Arial"/>
            </a:endParaRPr>
          </a:p>
        </p:txBody>
      </p:sp>
      <p:sp>
        <p:nvSpPr>
          <p:cNvPr id="89" name=""/>
          <p:cNvSpPr/>
          <p:nvPr/>
        </p:nvSpPr>
        <p:spPr>
          <a:xfrm>
            <a:off x="3384000" y="1573200"/>
            <a:ext cx="4895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Type</a:t>
            </a:r>
            <a:endParaRPr b="0" lang="en-US" sz="1600" spc="-1" strike="noStrike">
              <a:solidFill>
                <a:srgbClr val="000000"/>
              </a:solidFill>
              <a:latin typeface="Arial"/>
            </a:endParaRPr>
          </a:p>
        </p:txBody>
      </p:sp>
      <p:sp>
        <p:nvSpPr>
          <p:cNvPr id="90" name=""/>
          <p:cNvSpPr/>
          <p:nvPr/>
        </p:nvSpPr>
        <p:spPr>
          <a:xfrm>
            <a:off x="8388000" y="1573200"/>
            <a:ext cx="115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Why</a:t>
            </a:r>
            <a:endParaRPr b="0" lang="en-US" sz="1600" spc="-1" strike="noStrike">
              <a:solidFill>
                <a:srgbClr val="000000"/>
              </a:solidFill>
              <a:latin typeface="Arial"/>
            </a:endParaRPr>
          </a:p>
        </p:txBody>
      </p:sp>
      <p:sp>
        <p:nvSpPr>
          <p:cNvPr id="91" name=""/>
          <p:cNvSpPr/>
          <p:nvPr/>
        </p:nvSpPr>
        <p:spPr>
          <a:xfrm>
            <a:off x="648000" y="1926000"/>
            <a:ext cx="259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'exited status 0'</a:t>
            </a:r>
            <a:endParaRPr b="0" lang="en-US" sz="1600" spc="-1" strike="noStrike">
              <a:solidFill>
                <a:srgbClr val="000000"/>
              </a:solidFill>
              <a:latin typeface="Arial"/>
            </a:endParaRPr>
          </a:p>
        </p:txBody>
      </p:sp>
      <p:sp>
        <p:nvSpPr>
          <p:cNvPr id="92" name=""/>
          <p:cNvSpPr/>
          <p:nvPr/>
        </p:nvSpPr>
        <p:spPr>
          <a:xfrm>
            <a:off x="3384000" y="1926000"/>
            <a:ext cx="4895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stated</a:t>
            </a:r>
            <a:endParaRPr b="0" lang="en-US" sz="1600" spc="-1" strike="noStrike">
              <a:solidFill>
                <a:srgbClr val="000000"/>
              </a:solidFill>
              <a:latin typeface="Arial"/>
            </a:endParaRPr>
          </a:p>
        </p:txBody>
      </p:sp>
      <p:sp>
        <p:nvSpPr>
          <p:cNvPr id="93" name=""/>
          <p:cNvSpPr/>
          <p:nvPr/>
        </p:nvSpPr>
        <p:spPr>
          <a:xfrm>
            <a:off x="7543800" y="1926000"/>
            <a:ext cx="1995840" cy="5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The line says it</a:t>
            </a:r>
            <a:endParaRPr b="0" lang="en-US" sz="1600" spc="-1" strike="noStrike">
              <a:solidFill>
                <a:srgbClr val="000000"/>
              </a:solidFill>
              <a:latin typeface="Arial"/>
            </a:endParaRPr>
          </a:p>
        </p:txBody>
      </p:sp>
      <p:sp>
        <p:nvSpPr>
          <p:cNvPr id="94" name=""/>
          <p:cNvSpPr/>
          <p:nvPr/>
        </p:nvSpPr>
        <p:spPr>
          <a:xfrm>
            <a:off x="576000" y="21996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5" name=""/>
          <p:cNvSpPr/>
          <p:nvPr/>
        </p:nvSpPr>
        <p:spPr>
          <a:xfrm>
            <a:off x="648000" y="2235600"/>
            <a:ext cx="259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'backup completed'</a:t>
            </a:r>
            <a:endParaRPr b="0" lang="en-US" sz="1600" spc="-1" strike="noStrike">
              <a:solidFill>
                <a:srgbClr val="000000"/>
              </a:solidFill>
              <a:latin typeface="Arial"/>
            </a:endParaRPr>
          </a:p>
        </p:txBody>
      </p:sp>
      <p:sp>
        <p:nvSpPr>
          <p:cNvPr id="96" name=""/>
          <p:cNvSpPr/>
          <p:nvPr/>
        </p:nvSpPr>
        <p:spPr>
          <a:xfrm>
            <a:off x="3384000" y="2235600"/>
            <a:ext cx="4895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inferred</a:t>
            </a:r>
            <a:endParaRPr b="0" lang="en-US" sz="1600" spc="-1" strike="noStrike">
              <a:solidFill>
                <a:srgbClr val="000000"/>
              </a:solidFill>
              <a:latin typeface="Arial"/>
            </a:endParaRPr>
          </a:p>
        </p:txBody>
      </p:sp>
      <p:sp>
        <p:nvSpPr>
          <p:cNvPr id="97" name=""/>
          <p:cNvSpPr/>
          <p:nvPr/>
        </p:nvSpPr>
        <p:spPr>
          <a:xfrm>
            <a:off x="7543800" y="2235600"/>
            <a:ext cx="1995840" cy="5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Reasoned, not read</a:t>
            </a:r>
            <a:endParaRPr b="0" lang="en-US" sz="1600" spc="-1" strike="noStrike">
              <a:solidFill>
                <a:srgbClr val="000000"/>
              </a:solidFill>
              <a:latin typeface="Arial"/>
            </a:endParaRPr>
          </a:p>
        </p:txBody>
      </p:sp>
      <p:sp>
        <p:nvSpPr>
          <p:cNvPr id="98" name=""/>
          <p:cNvSpPr/>
          <p:nvPr/>
        </p:nvSpPr>
        <p:spPr>
          <a:xfrm>
            <a:off x="576000" y="2494800"/>
            <a:ext cx="8927640" cy="21240"/>
          </a:xfrm>
          <a:prstGeom prst="rect">
            <a:avLst/>
          </a:prstGeom>
          <a:solidFill>
            <a:srgbClr val="0f3d57"/>
          </a:solidFill>
          <a:ln w="0">
            <a:noFill/>
          </a:ln>
        </p:spPr>
        <p:style>
          <a:lnRef idx="0"/>
          <a:fillRef idx="0"/>
          <a:effectRef idx="0"/>
          <a:fontRef idx="minor"/>
        </p:style>
        <p:txBody>
          <a:bodyPr lIns="90000" rIns="90000" tIns="-23400" bIns="-23400" anchor="t">
            <a:noAutofit/>
          </a:bodyPr>
          <a:p>
            <a:pPr>
              <a:lnSpc>
                <a:spcPct val="100000"/>
              </a:lnSpc>
            </a:pPr>
            <a:endParaRPr b="0" lang="en-US" sz="1800" spc="-1" strike="noStrike">
              <a:solidFill>
                <a:srgbClr val="ffffff"/>
              </a:solidFill>
              <a:latin typeface="Arial"/>
            </a:endParaRPr>
          </a:p>
        </p:txBody>
      </p:sp>
      <p:sp>
        <p:nvSpPr>
          <p:cNvPr id="99" name=""/>
          <p:cNvSpPr/>
          <p:nvPr/>
        </p:nvSpPr>
        <p:spPr>
          <a:xfrm>
            <a:off x="648000" y="2545200"/>
            <a:ext cx="259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'data is recoverable'</a:t>
            </a:r>
            <a:endParaRPr b="0" lang="en-US" sz="1600" spc="-1" strike="noStrike">
              <a:solidFill>
                <a:srgbClr val="000000"/>
              </a:solidFill>
              <a:latin typeface="Arial"/>
            </a:endParaRPr>
          </a:p>
        </p:txBody>
      </p:sp>
      <p:sp>
        <p:nvSpPr>
          <p:cNvPr id="100" name=""/>
          <p:cNvSpPr/>
          <p:nvPr/>
        </p:nvSpPr>
        <p:spPr>
          <a:xfrm>
            <a:off x="3384000" y="2545200"/>
            <a:ext cx="4895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unsupported</a:t>
            </a:r>
            <a:endParaRPr b="0" lang="en-US" sz="1600" spc="-1" strike="noStrike">
              <a:solidFill>
                <a:srgbClr val="000000"/>
              </a:solidFill>
              <a:latin typeface="Arial"/>
            </a:endParaRPr>
          </a:p>
        </p:txBody>
      </p:sp>
      <p:sp>
        <p:nvSpPr>
          <p:cNvPr id="101" name=""/>
          <p:cNvSpPr/>
          <p:nvPr/>
        </p:nvSpPr>
        <p:spPr>
          <a:xfrm>
            <a:off x="7543800" y="2545200"/>
            <a:ext cx="1995840" cy="5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Never tested</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Somebody is on the other side of it</a:t>
            </a:r>
            <a:endParaRPr b="0" lang="en-US" sz="4000" spc="-1" strike="noStrike">
              <a:solidFill>
                <a:srgbClr val="000000"/>
              </a:solidFill>
              <a:latin typeface="Arial"/>
            </a:endParaRPr>
          </a:p>
        </p:txBody>
      </p:sp>
      <p:sp>
        <p:nvSpPr>
          <p:cNvPr id="103"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104"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Module 2 you were author and reviewer both, which is not how review works anywhere else.</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This time the pull request carries a reviewer.</a:t>
            </a: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Write the description as the handover you wish you had been given.</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
          <p:cNvSpPr/>
          <p:nvPr/>
        </p:nvSpPr>
        <p:spPr>
          <a:xfrm>
            <a:off x="720000" y="1764000"/>
            <a:ext cx="8639640" cy="935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5000" spc="-1" strike="noStrike">
                <a:solidFill>
                  <a:srgbClr val="0f3d57"/>
                </a:solidFill>
                <a:latin typeface="Arial"/>
              </a:rPr>
              <a:t>Project 1</a:t>
            </a:r>
            <a:endParaRPr b="0" lang="en-US" sz="5000" spc="-1" strike="noStrike">
              <a:solidFill>
                <a:srgbClr val="000000"/>
              </a:solidFill>
              <a:latin typeface="Arial"/>
            </a:endParaRPr>
          </a:p>
        </p:txBody>
      </p:sp>
      <p:sp>
        <p:nvSpPr>
          <p:cNvPr id="106" name=""/>
          <p:cNvSpPr/>
          <p:nvPr/>
        </p:nvSpPr>
        <p:spPr>
          <a:xfrm>
            <a:off x="720000" y="2844000"/>
            <a:ext cx="8639640" cy="1986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700" spc="-1" strike="noStrike">
                <a:solidFill>
                  <a:srgbClr val="111418"/>
                </a:solidFill>
                <a:latin typeface="Arial"/>
              </a:rPr>
              <a:t>- Tracked deliverable. Analysis you argue with. A chain that works.</a:t>
            </a:r>
            <a:endParaRPr b="0" lang="en-US" sz="2700" spc="-1" strike="noStrike">
              <a:solidFill>
                <a:srgbClr val="000000"/>
              </a:solidFill>
              <a:latin typeface="Arial"/>
            </a:endParaRPr>
          </a:p>
          <a:p>
            <a:pPr>
              <a:lnSpc>
                <a:spcPct val="100000"/>
              </a:lnSpc>
            </a:pPr>
            <a:r>
              <a:rPr b="0" lang="en-US" sz="2700" spc="-1" strike="noStrike">
                <a:solidFill>
                  <a:srgbClr val="111418"/>
                </a:solidFill>
                <a:latin typeface="Arial"/>
              </a:rPr>
              <a:t>- **Due Thursday 24 September, 9:00 pm.**</a:t>
            </a:r>
            <a:endParaRPr b="0" lang="en-US" sz="2700" spc="-1" strike="noStrike">
              <a:solidFill>
                <a:srgbClr val="000000"/>
              </a:solidFill>
              <a:latin typeface="Arial"/>
            </a:endParaRPr>
          </a:p>
          <a:p>
            <a:pPr>
              <a:lnSpc>
                <a:spcPct val="100000"/>
              </a:lnSpc>
            </a:pPr>
            <a:r>
              <a:rPr b="0" lang="en-US" sz="2700" spc="-1" strike="noStrike">
                <a:solidFill>
                  <a:srgbClr val="111418"/>
                </a:solidFill>
                <a:latin typeface="Arial"/>
              </a:rPr>
              <a:t>- Two weeks: **18 September is a no-class day.**</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Every part is something you did today</a:t>
            </a:r>
            <a:endParaRPr b="0" lang="en-US" sz="3400" spc="-1" strike="noStrike">
              <a:solidFill>
                <a:srgbClr val="000000"/>
              </a:solidFill>
              <a:latin typeface="Arial"/>
            </a:endParaRPr>
          </a:p>
        </p:txBody>
      </p:sp>
      <p:sp>
        <p:nvSpPr>
          <p:cNvPr id="108"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109" name=""/>
          <p:cNvSpPr/>
          <p:nvPr/>
        </p:nvSpPr>
        <p:spPr>
          <a:xfrm>
            <a:off x="576000" y="1530000"/>
            <a:ext cx="8927640" cy="323640"/>
          </a:xfrm>
          <a:prstGeom prst="rect">
            <a:avLst/>
          </a:prstGeom>
          <a:solidFill>
            <a:srgbClr val="0f3d5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 name=""/>
          <p:cNvSpPr/>
          <p:nvPr/>
        </p:nvSpPr>
        <p:spPr>
          <a:xfrm>
            <a:off x="648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Today</a:t>
            </a:r>
            <a:endParaRPr b="0" lang="en-US" sz="1600" spc="-1" strike="noStrike">
              <a:solidFill>
                <a:srgbClr val="000000"/>
              </a:solidFill>
              <a:latin typeface="Arial"/>
            </a:endParaRPr>
          </a:p>
        </p:txBody>
      </p:sp>
      <p:sp>
        <p:nvSpPr>
          <p:cNvPr id="111" name=""/>
          <p:cNvSpPr/>
          <p:nvPr/>
        </p:nvSpPr>
        <p:spPr>
          <a:xfrm>
            <a:off x="5130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Project 1</a:t>
            </a:r>
            <a:endParaRPr b="0" lang="en-US" sz="1600" spc="-1" strike="noStrike">
              <a:solidFill>
                <a:srgbClr val="000000"/>
              </a:solidFill>
              <a:latin typeface="Arial"/>
            </a:endParaRPr>
          </a:p>
        </p:txBody>
      </p:sp>
      <p:sp>
        <p:nvSpPr>
          <p:cNvPr id="112" name=""/>
          <p:cNvSpPr/>
          <p:nvPr/>
        </p:nvSpPr>
        <p:spPr>
          <a:xfrm>
            <a:off x="648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Act 1, planning first</a:t>
            </a:r>
            <a:endParaRPr b="0" lang="en-US" sz="1600" spc="-1" strike="noStrike">
              <a:solidFill>
                <a:srgbClr val="000000"/>
              </a:solidFill>
              <a:latin typeface="Arial"/>
            </a:endParaRPr>
          </a:p>
        </p:txBody>
      </p:sp>
      <p:sp>
        <p:nvSpPr>
          <p:cNvPr id="113" name=""/>
          <p:cNvSpPr/>
          <p:nvPr/>
        </p:nvSpPr>
        <p:spPr>
          <a:xfrm>
            <a:off x="5130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Part 1, on your own subject</a:t>
            </a:r>
            <a:endParaRPr b="0" lang="en-US" sz="1600" spc="-1" strike="noStrike">
              <a:solidFill>
                <a:srgbClr val="000000"/>
              </a:solidFill>
              <a:latin typeface="Arial"/>
            </a:endParaRPr>
          </a:p>
        </p:txBody>
      </p:sp>
      <p:sp>
        <p:nvSpPr>
          <p:cNvPr id="114" name=""/>
          <p:cNvSpPr/>
          <p:nvPr/>
        </p:nvSpPr>
        <p:spPr>
          <a:xfrm>
            <a:off x="576000" y="21996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5" name=""/>
          <p:cNvSpPr/>
          <p:nvPr/>
        </p:nvSpPr>
        <p:spPr>
          <a:xfrm>
            <a:off x="648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Act 2, the second system</a:t>
            </a:r>
            <a:endParaRPr b="0" lang="en-US" sz="1600" spc="-1" strike="noStrike">
              <a:solidFill>
                <a:srgbClr val="000000"/>
              </a:solidFill>
              <a:latin typeface="Arial"/>
            </a:endParaRPr>
          </a:p>
        </p:txBody>
      </p:sp>
      <p:sp>
        <p:nvSpPr>
          <p:cNvPr id="116" name=""/>
          <p:cNvSpPr/>
          <p:nvPr/>
        </p:nvSpPr>
        <p:spPr>
          <a:xfrm>
            <a:off x="5130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Part 3 has somewhere to cross to</a:t>
            </a:r>
            <a:endParaRPr b="0" lang="en-US" sz="1600" spc="-1" strike="noStrike">
              <a:solidFill>
                <a:srgbClr val="000000"/>
              </a:solidFill>
              <a:latin typeface="Arial"/>
            </a:endParaRPr>
          </a:p>
        </p:txBody>
      </p:sp>
      <p:sp>
        <p:nvSpPr>
          <p:cNvPr id="117" name=""/>
          <p:cNvSpPr/>
          <p:nvPr/>
        </p:nvSpPr>
        <p:spPr>
          <a:xfrm>
            <a:off x="648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Act 3, the prediction</a:t>
            </a:r>
            <a:endParaRPr b="0" lang="en-US" sz="1600" spc="-1" strike="noStrike">
              <a:solidFill>
                <a:srgbClr val="000000"/>
              </a:solidFill>
              <a:latin typeface="Arial"/>
            </a:endParaRPr>
          </a:p>
        </p:txBody>
      </p:sp>
      <p:sp>
        <p:nvSpPr>
          <p:cNvPr id="118" name=""/>
          <p:cNvSpPr/>
          <p:nvPr/>
        </p:nvSpPr>
        <p:spPr>
          <a:xfrm>
            <a:off x="5130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Part 3, same shape</a:t>
            </a:r>
            <a:endParaRPr b="0" lang="en-US" sz="1600" spc="-1" strike="noStrike">
              <a:solidFill>
                <a:srgbClr val="000000"/>
              </a:solidFill>
              <a:latin typeface="Arial"/>
            </a:endParaRPr>
          </a:p>
        </p:txBody>
      </p:sp>
      <p:sp>
        <p:nvSpPr>
          <p:cNvPr id="119" name=""/>
          <p:cNvSpPr/>
          <p:nvPr/>
        </p:nvSpPr>
        <p:spPr>
          <a:xfrm>
            <a:off x="576000" y="28188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0" name=""/>
          <p:cNvSpPr/>
          <p:nvPr/>
        </p:nvSpPr>
        <p:spPr>
          <a:xfrm>
            <a:off x="648000" y="28548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Act 4, the claim table</a:t>
            </a:r>
            <a:endParaRPr b="0" lang="en-US" sz="1600" spc="-1" strike="noStrike">
              <a:solidFill>
                <a:srgbClr val="000000"/>
              </a:solidFill>
              <a:latin typeface="Arial"/>
            </a:endParaRPr>
          </a:p>
        </p:txBody>
      </p:sp>
      <p:sp>
        <p:nvSpPr>
          <p:cNvPr id="121" name=""/>
          <p:cNvSpPr/>
          <p:nvPr/>
        </p:nvSpPr>
        <p:spPr>
          <a:xfrm>
            <a:off x="5130000" y="28548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Part 2, your own material</a:t>
            </a:r>
            <a:endParaRPr b="0" lang="en-US" sz="1600" spc="-1" strike="noStrike">
              <a:solidFill>
                <a:srgbClr val="000000"/>
              </a:solidFill>
              <a:latin typeface="Arial"/>
            </a:endParaRPr>
          </a:p>
        </p:txBody>
      </p:sp>
      <p:sp>
        <p:nvSpPr>
          <p:cNvPr id="122" name=""/>
          <p:cNvSpPr/>
          <p:nvPr/>
        </p:nvSpPr>
        <p:spPr>
          <a:xfrm>
            <a:off x="576000" y="3114000"/>
            <a:ext cx="8927640" cy="21240"/>
          </a:xfrm>
          <a:prstGeom prst="rect">
            <a:avLst/>
          </a:prstGeom>
          <a:solidFill>
            <a:srgbClr val="0f3d57"/>
          </a:solidFill>
          <a:ln w="0">
            <a:noFill/>
          </a:ln>
        </p:spPr>
        <p:style>
          <a:lnRef idx="0"/>
          <a:fillRef idx="0"/>
          <a:effectRef idx="0"/>
          <a:fontRef idx="minor"/>
        </p:style>
        <p:txBody>
          <a:bodyPr lIns="90000" rIns="90000" tIns="-23400" bIns="-23400" anchor="t">
            <a:noAutofit/>
          </a:bodyPr>
          <a:p>
            <a:pPr>
              <a:lnSpc>
                <a:spcPct val="100000"/>
              </a:lnSpc>
            </a:pPr>
            <a:endParaRPr b="0" lang="en-US" sz="1800" spc="-1" strike="noStrike">
              <a:solidFill>
                <a:srgbClr val="ffffff"/>
              </a:solidFill>
              <a:latin typeface="Arial"/>
            </a:endParaRPr>
          </a:p>
        </p:txBody>
      </p:sp>
      <p:sp>
        <p:nvSpPr>
          <p:cNvPr id="123" name=""/>
          <p:cNvSpPr/>
          <p:nvPr/>
        </p:nvSpPr>
        <p:spPr>
          <a:xfrm>
            <a:off x="648000" y="31644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Act 5, the tagged finding</a:t>
            </a:r>
            <a:endParaRPr b="0" lang="en-US" sz="1600" spc="-1" strike="noStrike">
              <a:solidFill>
                <a:srgbClr val="000000"/>
              </a:solidFill>
              <a:latin typeface="Arial"/>
            </a:endParaRPr>
          </a:p>
        </p:txBody>
      </p:sp>
      <p:sp>
        <p:nvSpPr>
          <p:cNvPr id="124" name=""/>
          <p:cNvSpPr/>
          <p:nvPr/>
        </p:nvSpPr>
        <p:spPr>
          <a:xfrm>
            <a:off x="5130000" y="31644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Part 2, and how you submit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3400" spc="-1" strike="noStrike">
                <a:solidFill>
                  <a:srgbClr val="0f3d57"/>
                </a:solidFill>
                <a:latin typeface="Arial"/>
              </a:rPr>
              <a:t>A project is not a module</a:t>
            </a:r>
            <a:endParaRPr b="0" lang="en-US" sz="3400" spc="-1" strike="noStrike">
              <a:solidFill>
                <a:srgbClr val="000000"/>
              </a:solidFill>
              <a:latin typeface="Arial"/>
            </a:endParaRPr>
          </a:p>
        </p:txBody>
      </p:sp>
      <p:sp>
        <p:nvSpPr>
          <p:cNvPr id="126"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127" name=""/>
          <p:cNvSpPr/>
          <p:nvPr/>
        </p:nvSpPr>
        <p:spPr>
          <a:xfrm>
            <a:off x="576000" y="1530000"/>
            <a:ext cx="8927640" cy="323640"/>
          </a:xfrm>
          <a:prstGeom prst="rect">
            <a:avLst/>
          </a:prstGeom>
          <a:solidFill>
            <a:srgbClr val="0f3d57"/>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8" name=""/>
          <p:cNvSpPr/>
          <p:nvPr/>
        </p:nvSpPr>
        <p:spPr>
          <a:xfrm>
            <a:off x="648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A module</a:t>
            </a:r>
            <a:endParaRPr b="0" lang="en-US" sz="1600" spc="-1" strike="noStrike">
              <a:solidFill>
                <a:srgbClr val="000000"/>
              </a:solidFill>
              <a:latin typeface="Arial"/>
            </a:endParaRPr>
          </a:p>
        </p:txBody>
      </p:sp>
      <p:sp>
        <p:nvSpPr>
          <p:cNvPr id="129" name=""/>
          <p:cNvSpPr/>
          <p:nvPr/>
        </p:nvSpPr>
        <p:spPr>
          <a:xfrm>
            <a:off x="5130000" y="1573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ffffff"/>
                </a:solidFill>
                <a:latin typeface="Arial"/>
              </a:rPr>
              <a:t>A project</a:t>
            </a:r>
            <a:endParaRPr b="0" lang="en-US" sz="1600" spc="-1" strike="noStrike">
              <a:solidFill>
                <a:srgbClr val="000000"/>
              </a:solidFill>
              <a:latin typeface="Arial"/>
            </a:endParaRPr>
          </a:p>
        </p:txBody>
      </p:sp>
      <p:sp>
        <p:nvSpPr>
          <p:cNvPr id="130" name=""/>
          <p:cNvSpPr/>
          <p:nvPr/>
        </p:nvSpPr>
        <p:spPr>
          <a:xfrm>
            <a:off x="648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The work is handed to you, in order</a:t>
            </a:r>
            <a:endParaRPr b="0" lang="en-US" sz="1600" spc="-1" strike="noStrike">
              <a:solidFill>
                <a:srgbClr val="000000"/>
              </a:solidFill>
              <a:latin typeface="Arial"/>
            </a:endParaRPr>
          </a:p>
        </p:txBody>
      </p:sp>
      <p:sp>
        <p:nvSpPr>
          <p:cNvPr id="131" name=""/>
          <p:cNvSpPr/>
          <p:nvPr/>
        </p:nvSpPr>
        <p:spPr>
          <a:xfrm>
            <a:off x="5130000" y="19260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You choose the subject and the steps</a:t>
            </a:r>
            <a:endParaRPr b="0" lang="en-US" sz="1600" spc="-1" strike="noStrike">
              <a:solidFill>
                <a:srgbClr val="000000"/>
              </a:solidFill>
              <a:latin typeface="Arial"/>
            </a:endParaRPr>
          </a:p>
        </p:txBody>
      </p:sp>
      <p:sp>
        <p:nvSpPr>
          <p:cNvPr id="132" name=""/>
          <p:cNvSpPr/>
          <p:nvPr/>
        </p:nvSpPr>
        <p:spPr>
          <a:xfrm>
            <a:off x="576000" y="21996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3" name=""/>
          <p:cNvSpPr/>
          <p:nvPr/>
        </p:nvSpPr>
        <p:spPr>
          <a:xfrm>
            <a:off x="648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One week, one session</a:t>
            </a:r>
            <a:endParaRPr b="0" lang="en-US" sz="1600" spc="-1" strike="noStrike">
              <a:solidFill>
                <a:srgbClr val="000000"/>
              </a:solidFill>
              <a:latin typeface="Arial"/>
            </a:endParaRPr>
          </a:p>
        </p:txBody>
      </p:sp>
      <p:sp>
        <p:nvSpPr>
          <p:cNvPr id="134" name=""/>
          <p:cNvSpPr/>
          <p:nvPr/>
        </p:nvSpPr>
        <p:spPr>
          <a:xfrm>
            <a:off x="5130000" y="22356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Two weeks, no session in between</a:t>
            </a:r>
            <a:endParaRPr b="0" lang="en-US" sz="1600" spc="-1" strike="noStrike">
              <a:solidFill>
                <a:srgbClr val="000000"/>
              </a:solidFill>
              <a:latin typeface="Arial"/>
            </a:endParaRPr>
          </a:p>
        </p:txBody>
      </p:sp>
      <p:sp>
        <p:nvSpPr>
          <p:cNvPr id="135" name=""/>
          <p:cNvSpPr/>
          <p:nvPr/>
        </p:nvSpPr>
        <p:spPr>
          <a:xfrm>
            <a:off x="648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Checks say what is looked at</a:t>
            </a:r>
            <a:endParaRPr b="0" lang="en-US" sz="1600" spc="-1" strike="noStrike">
              <a:solidFill>
                <a:srgbClr val="000000"/>
              </a:solidFill>
              <a:latin typeface="Arial"/>
            </a:endParaRPr>
          </a:p>
        </p:txBody>
      </p:sp>
      <p:sp>
        <p:nvSpPr>
          <p:cNvPr id="136" name=""/>
          <p:cNvSpPr/>
          <p:nvPr/>
        </p:nvSpPr>
        <p:spPr>
          <a:xfrm>
            <a:off x="5130000" y="25452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111418"/>
                </a:solidFill>
                <a:latin typeface="Arial"/>
              </a:rPr>
              <a:t>Components say what is weighted</a:t>
            </a:r>
            <a:endParaRPr b="0" lang="en-US" sz="1600" spc="-1" strike="noStrike">
              <a:solidFill>
                <a:srgbClr val="000000"/>
              </a:solidFill>
              <a:latin typeface="Arial"/>
            </a:endParaRPr>
          </a:p>
        </p:txBody>
      </p:sp>
      <p:sp>
        <p:nvSpPr>
          <p:cNvPr id="137" name=""/>
          <p:cNvSpPr/>
          <p:nvPr/>
        </p:nvSpPr>
        <p:spPr>
          <a:xfrm>
            <a:off x="576000" y="2818800"/>
            <a:ext cx="8927640" cy="309240"/>
          </a:xfrm>
          <a:prstGeom prst="rect">
            <a:avLst/>
          </a:prstGeom>
          <a:solidFill>
            <a:srgbClr val="eff1e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8" name=""/>
          <p:cNvSpPr/>
          <p:nvPr/>
        </p:nvSpPr>
        <p:spPr>
          <a:xfrm>
            <a:off x="576000" y="2804400"/>
            <a:ext cx="8927640" cy="21240"/>
          </a:xfrm>
          <a:prstGeom prst="rect">
            <a:avLst/>
          </a:prstGeom>
          <a:solidFill>
            <a:srgbClr val="0f3d57"/>
          </a:solidFill>
          <a:ln w="0">
            <a:noFill/>
          </a:ln>
        </p:spPr>
        <p:style>
          <a:lnRef idx="0"/>
          <a:fillRef idx="0"/>
          <a:effectRef idx="0"/>
          <a:fontRef idx="minor"/>
        </p:style>
        <p:txBody>
          <a:bodyPr lIns="90000" rIns="90000" tIns="-23400" bIns="-23400" anchor="t">
            <a:noAutofit/>
          </a:bodyPr>
          <a:p>
            <a:pPr>
              <a:lnSpc>
                <a:spcPct val="100000"/>
              </a:lnSpc>
            </a:pPr>
            <a:endParaRPr b="0" lang="en-US" sz="1800" spc="-1" strike="noStrike">
              <a:solidFill>
                <a:srgbClr val="ffffff"/>
              </a:solidFill>
              <a:latin typeface="Arial"/>
            </a:endParaRPr>
          </a:p>
        </p:txBody>
      </p:sp>
      <p:sp>
        <p:nvSpPr>
          <p:cNvPr id="139" name=""/>
          <p:cNvSpPr/>
          <p:nvPr/>
        </p:nvSpPr>
        <p:spPr>
          <a:xfrm>
            <a:off x="648000" y="28548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Done means the acts are done</a:t>
            </a:r>
            <a:endParaRPr b="0" lang="en-US" sz="1600" spc="-1" strike="noStrike">
              <a:solidFill>
                <a:srgbClr val="000000"/>
              </a:solidFill>
              <a:latin typeface="Arial"/>
            </a:endParaRPr>
          </a:p>
        </p:txBody>
      </p:sp>
      <p:sp>
        <p:nvSpPr>
          <p:cNvPr id="140" name=""/>
          <p:cNvSpPr/>
          <p:nvPr/>
        </p:nvSpPr>
        <p:spPr>
          <a:xfrm>
            <a:off x="5130000" y="2854800"/>
            <a:ext cx="4301640" cy="315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600" spc="-1" strike="noStrike">
                <a:solidFill>
                  <a:srgbClr val="0f3d57"/>
                </a:solidFill>
                <a:latin typeface="Arial"/>
              </a:rPr>
              <a:t>Done means you defined done, and met it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Three things the project requires</a:t>
            </a:r>
            <a:endParaRPr b="0" lang="en-US" sz="4000" spc="-1" strike="noStrike">
              <a:solidFill>
                <a:srgbClr val="000000"/>
              </a:solidFill>
              <a:latin typeface="Arial"/>
            </a:endParaRPr>
          </a:p>
        </p:txBody>
      </p:sp>
      <p:sp>
        <p:nvSpPr>
          <p:cNvPr id="142"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143"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 **Project**, and the read-back proving it applies your instructions.</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An **output contract**, written before you see any output.</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 **Skill** that passes the reuse test.</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It all lands in **`project-01/`**, on a branch, reviewed.</a:t>
            </a:r>
            <a:endParaRPr b="0" lang="en-US" sz="2400" spc="-1" strike="noStrike">
              <a:solidFill>
                <a:srgbClr val="000000"/>
              </a:solidFill>
              <a:latin typeface="Arial"/>
            </a:endParaRPr>
          </a:p>
          <a:p>
            <a:pPr>
              <a:lnSpc>
                <a:spcPct val="100000"/>
              </a:lnSpc>
            </a:pPr>
            <a:r>
              <a:rPr b="0" lang="en-US" sz="2000" spc="-1" strike="noStrike">
                <a:solidFill>
                  <a:srgbClr val="252c36"/>
                </a:solidFill>
                <a:latin typeface="Arial"/>
              </a:rPr>
              <a:t>– </a:t>
            </a:r>
            <a:r>
              <a:rPr b="0" lang="en-US" sz="2000" spc="-1" strike="noStrike">
                <a:solidFill>
                  <a:srgbClr val="252c36"/>
                </a:solidFill>
                <a:latin typeface="Arial"/>
              </a:rPr>
              <a:t>Explained in the reference document. Read it before you start.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p:nvPr/>
        </p:nvSpPr>
        <p:spPr>
          <a:xfrm>
            <a:off x="648000" y="378000"/>
            <a:ext cx="8783640" cy="791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4000" spc="-1" strike="noStrike">
                <a:solidFill>
                  <a:srgbClr val="0f3d57"/>
                </a:solidFill>
                <a:latin typeface="Arial"/>
              </a:rPr>
              <a:t>Before you finish</a:t>
            </a:r>
            <a:endParaRPr b="0" lang="en-US" sz="4000" spc="-1" strike="noStrike">
              <a:solidFill>
                <a:srgbClr val="000000"/>
              </a:solidFill>
              <a:latin typeface="Arial"/>
            </a:endParaRPr>
          </a:p>
        </p:txBody>
      </p:sp>
      <p:sp>
        <p:nvSpPr>
          <p:cNvPr id="145" name=""/>
          <p:cNvSpPr/>
          <p:nvPr/>
        </p:nvSpPr>
        <p:spPr>
          <a:xfrm>
            <a:off x="648000" y="1242000"/>
            <a:ext cx="1799640" cy="35640"/>
          </a:xfrm>
          <a:prstGeom prst="rect">
            <a:avLst/>
          </a:prstGeom>
          <a:solidFill>
            <a:srgbClr val="0f3d57"/>
          </a:solidFill>
          <a:ln w="0">
            <a:noFill/>
          </a:ln>
        </p:spPr>
        <p:style>
          <a:lnRef idx="0"/>
          <a:fillRef idx="0"/>
          <a:effectRef idx="0"/>
          <a:fontRef idx="minor"/>
        </p:style>
        <p:txBody>
          <a:bodyPr lIns="90000" rIns="90000" tIns="-9000" bIns="-9000" anchor="t">
            <a:noAutofit/>
          </a:bodyPr>
          <a:p>
            <a:pPr>
              <a:lnSpc>
                <a:spcPct val="100000"/>
              </a:lnSpc>
            </a:pPr>
            <a:endParaRPr b="0" lang="en-US" sz="1800" spc="-1" strike="noStrike">
              <a:solidFill>
                <a:srgbClr val="ffffff"/>
              </a:solidFill>
              <a:latin typeface="Arial"/>
            </a:endParaRPr>
          </a:p>
        </p:txBody>
      </p:sp>
      <p:sp>
        <p:nvSpPr>
          <p:cNvPr id="146" name=""/>
          <p:cNvSpPr/>
          <p:nvPr/>
        </p:nvSpPr>
        <p:spPr>
          <a:xfrm>
            <a:off x="648000" y="1530000"/>
            <a:ext cx="8783640" cy="37796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**All of today is due Thursday 17 September, 9:00 pm.** Lab, journal, survey.</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Journal entry three. Eight headings, graded on whether you engaged with the question.</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The survey. Not graded, and it is the baseline every later one compares against.</a:t>
            </a:r>
            <a:endParaRPr b="0" lang="en-US" sz="2400" spc="-1" strike="noStrike">
              <a:solidFill>
                <a:srgbClr val="000000"/>
              </a:solidFill>
              <a:latin typeface="Arial"/>
            </a:endParaRPr>
          </a:p>
          <a:p>
            <a:pPr>
              <a:lnSpc>
                <a:spcPct val="100000"/>
              </a:lnSpc>
            </a:pPr>
            <a:endParaRPr b="0" lang="en-US" sz="2400" spc="-1" strike="noStrike">
              <a:solidFill>
                <a:srgbClr val="000000"/>
              </a:solidFill>
              <a:latin typeface="Arial"/>
            </a:endParaRPr>
          </a:p>
          <a:p>
            <a:pPr>
              <a:lnSpc>
                <a:spcPct val="100000"/>
              </a:lnSpc>
            </a:pPr>
            <a:r>
              <a:rPr b="0" lang="en-US" sz="2400" spc="-1" strike="noStrike">
                <a:solidFill>
                  <a:srgbClr val="111418"/>
                </a:solidFill>
                <a:latin typeface="Arial"/>
              </a:rPr>
              <a:t>• </a:t>
            </a:r>
            <a:r>
              <a:rPr b="0" lang="en-US" sz="2400" spc="-1" strike="noStrike">
                <a:solidFill>
                  <a:srgbClr val="111418"/>
                </a:solidFill>
                <a:latin typeface="Arial"/>
              </a:rPr>
              <a:t>Everything lands in `module_03/` on a branch, in a pull request with a reviewer.</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2026-09-10T20:29:02Z</dcterms:modified>
  <cp:revision>1</cp:revision>
  <dc:subject/>
  <dc:title/>
</cp:coreProperties>
</file>

<file path=docProps/custom.xml><?xml version="1.0" encoding="utf-8"?>
<Properties xmlns="http://schemas.openxmlformats.org/officeDocument/2006/custom-properties" xmlns:vt="http://schemas.openxmlformats.org/officeDocument/2006/docPropsVTypes"/>
</file>