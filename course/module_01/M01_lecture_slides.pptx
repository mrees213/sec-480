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34.xml" ContentType="application/vnd.openxmlformats-officedocument.presentationml.slide+xml"/>
  <Override PartName="/ppt/slides/slide23.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_rels/slide16.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17.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35.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37.xml.rels" ContentType="application/vnd.openxmlformats-package.relationships+xml"/>
  <Override PartName="/ppt/slides/_rels/slide2.xml.rels" ContentType="application/vnd.openxmlformats-package.relationships+xml"/>
  <Override PartName="/ppt/slides/_rels/slide38.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slide38.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notesSlides/_rels/notesSlide21.xml.rels" ContentType="application/vnd.openxmlformats-package.relationships+xml"/>
  <Override PartName="/ppt/notesSlides/_rels/notesSlide19.xml.rels" ContentType="application/vnd.openxmlformats-package.relationships+xml"/>
  <Override PartName="/ppt/notesSlides/_rels/notesSlide5.xml.rels" ContentType="application/vnd.openxmlformats-package.relationships+xml"/>
  <Override PartName="/ppt/notesSlides/_rels/notesSlide14.xml.rels" ContentType="application/vnd.openxmlformats-package.relationships+xml"/>
  <Override PartName="/ppt/notesSlides/_rels/notesSlide20.xml.rels" ContentType="application/vnd.openxmlformats-package.relationships+xml"/>
  <Override PartName="/ppt/notesSlides/_rels/notesSlide18.xml.rels" ContentType="application/vnd.openxmlformats-package.relationships+xml"/>
  <Override PartName="/ppt/notesSlides/_rels/notesSlide9.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33.xml.rels" ContentType="application/vnd.openxmlformats-package.relationships+xml"/>
  <Override PartName="/ppt/notesSlides/_rels/notesSlide32.xml.rels" ContentType="application/vnd.openxmlformats-package.relationships+xml"/>
  <Override PartName="/ppt/notesSlides/_rels/notesSlide29.xml.rels" ContentType="application/vnd.openxmlformats-package.relationships+xml"/>
  <Override PartName="/ppt/notesSlides/_rels/notesSlide31.xml.rels" ContentType="application/vnd.openxmlformats-package.relationships+xml"/>
  <Override PartName="/ppt/notesSlides/_rels/notesSlide28.xml.rels" ContentType="application/vnd.openxmlformats-package.relationships+xml"/>
  <Override PartName="/ppt/notesSlides/_rels/notesSlide30.xml.rels" ContentType="application/vnd.openxmlformats-package.relationships+xml"/>
  <Override PartName="/ppt/notesSlides/_rels/notesSlide34.xml.rels" ContentType="application/vnd.openxmlformats-package.relationships+xml"/>
  <Override PartName="/ppt/notesSlides/_rels/notesSlide22.xml.rels" ContentType="application/vnd.openxmlformats-package.relationships+xml"/>
  <Override PartName="/ppt/notesSlides/_rels/notesSlide35.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36.xml.rels" ContentType="application/vnd.openxmlformats-package.relationships+xml"/>
  <Override PartName="/ppt/notesSlides/_rels/notesSlide37.xml.rels" ContentType="application/vnd.openxmlformats-package.relationships+xml"/>
  <Override PartName="/ppt/notesSlides/_rels/notesSlide38.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10.xml.rels" ContentType="application/vnd.openxmlformats-package.relationships+xml"/>
  <Override PartName="/ppt/notesSlides/_rels/notesSlide1.xml.rels" ContentType="application/vnd.openxmlformats-package.relationships+xml"/>
  <Override PartName="/ppt/notesSlides/_rels/notesSlide27.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5.xml" ContentType="application/vnd.openxmlformats-officedocument.presentationml.notesSlide+xml"/>
  <Override PartName="/ppt/notesSlides/notesSlide8.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3.xml" ContentType="application/vnd.openxmlformats-officedocument.presentationml.notesSlide+xml"/>
  <Override PartName="/ppt/notesSlides/notesSlide6.xml" ContentType="application/vnd.openxmlformats-officedocument.presentationml.notesSlide+xml"/>
  <Override PartName="/ppt/notesSlides/notesSlide30.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22.xml" ContentType="application/vnd.openxmlformats-officedocument.presentationml.notesSlide+xml"/>
  <Override PartName="/ppt/notesSlides/notesSlide5.xml" ContentType="application/vnd.openxmlformats-officedocument.presentationml.notesSlide+xml"/>
  <Override PartName="/ppt/notesSlides/notesSlide10.xml" ContentType="application/vnd.openxmlformats-officedocument.presentationml.notesSlide+xml"/>
  <Override PartName="/ppt/notesSlides/notesSlide34.xml" ContentType="application/vnd.openxmlformats-officedocument.presentationml.notesSlide+xml"/>
  <Override PartName="/ppt/notesSlides/notesSlide11.xml" ContentType="application/vnd.openxmlformats-officedocument.presentationml.notesSlide+xml"/>
  <Override PartName="/ppt/notesSlides/notesSlide35.xml" ContentType="application/vnd.openxmlformats-officedocument.presentationml.notesSlide+xml"/>
  <Override PartName="/ppt/notesSlides/notesSlide12.xml" ContentType="application/vnd.openxmlformats-officedocument.presentationml.notesSlide+xml"/>
  <Override PartName="/ppt/notesSlides/notesSlide36.xml" ContentType="application/vnd.openxmlformats-officedocument.presentationml.notesSlide+xml"/>
  <Override PartName="/ppt/notesSlides/notesSlide13.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1.xml" ContentType="application/vnd.openxmlformats-officedocument.presentationml.notesSlide+xml"/>
  <Override PartName="/ppt/notesSlides/notesSlide27.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21.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Lst>
  <p:sldSz cx="10080625" cy="567055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8"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9"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10" name="PlaceHolder 4"/>
          <p:cNvSpPr>
            <a:spLocks noGrp="1"/>
          </p:cNvSpPr>
          <p:nvPr>
            <p:ph type="dt" idx="4"/>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1" name="PlaceHolder 5"/>
          <p:cNvSpPr>
            <a:spLocks noGrp="1"/>
          </p:cNvSpPr>
          <p:nvPr>
            <p:ph type="ftr" idx="5"/>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2" name="PlaceHolder 6"/>
          <p:cNvSpPr>
            <a:spLocks noGrp="1"/>
          </p:cNvSpPr>
          <p:nvPr>
            <p:ph type="sldNum" idx="6"/>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29140C88-3727-4FA0-A1E5-F389F3D64601}"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Office Ireland 214c. Email through Canvas or jeastman@champlain.edu.</a:t>
            </a:r>
            <a:endParaRPr b="0" lang="en-US" sz="12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Go around the room, roughly 20 seconds each. Write down anything usable as an example later: a sport, a car, a job, a hometown. This is raw material for the personalization that runs all term. The third bullet is there to get something other than "I play video games".</a:t>
            </a:r>
            <a:endParaRPr b="0" lang="en-US" sz="12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Your turn. Keep it short and human. Worth including: how long you have taught here, what you do outside teaching, and one thing you are bad at. The last one buys more credibility than the first two.</a:t>
            </a:r>
            <a:endParaRPr b="0" lang="en-US" sz="12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Three sentences: what you will do, where you will do it, and why it matters. The third is the one to land. Anyone can operate these tools; the course is about evaluating the output.</a:t>
            </a:r>
            <a:endParaRPr b="0" lang="en-US" sz="12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The title is a link: clicking it opens the syllabus PDF from this machine, so you can walk the real document rather than a summary of it. If the file ever moves, the link is built from an absolute path in M01_deck.py and has to be updated there.</a:t>
            </a:r>
            <a:endParaRPr b="0" lang="en-US" sz="1200" spc="-1" strike="noStrike">
              <a:solidFill>
                <a:srgbClr val="000000"/>
              </a:solidFill>
              <a:latin typeface="Arial"/>
            </a:endParaRPr>
          </a:p>
          <a:p>
            <a:r>
              <a:rPr b="0" lang="en-US" sz="1200" spc="-1" strike="noStrike">
                <a:solidFill>
                  <a:srgbClr val="252c36"/>
                </a:solidFill>
                <a:latin typeface="Arial"/>
              </a:rPr>
              <a:t>Walk the syllabus on screen rather than on this slide. Cover: 13 modules, one session a week, three units then the final project, milestones as the graded unit, the technical journal, and the AI policy adjustment. Say plainly that AI use is assumed and not cited, and that what is required instead is visible working.</a:t>
            </a:r>
            <a:endParaRPr b="0" lang="en-US" sz="12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Projects are off this slide on purpose. Due dates and assignment points live in the syllabus and on the board, not in the outline, so the outline stays about subject matter.</a:t>
            </a:r>
            <a:endParaRPr b="0" lang="en-US" sz="12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The escalation is deliberate and worth saying out loud: the modules get harder inside a unit, and the units get harder across the term, and the weights follow the difficulty. A milestone holds every issue from its three modules, not just the project, so closing it means the unit is genuinely finished.</a:t>
            </a:r>
            <a:endParaRPr b="0" lang="en-US" sz="12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Do not lecture yet. Take answers. The third question opens the section, because it leads into capital, data centers, and why every large company shipped an assistant in the same eighteen months.</a:t>
            </a:r>
            <a:endParaRPr b="0" lang="en-US" sz="12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Turing, "Computing Machinery and Intelligence", Mind, 1950. The Dartmouth Summer Research Project on Artificial Intelligence, 1956. Lighthill Report, 1973, is the usual marker for the first winter. Pattern worth naming out loud: enthusiasm, overreach, retrenchment, quiet progress.</a:t>
            </a:r>
            <a:endParaRPr b="0" lang="en-US" sz="12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Two things you asked about. ImageNet is a labeled image dataset, and its annual competition, ILSVRC, ran from 2010; AlexNet won the 2012 edition, which is the result that moved the field. And "the bet changes" was my phrasing, not a term of art, so it is gone: the real claim is that the rules are inferred from examples rather than written by hand.</a:t>
            </a:r>
            <a:endParaRPr b="0" lang="en-US" sz="1200" spc="-1" strike="noStrike">
              <a:solidFill>
                <a:srgbClr val="000000"/>
              </a:solidFill>
              <a:latin typeface="Arial"/>
            </a:endParaRPr>
          </a:p>
          <a:p>
            <a:r>
              <a:rPr b="0" lang="en-US" sz="1200" spc="-1" strike="noStrike">
                <a:solidFill>
                  <a:srgbClr val="252c36"/>
                </a:solidFill>
                <a:latin typeface="Arial"/>
              </a:rPr>
              <a:t>Krizhevsky, Sutskever, Hinton, NeurIPS 2012. Sutskever appears again in the OpenAI story.</a:t>
            </a:r>
            <a:endParaRPr b="0" lang="en-US" sz="12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The relationship to make explicit, since it is the usual confusion: GPT-1 through 3 are models, ChatGPT is a product wrapped around one of them. Nothing fundamental changed in November 2022 except access.</a:t>
            </a:r>
            <a:endParaRPr b="0" lang="en-US" sz="12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Musk left the board in 2018 and later sued; that dispute is separate from the firing story on the next slides. OpenAI has the corporate history if anyone wants it.</a:t>
            </a:r>
            <a:endParaRPr b="0" lang="en-US" sz="1200" spc="-1" strike="noStrike">
              <a:solidFill>
                <a:srgbClr val="000000"/>
              </a:solidFill>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Codex is the direct link to the Copilot slides later: same lab, different company shipping it.</a:t>
            </a:r>
            <a:endParaRPr b="0" lang="en-US" sz="12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Sequence and dates: removal announced 17 November 2023, reinstatement agreed 21 to 22 November. The employee letter figure of roughly 700 of 770 is widely reported. Ilya Sutskever, a board member, initially supported the removal and later said he regretted it.</a:t>
            </a:r>
            <a:endParaRPr b="0" lang="en-US" sz="1200" spc="-1" strike="noStrike">
              <a:solidFill>
                <a:srgbClr val="000000"/>
              </a:solidFill>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Keep this framed as structure rather than gossip. The point for this course is that governance and incentives shape the tools students will use, which is why the syllabus has an AI policy section at all.</a:t>
            </a:r>
            <a:endParaRPr b="0" lang="en-US" sz="1200" spc="-1" strike="noStrike">
              <a:solidFill>
                <a:srgbClr val="000000"/>
              </a:solidFill>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Anthropic has the corporate detail. Useful framing: this is a schism, not a startup appearing from nowhere. Daniela Amodei has no separate Wikipedia article, which is why only Dario is linked.</a:t>
            </a:r>
            <a:endParaRPr b="0" lang="en-US" sz="1200" spc="-1" strike="noStrike">
              <a:solidFill>
                <a:srgbClr val="000000"/>
              </a:solidFill>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The three tool environments in this course map onto this line: the web platform, Cowork, and Claude Code. That is the shape of the whole term.</a:t>
            </a:r>
            <a:endParaRPr b="0" lang="en-US" sz="1200" spc="-1" strike="noStrike">
              <a:solidFill>
                <a:srgbClr val="000000"/>
              </a:solidFill>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Amodei's essay "Machines of Loving Grace", 2024, is the readable statement of his optimistic case. His congressional and press comments on risk are the counterweight.</a:t>
            </a:r>
            <a:endParaRPr b="0" lang="en-US" sz="1200" spc="-1" strike="noStrike">
              <a:solidFill>
                <a:srgbClr val="000000"/>
              </a:solidFill>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Bai et al., 2022, for Constitutional AI. Anthropic's Responsible Scaling Policy, first published 2023. Encourage skepticism here rather than brand loyalty; the students will be using this company's product all term.</a:t>
            </a:r>
            <a:endParaRPr b="0" lang="en-US" sz="1200" spc="-1" strike="noStrike">
              <a:solidFill>
                <a:srgbClr val="000000"/>
              </a:solidFill>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The title answers the question directly: Google was first to the research, not first to a product, and Gemini is not the first modern AI. The reported internal reaction to ChatGPT was a "code red". Good discussion prompt: why incumbents hesitate.</a:t>
            </a:r>
            <a:endParaRPr b="0" lang="en-US" sz="1200" spc="-1" strike="noStrike">
              <a:solidFill>
                <a:srgbClr val="000000"/>
              </a:solidFill>
              <a:latin typeface="Arial"/>
            </a:endParaRPr>
          </a:p>
          <a:p>
            <a:r>
              <a:rPr b="0" lang="en-US" sz="1200" spc="-1" strike="noStrike">
                <a:solidFill>
                  <a:srgbClr val="252c36"/>
                </a:solidFill>
                <a:latin typeface="Arial"/>
              </a:rPr>
              <a:t>Numbers appear on the next slide: they count the product and model names in this line, and there are eight of them in three years. That is the point of the count.</a:t>
            </a:r>
            <a:endParaRPr b="0" lang="en-US" sz="1200" spc="-1" strike="noStrike">
              <a:solidFill>
                <a:srgbClr val="000000"/>
              </a:solidFill>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The renaming matters practically: documentation and tutorials written months apart use different names for the same thing, which is a real source of student confusion. The bracketed numbers count product and model names only, which is why Google Brain, DeepMind and Alphabet are not in the count: they are organizations, not products.</a:t>
            </a:r>
            <a:endParaRPr b="0" lang="en-US" sz="1200" spc="-1" strike="noStrike">
              <a:solidFill>
                <a:srgbClr val="000000"/>
              </a:solidFill>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Hassabis shared the 2024 Nobel Prize in Chemistry with John Jumper for AlphaFold, with the other half to David Baker. Do not overstate it: the prize was for protein structure prediction, not language models.</a:t>
            </a:r>
            <a:endParaRPr b="0" lang="en-US" sz="1200" spc="-1" strike="noStrike">
              <a:solidFill>
                <a:srgbClr val="000000"/>
              </a:solidFill>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Keep this short. The last row is the one that matters for this course: a business model shapes a product's defaults, and students should ask what a tool is protecting.</a:t>
            </a:r>
            <a:endParaRPr b="0" lang="en-US" sz="1200" spc="-1" strike="noStrike">
              <a:solidFill>
                <a:srgbClr val="000000"/>
              </a:solidFill>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You asked whether that licensing fight is the same one that has followed modern AI generally. Broadly yes: the same question, asked about different material. Code in 2021, then images, then news text and books. Who owns the training data, whether public means licensed, and whether output derived from it infringes. The Copilot class action was filed in 2022 and it was the opening round rather than a separate dispute.</a:t>
            </a:r>
            <a:endParaRPr b="0" lang="en-US" sz="1200" spc="-1" strike="noStrike">
              <a:solidFill>
                <a:srgbClr val="000000"/>
              </a:solidFill>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Deliberately kept general rather than a case list, because case status changes and a stale slide is worse than a vague one. The Wikipedia overview was checked and resolves; the individual case pages I looked for do not exist, so they are not cited.</a:t>
            </a:r>
            <a:endParaRPr b="0" lang="en-US" sz="1200" spc="-1" strike="noStrike">
              <a:solidFill>
                <a:srgbClr val="000000"/>
              </a:solidFill>
              <a:latin typeface="Arial"/>
            </a:endParaRPr>
          </a:p>
          <a:p>
            <a:r>
              <a:rPr b="0" lang="en-US" sz="1200" spc="-1" strike="noStrike">
                <a:solidFill>
                  <a:srgbClr val="252c36"/>
                </a:solidFill>
                <a:latin typeface="Arial"/>
              </a:rPr>
              <a:t>Named examples if asked: the 2022 GitHub Copilot class action, the New York Times against OpenAI and Microsoft, Getty against Stability, and the music publishers' case against Anthropic over lyrics. Say plainly that you are not a lawyer and neither is the model.</a:t>
            </a:r>
            <a:endParaRPr b="0" lang="en-US" sz="1200" spc="-1" strike="noStrike">
              <a:solidFill>
                <a:srgbClr val="000000"/>
              </a:solidFill>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The February 2023 Bing Chat incidents, including the Kevin Roose transcript in the New York Times, are the canonical example of an assistant going off the rails in public.</a:t>
            </a:r>
            <a:endParaRPr b="0" lang="en-US" sz="1200" spc="-1" strike="noStrike">
              <a:solidFill>
                <a:srgbClr val="000000"/>
              </a:solidFill>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The Inflection hire in March 2024 is a useful example of an acquisition structured as a hiring deal, a pattern worth naming for students heading into industry.</a:t>
            </a:r>
            <a:endParaRPr b="0" lang="en-US" sz="1200" spc="-1" strike="noStrike">
              <a:solidFill>
                <a:srgbClr val="000000"/>
              </a:solidFill>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Bridge to the labs: the wrapper decides what you can inspect, which is exactly why this course insists on verification rather than trust.</a:t>
            </a:r>
            <a:endParaRPr b="0" lang="en-US" sz="1200" spc="-1" strike="noStrike">
              <a:solidFill>
                <a:srgbClr val="000000"/>
              </a:solidFill>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The teaching point is that safety posture is a product decision with consequences, not a compliance checkbox. Keep it factual rather than a highlight reel, and do not put examples of the output on screen.</a:t>
            </a:r>
            <a:endParaRPr b="0" lang="en-US" sz="1200" spc="-1" strike="noStrike">
              <a:solidFill>
                <a:srgbClr val="000000"/>
              </a:solidFill>
              <a:latin typeface="Arial"/>
            </a:endParaRPr>
          </a:p>
          <a:p>
            <a:r>
              <a:rPr b="0" lang="en-US" sz="1200" spc="-1" strike="noStrike">
                <a:solidFill>
                  <a:srgbClr val="252c36"/>
                </a:solidFill>
                <a:latin typeface="Arial"/>
              </a:rPr>
              <a:t>Worth a quick check before class: these incidents are recent and the list moves. Confirm the current state rather than reading a slide written weeks earlier.</a:t>
            </a:r>
            <a:endParaRPr b="0" lang="en-US" sz="1200" spc="-1" strike="noStrike">
              <a:solidFill>
                <a:srgbClr val="000000"/>
              </a:solidFill>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Two more to say out loud rather than put on the slide. Security: new attack surface, new insider risk, new questions about handling evidence. And the honest one: some of this is a bubble and some of it is not, and telling them apart is a skill worth having.</a:t>
            </a:r>
            <a:endParaRPr b="0" lang="en-US" sz="1200" spc="-1" strike="noStrike">
              <a:solidFill>
                <a:srgbClr val="000000"/>
              </a:solidFill>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This is your window: start the sweep in a terminal you are not projecting, confirm it reports, then minimize it.</a:t>
            </a:r>
            <a:endParaRPr b="0" lang="en-US" sz="1200" spc="-1" strike="noStrike">
              <a:solidFill>
                <a:srgbClr val="000000"/>
              </a:solidFill>
              <a:latin typeface="Arial"/>
            </a:endParaRPr>
          </a:p>
          <a:p>
            <a:endParaRPr b="0" lang="en-US" sz="1200" spc="-1" strike="noStrike">
              <a:solidFill>
                <a:srgbClr val="000000"/>
              </a:solidFill>
              <a:latin typeface="Arial"/>
            </a:endParaRPr>
          </a:p>
          <a:p>
            <a:r>
              <a:rPr b="0" lang="en-US" sz="1200" spc="-1" strike="noStrike">
                <a:solidFill>
                  <a:srgbClr val="252c36"/>
                </a:solidFill>
                <a:latin typeface="Arial"/>
              </a:rPr>
              <a:t>cd sec-480/admin/tools</a:t>
            </a:r>
            <a:endParaRPr b="0" lang="en-US" sz="1200" spc="-1" strike="noStrike">
              <a:solidFill>
                <a:srgbClr val="000000"/>
              </a:solidFill>
              <a:latin typeface="Arial"/>
            </a:endParaRPr>
          </a:p>
          <a:p>
            <a:r>
              <a:rPr b="0" lang="en-US" sz="1200" spc="-1" strike="noStrike">
                <a:solidFill>
                  <a:srgbClr val="252c36"/>
                </a:solidFill>
                <a:latin typeface="Arial"/>
              </a:rPr>
              <a:t>./sweep.py --check --watch 5</a:t>
            </a:r>
            <a:endParaRPr b="0" lang="en-US" sz="1200" spc="-1" strike="noStrike">
              <a:solidFill>
                <a:srgbClr val="000000"/>
              </a:solidFill>
              <a:latin typeface="Arial"/>
            </a:endParaRPr>
          </a:p>
          <a:p>
            <a:endParaRPr b="0" lang="en-US" sz="1200" spc="-1" strike="noStrike">
              <a:solidFill>
                <a:srgbClr val="000000"/>
              </a:solidFill>
              <a:latin typeface="Arial"/>
            </a:endParaRPr>
          </a:p>
          <a:p>
            <a:r>
              <a:rPr b="0" lang="en-US" sz="1200" spc="-1" strike="noStrike">
                <a:solidFill>
                  <a:srgbClr val="252c36"/>
                </a:solidFill>
                <a:latin typeface="Arial"/>
              </a:rPr>
              <a:t>Also worth doing now: write your GitHub username on the board if it is not already up.</a:t>
            </a:r>
            <a:endParaRPr b="0" lang="en-US" sz="1200" spc="-1" strike="noStrike">
              <a:solidFill>
                <a:srgbClr val="000000"/>
              </a:solidFill>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This is the whole session on one slide. Point at it again whenever someone is lost. The two required items are the only hard gate.</a:t>
            </a:r>
            <a:endParaRPr b="0" lang="en-US" sz="1200" spc="-1" strike="noStrike">
              <a:solidFill>
                <a:srgbClr val="000000"/>
              </a:solidFill>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Watch for: reusing an old repository, naming it SEC480 or sec480, and forgetting the README name, which the tooling reads to know who they are.</a:t>
            </a:r>
            <a:endParaRPr b="0" lang="en-US" sz="1200" spc="-1" strike="noStrike">
              <a:solidFill>
                <a:srgbClr val="000000"/>
              </a:solidFill>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Do not explain how the reply works. That is Unit 2 material and it lands harder later. If asked, 'something is watching the repository' is enough.</a:t>
            </a:r>
            <a:endParaRPr b="0" lang="en-US" sz="1200" spc="-1" strike="noStrike">
              <a:solidFill>
                <a:srgbClr val="000000"/>
              </a:solidFill>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The trap: a vague question gets a plausible answer generated from the repository name with nothing read. Hedged or generic answers are failures, not partial successes. Make them retry.</a:t>
            </a:r>
            <a:endParaRPr b="0" lang="en-US" sz="1200" spc="-1" strike="noStrike">
              <a:solidFill>
                <a:srgbClr val="000000"/>
              </a:solidFill>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Say this out loud at the start of the build block. Quiet students will write a file before they raise a hand, and that is the whole reason it exists.</a:t>
            </a:r>
            <a:endParaRPr b="0" lang="en-US" sz="1200" spc="-1" strike="noStrike">
              <a:solidFill>
                <a:srgbClr val="000000"/>
              </a:solidFill>
              <a:latin typeface="Arial"/>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If they build a VM, tell them to sit in the same seat weekly. Rebuilding is ten minutes and everything that matters is in GitHub anyway, which is the lesson underneath.</a:t>
            </a:r>
            <a:endParaRPr b="0" lang="en-US" sz="1200" spc="-1" strike="noStrike">
              <a:solidFill>
                <a:srgbClr val="000000"/>
              </a:solidFill>
              <a:latin typeface="Arial"/>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Leave this slide up for the rest of the session. Confirm the account name on the board as well, because a typo here costs a student a week.</a:t>
            </a:r>
            <a:endParaRPr b="0" lang="en-US" sz="12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FC74A39B-1D8F-4870-90CD-F9632E7924B3}"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52D6753A-0809-4D17-810A-8E3555C416C4}" type="slidenum">
              <a:t>&lt;#&gt;</a:t>
            </a:fld>
          </a:p>
        </p:txBody>
      </p:sp>
      <p:sp>
        <p:nvSpPr>
          <p:cNvPr id="6" name="PlaceHolder 5"/>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
        <p:nvSpPr>
          <p:cNvPr id="2" name="PlaceHolder 3"/>
          <p:cNvSpPr>
            <a:spLocks noGrp="1"/>
          </p:cNvSpPr>
          <p:nvPr>
            <p:ph type="dt" idx="1"/>
          </p:nvPr>
        </p:nvSpPr>
        <p:spPr>
          <a:xfrm>
            <a:off x="504000" y="5165280"/>
            <a:ext cx="2348280" cy="3906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 name="PlaceHolder 4"/>
          <p:cNvSpPr>
            <a:spLocks noGrp="1"/>
          </p:cNvSpPr>
          <p:nvPr>
            <p:ph type="ftr" idx="2"/>
          </p:nvPr>
        </p:nvSpPr>
        <p:spPr>
          <a:xfrm>
            <a:off x="3447360" y="5165280"/>
            <a:ext cx="3195000" cy="390600"/>
          </a:xfrm>
          <a:prstGeom prst="rect">
            <a:avLst/>
          </a:prstGeom>
          <a:noFill/>
          <a:ln w="0">
            <a:noFill/>
          </a:ln>
        </p:spPr>
        <p:txBody>
          <a:bodyPr lIns="0" rIns="0" tIns="0" bIns="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 name="PlaceHolder 5"/>
          <p:cNvSpPr>
            <a:spLocks noGrp="1"/>
          </p:cNvSpPr>
          <p:nvPr>
            <p:ph type="sldNum" idx="3"/>
          </p:nvPr>
        </p:nvSpPr>
        <p:spPr>
          <a:xfrm>
            <a:off x="7227360" y="5165280"/>
            <a:ext cx="2348280" cy="39060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fld id="{40515246-2B81-4EA0-B02D-00DECBBE7D5F}"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 Id="rId3" Type="http://schemas.openxmlformats.org/officeDocument/2006/relationships/hyperlink" Target="file:///home/test/Downloads/ai_depot/01_claude_os/01_class_hq/01_classes_project/sec-480/admin/syllabus.pdf" TargetMode="Externa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 Id="rId3" Type="http://schemas.openxmlformats.org/officeDocument/2006/relationships/hyperlink" Target="https://en.wikipedia.org/wiki/Turing_test" TargetMode="External"/><Relationship Id="rId4" Type="http://schemas.openxmlformats.org/officeDocument/2006/relationships/hyperlink" Target="https://en.wikipedia.org/wiki/Dartmouth_workshop" TargetMode="External"/><Relationship Id="rId5" Type="http://schemas.openxmlformats.org/officeDocument/2006/relationships/hyperlink" Target="https://en.wikipedia.org/wiki/Symbolic_artificial_intelligence" TargetMode="External"/><Relationship Id="rId6" Type="http://schemas.openxmlformats.org/officeDocument/2006/relationships/hyperlink" Target="https://en.wikipedia.org/wiki/Expert_system" TargetMode="External"/><Relationship Id="rId7" Type="http://schemas.openxmlformats.org/officeDocument/2006/relationships/hyperlink" Target="https://en.wikipedia.org/wiki/AI_winter" TargetMode="Externa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 Id="rId3" Type="http://schemas.openxmlformats.org/officeDocument/2006/relationships/hyperlink" Target="https://en.wikipedia.org/wiki/Machine_learning" TargetMode="External"/><Relationship Id="rId4" Type="http://schemas.openxmlformats.org/officeDocument/2006/relationships/hyperlink" Target="https://en.wikipedia.org/wiki/AlexNet" TargetMode="External"/><Relationship Id="rId5" Type="http://schemas.openxmlformats.org/officeDocument/2006/relationships/hyperlink" Target="https://en.wikipedia.org/wiki/ImageNet" TargetMode="External"/><Relationship Id="rId6" Type="http://schemas.openxmlformats.org/officeDocument/2006/relationships/hyperlink" Target="https://en.wikipedia.org/wiki/Graphics_processing_unit" TargetMode="Externa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 Id="rId3" Type="http://schemas.openxmlformats.org/officeDocument/2006/relationships/hyperlink" Target="https://arxiv.org/abs/1706.03762" TargetMode="External"/><Relationship Id="rId4" Type="http://schemas.openxmlformats.org/officeDocument/2006/relationships/hyperlink" Target="https://en.wikipedia.org/wiki/Transformer_(deep_learning_architecture)" TargetMode="External"/><Relationship Id="rId5" Type="http://schemas.openxmlformats.org/officeDocument/2006/relationships/hyperlink" Target="https://en.wikipedia.org/wiki/GPT-1" TargetMode="External"/><Relationship Id="rId6" Type="http://schemas.openxmlformats.org/officeDocument/2006/relationships/hyperlink" Target="https://en.wikipedia.org/wiki/GPT-2" TargetMode="External"/><Relationship Id="rId7" Type="http://schemas.openxmlformats.org/officeDocument/2006/relationships/hyperlink" Target="https://en.wikipedia.org/wiki/GPT-3" TargetMode="External"/><Relationship Id="rId8" Type="http://schemas.openxmlformats.org/officeDocument/2006/relationships/hyperlink" Target="https://en.wikipedia.org/wiki/ChatGPT" TargetMode="Externa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 Id="rId3" Type="http://schemas.openxmlformats.org/officeDocument/2006/relationships/hyperlink" Target="https://en.wikipedia.org/wiki/Sam_Altman" TargetMode="External"/><Relationship Id="rId4" Type="http://schemas.openxmlformats.org/officeDocument/2006/relationships/hyperlink" Target="https://en.wikipedia.org/wiki/Elon_Musk" TargetMode="External"/><Relationship Id="rId5" Type="http://schemas.openxmlformats.org/officeDocument/2006/relationships/hyperlink" Target="https://en.wikipedia.org/wiki/Greg_Brockman" TargetMode="External"/><Relationship Id="rId6" Type="http://schemas.openxmlformats.org/officeDocument/2006/relationships/hyperlink" Target="https://en.wikipedia.org/wiki/Ilya_Sutskever" TargetMode="Externa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 Id="rId3" Type="http://schemas.openxmlformats.org/officeDocument/2006/relationships/hyperlink" Target="https://en.wikipedia.org/wiki/OpenAI_Codex" TargetMode="External"/><Relationship Id="rId4" Type="http://schemas.openxmlformats.org/officeDocument/2006/relationships/hyperlink" Target="https://en.wikipedia.org/wiki/ChatGPT" TargetMode="External"/><Relationship Id="rId5" Type="http://schemas.openxmlformats.org/officeDocument/2006/relationships/hyperlink" Target="https://en.wikipedia.org/wiki/GPT-4" TargetMode="Externa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 Id="rId3" Type="http://schemas.openxmlformats.org/officeDocument/2006/relationships/hyperlink" Target="https://en.wikipedia.org/wiki/Dario_Amodei" TargetMode="External"/><Relationship Id="rId4" Type="http://schemas.openxmlformats.org/officeDocument/2006/relationships/hyperlink" Target="https://en.wikipedia.org/wiki/Daniela_Amodei" TargetMode="External"/><Relationship Id="rId5" Type="http://schemas.openxmlformats.org/officeDocument/2006/relationships/hyperlink" Target="https://en.wikipedia.org/wiki/Benefit_corporation" TargetMode="Externa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 Id="rId3" Type="http://schemas.openxmlformats.org/officeDocument/2006/relationships/hyperlink" Target="https://en.wikipedia.org/wiki/Claude_(language_model)" TargetMode="External"/><Relationship Id="rId4" Type="http://schemas.openxmlformats.org/officeDocument/2006/relationships/hyperlink" Target="https://en.wikipedia.org/wiki/Context_window" TargetMode="Externa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 Id="rId3" Type="http://schemas.openxmlformats.org/officeDocument/2006/relationships/hyperlink" Target="https://arxiv.org/abs/2212.08073" TargetMode="External"/><Relationship Id="rId4" Type="http://schemas.openxmlformats.org/officeDocument/2006/relationships/hyperlink" Target="https://en.wikipedia.org/wiki/Software_agent" TargetMode="Externa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 Id="rId3" Type="http://schemas.openxmlformats.org/officeDocument/2006/relationships/hyperlink" Target="https://en.wikipedia.org/wiki/Google_Brain" TargetMode="External"/><Relationship Id="rId4" Type="http://schemas.openxmlformats.org/officeDocument/2006/relationships/hyperlink" Target="https://en.wikipedia.org/wiki/Go_(game)" TargetMode="External"/><Relationship Id="rId5" Type="http://schemas.openxmlformats.org/officeDocument/2006/relationships/hyperlink" Target="https://en.wikipedia.org/wiki/Google_DeepMind" TargetMode="External"/><Relationship Id="rId6" Type="http://schemas.openxmlformats.org/officeDocument/2006/relationships/hyperlink" Target="https://en.wikipedia.org/wiki/AlphaGo" TargetMode="Externa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 Id="rId3" Type="http://schemas.openxmlformats.org/officeDocument/2006/relationships/hyperlink" Target="https://en.wikipedia.org/wiki/Gemini_(chatbot)" TargetMode="External"/><Relationship Id="rId4" Type="http://schemas.openxmlformats.org/officeDocument/2006/relationships/hyperlink" Target="https://en.wikipedia.org/wiki/Gemini_(language_model)" TargetMode="External"/><Relationship Id="rId5" Type="http://schemas.openxmlformats.org/officeDocument/2006/relationships/hyperlink" Target="https://en.wikipedia.org/wiki/LaMDA" TargetMode="External"/><Relationship Id="rId6" Type="http://schemas.openxmlformats.org/officeDocument/2006/relationships/hyperlink" Target="https://en.wikipedia.org/wiki/PaLM" TargetMode="External"/></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 Id="rId3" Type="http://schemas.openxmlformats.org/officeDocument/2006/relationships/hyperlink" Target="https://en.wikipedia.org/wiki/Sundar_Pichai" TargetMode="External"/><Relationship Id="rId4" Type="http://schemas.openxmlformats.org/officeDocument/2006/relationships/hyperlink" Target="https://en.wikipedia.org/wiki/Alphabet_Inc." TargetMode="External"/><Relationship Id="rId5" Type="http://schemas.openxmlformats.org/officeDocument/2006/relationships/hyperlink" Target="https://en.wikipedia.org/wiki/Demis_Hassabis" TargetMode="External"/></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 Id="rId3" Type="http://schemas.openxmlformats.org/officeDocument/2006/relationships/hyperlink" Target="https://en.wikipedia.org/wiki/GitHub_Copilot" TargetMode="External"/><Relationship Id="rId4" Type="http://schemas.openxmlformats.org/officeDocument/2006/relationships/hyperlink" Target="https://en.wikipedia.org/wiki/OpenAI_Codex" TargetMode="External"/></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 Id="rId3" Type="http://schemas.openxmlformats.org/officeDocument/2006/relationships/hyperlink" Target="https://en.wikipedia.org/wiki/Artificial_intelligence_and_copyright" TargetMode="External"/></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 Id="rId3" Type="http://schemas.openxmlformats.org/officeDocument/2006/relationships/hyperlink" Target="https://en.wikipedia.org/wiki/Microsoft_Copilot" TargetMode="External"/></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 Id="rId3" Type="http://schemas.openxmlformats.org/officeDocument/2006/relationships/hyperlink" Target="https://en.wikipedia.org/wiki/Satya_Nadella" TargetMode="External"/><Relationship Id="rId4" Type="http://schemas.openxmlformats.org/officeDocument/2006/relationships/hyperlink" Target="https://en.wikipedia.org/wiki/Mustafa_Suleyman" TargetMode="External"/><Relationship Id="rId5" Type="http://schemas.openxmlformats.org/officeDocument/2006/relationships/hyperlink" Target="https://en.wikipedia.org/wiki/Inflection_AI" TargetMode="External"/></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 Id="rId3" Type="http://schemas.openxmlformats.org/officeDocument/2006/relationships/hyperlink" Target="https://en.wikipedia.org/wiki/XAI_(company)" TargetMode="External"/><Relationship Id="rId4" Type="http://schemas.openxmlformats.org/officeDocument/2006/relationships/hyperlink" Target="https://en.wikipedia.org/wiki/Grok_(chatbot)" TargetMode="External"/></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
          <p:cNvSpPr txBox="1"/>
          <p:nvPr/>
        </p:nvSpPr>
        <p:spPr>
          <a:xfrm>
            <a:off x="720000" y="1764000"/>
            <a:ext cx="8640000" cy="936000"/>
          </a:xfrm>
          <a:prstGeom prst="rect">
            <a:avLst/>
          </a:prstGeom>
          <a:noFill/>
          <a:ln w="0">
            <a:noFill/>
          </a:ln>
        </p:spPr>
        <p:txBody>
          <a:bodyPr lIns="90000" rIns="90000" tIns="45000" bIns="45000" anchor="t">
            <a:noAutofit/>
          </a:bodyPr>
          <a:p>
            <a:r>
              <a:rPr b="1" lang="en-US" sz="5000" spc="-1" strike="noStrike">
                <a:solidFill>
                  <a:srgbClr val="0f3d57"/>
                </a:solidFill>
                <a:latin typeface="Arial"/>
              </a:rPr>
              <a:t>SEC 480: Advanced Topics</a:t>
            </a:r>
            <a:endParaRPr b="0" lang="en-US" sz="5000" spc="-1" strike="noStrike">
              <a:solidFill>
                <a:srgbClr val="000000"/>
              </a:solidFill>
              <a:latin typeface="Arial"/>
            </a:endParaRPr>
          </a:p>
        </p:txBody>
      </p:sp>
      <p:sp>
        <p:nvSpPr>
          <p:cNvPr id="14" name=""/>
          <p:cNvSpPr txBox="1"/>
          <p:nvPr/>
        </p:nvSpPr>
        <p:spPr>
          <a:xfrm>
            <a:off x="720000" y="2844000"/>
            <a:ext cx="8640000" cy="1080000"/>
          </a:xfrm>
          <a:prstGeom prst="rect">
            <a:avLst/>
          </a:prstGeom>
          <a:noFill/>
          <a:ln w="0">
            <a:noFill/>
          </a:ln>
        </p:spPr>
        <p:txBody>
          <a:bodyPr lIns="90000" rIns="90000" tIns="45000" bIns="45000" anchor="t">
            <a:noAutofit/>
          </a:bodyPr>
          <a:p>
            <a:r>
              <a:rPr b="0" lang="en-US" sz="2700" spc="-1" strike="noStrike">
                <a:solidFill>
                  <a:srgbClr val="111418"/>
                </a:solidFill>
                <a:latin typeface="Arial"/>
              </a:rPr>
              <a:t>Advanced AI Practicum</a:t>
            </a:r>
            <a:endParaRPr b="0" lang="en-US" sz="2700" spc="-1" strike="noStrike">
              <a:solidFill>
                <a:srgbClr val="000000"/>
              </a:solidFill>
              <a:latin typeface="Arial"/>
            </a:endParaRPr>
          </a:p>
          <a:p>
            <a:r>
              <a:rPr b="0" lang="en-US" sz="2700" spc="-1" strike="noStrike">
                <a:solidFill>
                  <a:srgbClr val="111418"/>
                </a:solidFill>
                <a:latin typeface="Arial"/>
              </a:rPr>
              <a:t>Fall 2026</a:t>
            </a:r>
            <a:endParaRPr b="0" lang="en-US" sz="2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#whoareyou</a:t>
            </a:r>
            <a:endParaRPr b="0" lang="en-US" sz="3400" spc="-1" strike="noStrike">
              <a:solidFill>
                <a:srgbClr val="000000"/>
              </a:solidFill>
              <a:latin typeface="Arial"/>
            </a:endParaRPr>
          </a:p>
        </p:txBody>
      </p:sp>
      <p:sp>
        <p:nvSpPr>
          <p:cNvPr id="16"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7"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Your name, and the city and state you are from</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Hobbies and interests, especially the ones with nothing to do with computers</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Bonus points for anything that sounds like a bad idea in hindsight</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#whoami</a:t>
            </a:r>
            <a:endParaRPr b="0" lang="en-US" sz="3400" spc="-1" strike="noStrike">
              <a:solidFill>
                <a:srgbClr val="000000"/>
              </a:solidFill>
              <a:latin typeface="Arial"/>
            </a:endParaRPr>
          </a:p>
        </p:txBody>
      </p:sp>
      <p:sp>
        <p:nvSpPr>
          <p:cNvPr id="19"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
          <p:cNvSpPr txBox="1"/>
          <p:nvPr/>
        </p:nvSpPr>
        <p:spPr>
          <a:xfrm>
            <a:off x="648000" y="378000"/>
            <a:ext cx="8784000" cy="792000"/>
          </a:xfrm>
          <a:prstGeom prst="rect">
            <a:avLst/>
          </a:prstGeom>
          <a:noFill/>
          <a:ln w="0">
            <a:noFill/>
          </a:ln>
        </p:spPr>
        <p:txBody>
          <a:bodyPr lIns="90000" rIns="90000" tIns="45000" bIns="45000" anchor="t">
            <a:noAutofit/>
          </a:bodyPr>
          <a:p>
            <a:r>
              <a:rPr b="1" lang="en-US" sz="4000" spc="-1" strike="noStrike">
                <a:solidFill>
                  <a:srgbClr val="0f3d57"/>
                </a:solidFill>
                <a:latin typeface="Arial"/>
              </a:rPr>
              <a:t>Advanced AI Practicum</a:t>
            </a:r>
            <a:endParaRPr b="0" lang="en-US" sz="4000" spc="-1" strike="noStrike">
              <a:solidFill>
                <a:srgbClr val="000000"/>
              </a:solidFill>
              <a:latin typeface="Arial"/>
            </a:endParaRPr>
          </a:p>
        </p:txBody>
      </p:sp>
      <p:sp>
        <p:nvSpPr>
          <p:cNvPr id="21"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22" name=""/>
          <p:cNvSpPr txBox="1"/>
          <p:nvPr/>
        </p:nvSpPr>
        <p:spPr>
          <a:xfrm>
            <a:off x="648000" y="1530000"/>
            <a:ext cx="8784000" cy="3780000"/>
          </a:xfrm>
          <a:prstGeom prst="rect">
            <a:avLst/>
          </a:prstGeom>
          <a:noFill/>
          <a:ln w="0">
            <a:noFill/>
          </a:ln>
        </p:spPr>
        <p:txBody>
          <a:bodyPr lIns="90000" rIns="90000" tIns="45000" bIns="45000" anchor="t">
            <a:noAutofit/>
          </a:bodyPr>
          <a:p>
            <a:r>
              <a:rPr b="0" lang="en-US" sz="2700" spc="-1" strike="noStrike">
                <a:solidFill>
                  <a:srgbClr val="111418"/>
                </a:solidFill>
                <a:latin typeface="Arial"/>
              </a:rPr>
              <a:t>You will learn to select, operate, and evaluate current AI platforms in cybersecurity, systems, and forensics work.</a:t>
            </a:r>
            <a:endParaRPr b="0" lang="en-US" sz="2700" spc="-1" strike="noStrike">
              <a:solidFill>
                <a:srgbClr val="000000"/>
              </a:solidFill>
              <a:latin typeface="Arial"/>
            </a:endParaRPr>
          </a:p>
          <a:p>
            <a:r>
              <a:rPr b="0" lang="en-US" sz="2700" spc="-1" strike="noStrike">
                <a:solidFill>
                  <a:srgbClr val="111418"/>
                </a:solidFill>
                <a:latin typeface="Arial"/>
              </a:rPr>
              <a:t>You will work in three progressively more capable environments, on realistic analysis, investigation, and development problems.</a:t>
            </a:r>
            <a:endParaRPr b="0" lang="en-US" sz="2700" spc="-1" strike="noStrike">
              <a:solidFill>
                <a:srgbClr val="000000"/>
              </a:solidFill>
              <a:latin typeface="Arial"/>
            </a:endParaRPr>
          </a:p>
          <a:p>
            <a:r>
              <a:rPr b="0" lang="en-US" sz="2700" spc="-1" strike="noStrike">
                <a:solidFill>
                  <a:srgbClr val="111418"/>
                </a:solidFill>
                <a:latin typeface="Arial"/>
              </a:rPr>
              <a:t>And you will learn to judge what these systems produce, which is the part that lasts.</a:t>
            </a:r>
            <a:endParaRPr b="0" lang="en-US" sz="2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 name=""/>
          <p:cNvSpPr txBox="1"/>
          <p:nvPr/>
        </p:nvSpPr>
        <p:spPr>
          <a:xfrm>
            <a:off x="648000" y="378000"/>
            <a:ext cx="8784000" cy="792000"/>
          </a:xfrm>
          <a:prstGeom prst="rect">
            <a:avLst/>
          </a:prstGeom>
          <a:noFill/>
          <a:ln w="0">
            <a:noFill/>
          </a:ln>
        </p:spPr>
        <p:txBody>
          <a:bodyPr lIns="90000" rIns="90000" tIns="45000" bIns="45000" anchor="t">
            <a:noAutofit/>
          </a:bodyPr>
          <a:p>
            <a:r>
              <a:rPr u="sng" b="1" lang="en-US" sz="3400" spc="-1" strike="noStrike">
                <a:solidFill>
                  <a:srgbClr val="0B4FA0"/>
                </a:solidFill>
                <a:latin typeface="Arial"/>
                <a:hlinkClick xmlns:r="http://schemas.openxmlformats.org/officeDocument/2006/relationships" r:id="rId3"/>
              </a:rPr>
              <a:t>Syllabus</a:t>
            </a:r>
            <a:endParaRPr b="0" lang="en-US" sz="3400" spc="-1" strike="noStrike">
              <a:solidFill>
                <a:srgbClr val="000000"/>
              </a:solidFill>
              <a:latin typeface="Arial"/>
            </a:endParaRPr>
          </a:p>
        </p:txBody>
      </p:sp>
      <p:sp>
        <p:nvSpPr>
          <p:cNvPr id="24"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Course outline</a:t>
            </a:r>
            <a:endParaRPr b="0" lang="en-US" sz="3400" spc="-1" strike="noStrike">
              <a:solidFill>
                <a:srgbClr val="000000"/>
              </a:solidFill>
              <a:latin typeface="Arial"/>
            </a:endParaRPr>
          </a:p>
        </p:txBody>
      </p:sp>
      <p:sp>
        <p:nvSpPr>
          <p:cNvPr id="26"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27" name=""/>
          <p:cNvSpPr txBox="1"/>
          <p:nvPr/>
        </p:nvSpPr>
        <p:spPr>
          <a:xfrm>
            <a:off x="648000" y="1530000"/>
            <a:ext cx="8784000" cy="5991120"/>
          </a:xfrm>
          <a:prstGeom prst="rect">
            <a:avLst/>
          </a:prstGeom>
          <a:noFill/>
          <a:ln w="0">
            <a:noFill/>
          </a:ln>
        </p:spPr>
        <p:txBody>
          <a:bodyPr lIns="90000" rIns="90000" tIns="45000" bIns="45000" anchor="t">
            <a:noAutofit/>
          </a:bodyPr>
          <a:p>
            <a:r>
              <a:rPr b="0" lang="en-US" sz="2000" spc="-1" strike="noStrike">
                <a:solidFill>
                  <a:srgbClr val="111418"/>
                </a:solidFill>
                <a:latin typeface="Arial"/>
              </a:rPr>
              <a:t>• </a:t>
            </a:r>
            <a:r>
              <a:rPr b="0" lang="en-US" sz="2000" spc="-1" strike="noStrike">
                <a:solidFill>
                  <a:srgbClr val="111418"/>
                </a:solidFill>
                <a:latin typeface="Arial"/>
              </a:rPr>
              <a:t>Module 1 · Working agreements, environment, and proving the connections</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Module 2 · Prompting technique and reusable instruction</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Module 3 · Multi-tool chaining, analysis and critique</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Module 4 · Comparative capability and scheduled work</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Module 5 · Orchestration loops and error handling</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Module 6 · Planning at depth and directing quality control</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Module 7 · Interaction modes and where state lives</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Module 8 · Environment structure and context management</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Module 9 · Maintenance, efficiency, and best practice</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Module 10 · Integration and review</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Modules 11 to 13 · Final project</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Finals · Final project presentation</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Grading</a:t>
            </a:r>
            <a:endParaRPr b="0" lang="en-US" sz="3400" spc="-1" strike="noStrike">
              <a:solidFill>
                <a:srgbClr val="000000"/>
              </a:solidFill>
              <a:latin typeface="Arial"/>
            </a:endParaRPr>
          </a:p>
        </p:txBody>
      </p:sp>
      <p:sp>
        <p:nvSpPr>
          <p:cNvPr id="29"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30" name=""/>
          <p:cNvSpPr txBox="1"/>
          <p:nvPr/>
        </p:nvSpPr>
        <p:spPr>
          <a:xfrm>
            <a:off x="576000" y="1530000"/>
            <a:ext cx="8928000" cy="324000"/>
          </a:xfrm>
          <a:prstGeom prst="rect">
            <a:avLst/>
          </a:prstGeom>
          <a:solidFill>
            <a:srgbClr val="0f3d57"/>
          </a:solidFill>
          <a:ln w="0">
            <a:noFill/>
          </a:ln>
        </p:spPr>
        <p:txBody>
          <a:bodyPr lIns="90000" rIns="90000" tIns="45000" bIns="45000" anchor="t">
            <a:noAutofit/>
          </a:bodyPr>
          <a:p>
            <a:endParaRPr b="0" lang="en-US" sz="1800" spc="-1" strike="noStrike">
              <a:solidFill>
                <a:srgbClr val="ffffff"/>
              </a:solidFill>
              <a:latin typeface="Arial"/>
            </a:endParaRPr>
          </a:p>
        </p:txBody>
      </p:sp>
      <p:sp>
        <p:nvSpPr>
          <p:cNvPr id="31" name=""/>
          <p:cNvSpPr txBox="1"/>
          <p:nvPr/>
        </p:nvSpPr>
        <p:spPr>
          <a:xfrm>
            <a:off x="648000" y="1573200"/>
            <a:ext cx="2592000" cy="316080"/>
          </a:xfrm>
          <a:prstGeom prst="rect">
            <a:avLst/>
          </a:prstGeom>
          <a:noFill/>
          <a:ln w="0">
            <a:noFill/>
          </a:ln>
        </p:spPr>
        <p:txBody>
          <a:bodyPr lIns="90000" rIns="90000" tIns="45000" bIns="45000" anchor="t">
            <a:noAutofit/>
          </a:bodyPr>
          <a:p>
            <a:r>
              <a:rPr b="1" lang="en-US" sz="1600" spc="-1" strike="noStrike">
                <a:solidFill>
                  <a:srgbClr val="ffffff"/>
                </a:solidFill>
                <a:latin typeface="Arial"/>
              </a:rPr>
              <a:t>Category</a:t>
            </a:r>
            <a:endParaRPr b="0" lang="en-US" sz="1600" spc="-1" strike="noStrike">
              <a:solidFill>
                <a:srgbClr val="000000"/>
              </a:solidFill>
              <a:latin typeface="Arial"/>
            </a:endParaRPr>
          </a:p>
        </p:txBody>
      </p:sp>
      <p:sp>
        <p:nvSpPr>
          <p:cNvPr id="32" name=""/>
          <p:cNvSpPr txBox="1"/>
          <p:nvPr/>
        </p:nvSpPr>
        <p:spPr>
          <a:xfrm>
            <a:off x="3384000" y="1573200"/>
            <a:ext cx="4896000" cy="316080"/>
          </a:xfrm>
          <a:prstGeom prst="rect">
            <a:avLst/>
          </a:prstGeom>
          <a:noFill/>
          <a:ln w="0">
            <a:noFill/>
          </a:ln>
        </p:spPr>
        <p:txBody>
          <a:bodyPr lIns="90000" rIns="90000" tIns="45000" bIns="45000" anchor="t">
            <a:noAutofit/>
          </a:bodyPr>
          <a:p>
            <a:r>
              <a:rPr b="1" lang="en-US" sz="1600" spc="-1" strike="noStrike">
                <a:solidFill>
                  <a:srgbClr val="ffffff"/>
                </a:solidFill>
                <a:latin typeface="Arial"/>
              </a:rPr>
              <a:t>How it breaks down</a:t>
            </a:r>
            <a:endParaRPr b="0" lang="en-US" sz="1600" spc="-1" strike="noStrike">
              <a:solidFill>
                <a:srgbClr val="000000"/>
              </a:solidFill>
              <a:latin typeface="Arial"/>
            </a:endParaRPr>
          </a:p>
        </p:txBody>
      </p:sp>
      <p:sp>
        <p:nvSpPr>
          <p:cNvPr id="33" name=""/>
          <p:cNvSpPr txBox="1"/>
          <p:nvPr/>
        </p:nvSpPr>
        <p:spPr>
          <a:xfrm>
            <a:off x="8388000" y="1573200"/>
            <a:ext cx="1152000" cy="316080"/>
          </a:xfrm>
          <a:prstGeom prst="rect">
            <a:avLst/>
          </a:prstGeom>
          <a:noFill/>
          <a:ln w="0">
            <a:noFill/>
          </a:ln>
        </p:spPr>
        <p:txBody>
          <a:bodyPr lIns="90000" rIns="90000" tIns="45000" bIns="45000" anchor="t">
            <a:noAutofit/>
          </a:bodyPr>
          <a:p>
            <a:r>
              <a:rPr b="1" lang="en-US" sz="1600" spc="-1" strike="noStrike">
                <a:solidFill>
                  <a:srgbClr val="ffffff"/>
                </a:solidFill>
                <a:latin typeface="Arial"/>
              </a:rPr>
              <a:t>Weight</a:t>
            </a:r>
            <a:endParaRPr b="0" lang="en-US" sz="1600" spc="-1" strike="noStrike">
              <a:solidFill>
                <a:srgbClr val="000000"/>
              </a:solidFill>
              <a:latin typeface="Arial"/>
            </a:endParaRPr>
          </a:p>
        </p:txBody>
      </p:sp>
      <p:sp>
        <p:nvSpPr>
          <p:cNvPr id="34" name=""/>
          <p:cNvSpPr txBox="1"/>
          <p:nvPr/>
        </p:nvSpPr>
        <p:spPr>
          <a:xfrm>
            <a:off x="648000" y="1926000"/>
            <a:ext cx="2592000" cy="541800"/>
          </a:xfrm>
          <a:prstGeom prst="rect">
            <a:avLst/>
          </a:prstGeom>
          <a:noFill/>
          <a:ln w="0">
            <a:noFill/>
          </a:ln>
        </p:spPr>
        <p:txBody>
          <a:bodyPr lIns="90000" rIns="90000" tIns="45000" bIns="45000" anchor="t">
            <a:noAutofit/>
          </a:bodyPr>
          <a:p>
            <a:r>
              <a:rPr b="0" lang="en-US" sz="1600" spc="-1" strike="noStrike">
                <a:solidFill>
                  <a:srgbClr val="111418"/>
                </a:solidFill>
                <a:latin typeface="Arial"/>
              </a:rPr>
              <a:t>Milestone 1 · modules 1 to 3</a:t>
            </a:r>
            <a:endParaRPr b="0" lang="en-US" sz="1600" spc="-1" strike="noStrike">
              <a:solidFill>
                <a:srgbClr val="000000"/>
              </a:solidFill>
              <a:latin typeface="Arial"/>
            </a:endParaRPr>
          </a:p>
        </p:txBody>
      </p:sp>
      <p:sp>
        <p:nvSpPr>
          <p:cNvPr id="35" name=""/>
          <p:cNvSpPr txBox="1"/>
          <p:nvPr/>
        </p:nvSpPr>
        <p:spPr>
          <a:xfrm>
            <a:off x="3384000" y="1926000"/>
            <a:ext cx="4896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Groundwork 20% · Application 30% · Synthesis 50%</a:t>
            </a:r>
            <a:endParaRPr b="0" lang="en-US" sz="1600" spc="-1" strike="noStrike">
              <a:solidFill>
                <a:srgbClr val="000000"/>
              </a:solidFill>
              <a:latin typeface="Arial"/>
            </a:endParaRPr>
          </a:p>
        </p:txBody>
      </p:sp>
      <p:sp>
        <p:nvSpPr>
          <p:cNvPr id="36" name=""/>
          <p:cNvSpPr txBox="1"/>
          <p:nvPr/>
        </p:nvSpPr>
        <p:spPr>
          <a:xfrm>
            <a:off x="8388000" y="1926000"/>
            <a:ext cx="115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10%</a:t>
            </a:r>
            <a:endParaRPr b="0" lang="en-US" sz="1600" spc="-1" strike="noStrike">
              <a:solidFill>
                <a:srgbClr val="000000"/>
              </a:solidFill>
              <a:latin typeface="Arial"/>
            </a:endParaRPr>
          </a:p>
        </p:txBody>
      </p:sp>
      <p:sp>
        <p:nvSpPr>
          <p:cNvPr id="37" name=""/>
          <p:cNvSpPr txBox="1"/>
          <p:nvPr/>
        </p:nvSpPr>
        <p:spPr>
          <a:xfrm>
            <a:off x="576000" y="2199600"/>
            <a:ext cx="8928000" cy="309600"/>
          </a:xfrm>
          <a:prstGeom prst="rect">
            <a:avLst/>
          </a:prstGeom>
          <a:solidFill>
            <a:srgbClr val="eff1ea"/>
          </a:solidFill>
          <a:ln w="0">
            <a:noFill/>
          </a:ln>
        </p:spPr>
        <p:txBody>
          <a:bodyPr lIns="90000" rIns="90000" tIns="45000" bIns="45000" anchor="t">
            <a:noAutofit/>
          </a:bodyPr>
          <a:p>
            <a:endParaRPr b="0" lang="en-US" sz="1800" spc="-1" strike="noStrike">
              <a:solidFill>
                <a:srgbClr val="000000"/>
              </a:solidFill>
              <a:latin typeface="Arial"/>
            </a:endParaRPr>
          </a:p>
        </p:txBody>
      </p:sp>
      <p:sp>
        <p:nvSpPr>
          <p:cNvPr id="38" name=""/>
          <p:cNvSpPr txBox="1"/>
          <p:nvPr/>
        </p:nvSpPr>
        <p:spPr>
          <a:xfrm>
            <a:off x="648000" y="2235600"/>
            <a:ext cx="2592000" cy="541800"/>
          </a:xfrm>
          <a:prstGeom prst="rect">
            <a:avLst/>
          </a:prstGeom>
          <a:noFill/>
          <a:ln w="0">
            <a:noFill/>
          </a:ln>
        </p:spPr>
        <p:txBody>
          <a:bodyPr lIns="90000" rIns="90000" tIns="45000" bIns="45000" anchor="t">
            <a:noAutofit/>
          </a:bodyPr>
          <a:p>
            <a:r>
              <a:rPr b="0" lang="en-US" sz="1600" spc="-1" strike="noStrike">
                <a:solidFill>
                  <a:srgbClr val="111418"/>
                </a:solidFill>
                <a:latin typeface="Arial"/>
              </a:rPr>
              <a:t>Milestone 2 · modules 4 to 6</a:t>
            </a:r>
            <a:endParaRPr b="0" lang="en-US" sz="1600" spc="-1" strike="noStrike">
              <a:solidFill>
                <a:srgbClr val="000000"/>
              </a:solidFill>
              <a:latin typeface="Arial"/>
            </a:endParaRPr>
          </a:p>
        </p:txBody>
      </p:sp>
      <p:sp>
        <p:nvSpPr>
          <p:cNvPr id="39" name=""/>
          <p:cNvSpPr txBox="1"/>
          <p:nvPr/>
        </p:nvSpPr>
        <p:spPr>
          <a:xfrm>
            <a:off x="3384000" y="2235600"/>
            <a:ext cx="4896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Groundwork 20% · Application 30% · Synthesis 50%</a:t>
            </a:r>
            <a:endParaRPr b="0" lang="en-US" sz="1600" spc="-1" strike="noStrike">
              <a:solidFill>
                <a:srgbClr val="000000"/>
              </a:solidFill>
              <a:latin typeface="Arial"/>
            </a:endParaRPr>
          </a:p>
        </p:txBody>
      </p:sp>
      <p:sp>
        <p:nvSpPr>
          <p:cNvPr id="40" name=""/>
          <p:cNvSpPr txBox="1"/>
          <p:nvPr/>
        </p:nvSpPr>
        <p:spPr>
          <a:xfrm>
            <a:off x="8388000" y="2235600"/>
            <a:ext cx="115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15%</a:t>
            </a:r>
            <a:endParaRPr b="0" lang="en-US" sz="1600" spc="-1" strike="noStrike">
              <a:solidFill>
                <a:srgbClr val="000000"/>
              </a:solidFill>
              <a:latin typeface="Arial"/>
            </a:endParaRPr>
          </a:p>
        </p:txBody>
      </p:sp>
      <p:sp>
        <p:nvSpPr>
          <p:cNvPr id="41" name=""/>
          <p:cNvSpPr txBox="1"/>
          <p:nvPr/>
        </p:nvSpPr>
        <p:spPr>
          <a:xfrm>
            <a:off x="648000" y="2545200"/>
            <a:ext cx="2592000" cy="541800"/>
          </a:xfrm>
          <a:prstGeom prst="rect">
            <a:avLst/>
          </a:prstGeom>
          <a:noFill/>
          <a:ln w="0">
            <a:noFill/>
          </a:ln>
        </p:spPr>
        <p:txBody>
          <a:bodyPr lIns="90000" rIns="90000" tIns="45000" bIns="45000" anchor="t">
            <a:noAutofit/>
          </a:bodyPr>
          <a:p>
            <a:r>
              <a:rPr b="0" lang="en-US" sz="1600" spc="-1" strike="noStrike">
                <a:solidFill>
                  <a:srgbClr val="111418"/>
                </a:solidFill>
                <a:latin typeface="Arial"/>
              </a:rPr>
              <a:t>Milestone 3 · modules 7 to 9</a:t>
            </a:r>
            <a:endParaRPr b="0" lang="en-US" sz="1600" spc="-1" strike="noStrike">
              <a:solidFill>
                <a:srgbClr val="000000"/>
              </a:solidFill>
              <a:latin typeface="Arial"/>
            </a:endParaRPr>
          </a:p>
        </p:txBody>
      </p:sp>
      <p:sp>
        <p:nvSpPr>
          <p:cNvPr id="42" name=""/>
          <p:cNvSpPr txBox="1"/>
          <p:nvPr/>
        </p:nvSpPr>
        <p:spPr>
          <a:xfrm>
            <a:off x="3384000" y="2545200"/>
            <a:ext cx="4896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Groundwork 20% · Application 30% · Synthesis 50%</a:t>
            </a:r>
            <a:endParaRPr b="0" lang="en-US" sz="1600" spc="-1" strike="noStrike">
              <a:solidFill>
                <a:srgbClr val="000000"/>
              </a:solidFill>
              <a:latin typeface="Arial"/>
            </a:endParaRPr>
          </a:p>
        </p:txBody>
      </p:sp>
      <p:sp>
        <p:nvSpPr>
          <p:cNvPr id="43" name=""/>
          <p:cNvSpPr txBox="1"/>
          <p:nvPr/>
        </p:nvSpPr>
        <p:spPr>
          <a:xfrm>
            <a:off x="8388000" y="2545200"/>
            <a:ext cx="115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20%</a:t>
            </a:r>
            <a:endParaRPr b="0" lang="en-US" sz="1600" spc="-1" strike="noStrike">
              <a:solidFill>
                <a:srgbClr val="000000"/>
              </a:solidFill>
              <a:latin typeface="Arial"/>
            </a:endParaRPr>
          </a:p>
        </p:txBody>
      </p:sp>
      <p:sp>
        <p:nvSpPr>
          <p:cNvPr id="44" name=""/>
          <p:cNvSpPr txBox="1"/>
          <p:nvPr/>
        </p:nvSpPr>
        <p:spPr>
          <a:xfrm>
            <a:off x="576000" y="2818800"/>
            <a:ext cx="8928000" cy="309600"/>
          </a:xfrm>
          <a:prstGeom prst="rect">
            <a:avLst/>
          </a:prstGeom>
          <a:solidFill>
            <a:srgbClr val="eff1ea"/>
          </a:solidFill>
          <a:ln w="0">
            <a:noFill/>
          </a:ln>
        </p:spPr>
        <p:txBody>
          <a:bodyPr lIns="90000" rIns="90000" tIns="45000" bIns="45000" anchor="t">
            <a:noAutofit/>
          </a:bodyPr>
          <a:p>
            <a:endParaRPr b="0" lang="en-US" sz="1800" spc="-1" strike="noStrike">
              <a:solidFill>
                <a:srgbClr val="000000"/>
              </a:solidFill>
              <a:latin typeface="Arial"/>
            </a:endParaRPr>
          </a:p>
        </p:txBody>
      </p:sp>
      <p:sp>
        <p:nvSpPr>
          <p:cNvPr id="45" name=""/>
          <p:cNvSpPr txBox="1"/>
          <p:nvPr/>
        </p:nvSpPr>
        <p:spPr>
          <a:xfrm>
            <a:off x="648000" y="2854800"/>
            <a:ext cx="259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Technical journal</a:t>
            </a:r>
            <a:endParaRPr b="0" lang="en-US" sz="1600" spc="-1" strike="noStrike">
              <a:solidFill>
                <a:srgbClr val="000000"/>
              </a:solidFill>
              <a:latin typeface="Arial"/>
            </a:endParaRPr>
          </a:p>
        </p:txBody>
      </p:sp>
      <p:sp>
        <p:nvSpPr>
          <p:cNvPr id="46" name=""/>
          <p:cNvSpPr txBox="1"/>
          <p:nvPr/>
        </p:nvSpPr>
        <p:spPr>
          <a:xfrm>
            <a:off x="3384000" y="2854800"/>
            <a:ext cx="4896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Weekly entry, graded on reflection</a:t>
            </a:r>
            <a:endParaRPr b="0" lang="en-US" sz="1600" spc="-1" strike="noStrike">
              <a:solidFill>
                <a:srgbClr val="000000"/>
              </a:solidFill>
              <a:latin typeface="Arial"/>
            </a:endParaRPr>
          </a:p>
        </p:txBody>
      </p:sp>
      <p:sp>
        <p:nvSpPr>
          <p:cNvPr id="47" name=""/>
          <p:cNvSpPr txBox="1"/>
          <p:nvPr/>
        </p:nvSpPr>
        <p:spPr>
          <a:xfrm>
            <a:off x="8388000" y="2854800"/>
            <a:ext cx="115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15%</a:t>
            </a:r>
            <a:endParaRPr b="0" lang="en-US" sz="1600" spc="-1" strike="noStrike">
              <a:solidFill>
                <a:srgbClr val="000000"/>
              </a:solidFill>
              <a:latin typeface="Arial"/>
            </a:endParaRPr>
          </a:p>
        </p:txBody>
      </p:sp>
      <p:sp>
        <p:nvSpPr>
          <p:cNvPr id="48" name=""/>
          <p:cNvSpPr txBox="1"/>
          <p:nvPr/>
        </p:nvSpPr>
        <p:spPr>
          <a:xfrm>
            <a:off x="648000" y="3164400"/>
            <a:ext cx="259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Final project</a:t>
            </a:r>
            <a:endParaRPr b="0" lang="en-US" sz="1600" spc="-1" strike="noStrike">
              <a:solidFill>
                <a:srgbClr val="000000"/>
              </a:solidFill>
              <a:latin typeface="Arial"/>
            </a:endParaRPr>
          </a:p>
        </p:txBody>
      </p:sp>
      <p:sp>
        <p:nvSpPr>
          <p:cNvPr id="49" name=""/>
          <p:cNvSpPr txBox="1"/>
          <p:nvPr/>
        </p:nvSpPr>
        <p:spPr>
          <a:xfrm>
            <a:off x="3384000" y="3164400"/>
            <a:ext cx="4896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Scoped, built, presented in class</a:t>
            </a:r>
            <a:endParaRPr b="0" lang="en-US" sz="1600" spc="-1" strike="noStrike">
              <a:solidFill>
                <a:srgbClr val="000000"/>
              </a:solidFill>
              <a:latin typeface="Arial"/>
            </a:endParaRPr>
          </a:p>
        </p:txBody>
      </p:sp>
      <p:sp>
        <p:nvSpPr>
          <p:cNvPr id="50" name=""/>
          <p:cNvSpPr txBox="1"/>
          <p:nvPr/>
        </p:nvSpPr>
        <p:spPr>
          <a:xfrm>
            <a:off x="8388000" y="3164400"/>
            <a:ext cx="115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35%</a:t>
            </a:r>
            <a:endParaRPr b="0" lang="en-US" sz="1600" spc="-1" strike="noStrike">
              <a:solidFill>
                <a:srgbClr val="000000"/>
              </a:solidFill>
              <a:latin typeface="Arial"/>
            </a:endParaRPr>
          </a:p>
        </p:txBody>
      </p:sp>
      <p:sp>
        <p:nvSpPr>
          <p:cNvPr id="51" name=""/>
          <p:cNvSpPr txBox="1"/>
          <p:nvPr/>
        </p:nvSpPr>
        <p:spPr>
          <a:xfrm>
            <a:off x="576000" y="3438000"/>
            <a:ext cx="8928000" cy="309600"/>
          </a:xfrm>
          <a:prstGeom prst="rect">
            <a:avLst/>
          </a:prstGeom>
          <a:solidFill>
            <a:srgbClr val="eff1ea"/>
          </a:solidFill>
          <a:ln w="0">
            <a:noFill/>
          </a:ln>
        </p:spPr>
        <p:txBody>
          <a:bodyPr lIns="90000" rIns="90000" tIns="45000" bIns="45000" anchor="t">
            <a:noAutofit/>
          </a:bodyPr>
          <a:p>
            <a:endParaRPr b="0" lang="en-US" sz="1800" spc="-1" strike="noStrike">
              <a:solidFill>
                <a:srgbClr val="000000"/>
              </a:solidFill>
              <a:latin typeface="Arial"/>
            </a:endParaRPr>
          </a:p>
        </p:txBody>
      </p:sp>
      <p:sp>
        <p:nvSpPr>
          <p:cNvPr id="52" name=""/>
          <p:cNvSpPr txBox="1"/>
          <p:nvPr/>
        </p:nvSpPr>
        <p:spPr>
          <a:xfrm>
            <a:off x="648000" y="3474000"/>
            <a:ext cx="259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Participation</a:t>
            </a:r>
            <a:endParaRPr b="0" lang="en-US" sz="1600" spc="-1" strike="noStrike">
              <a:solidFill>
                <a:srgbClr val="000000"/>
              </a:solidFill>
              <a:latin typeface="Arial"/>
            </a:endParaRPr>
          </a:p>
        </p:txBody>
      </p:sp>
      <p:sp>
        <p:nvSpPr>
          <p:cNvPr id="53" name=""/>
          <p:cNvSpPr txBox="1"/>
          <p:nvPr/>
        </p:nvSpPr>
        <p:spPr>
          <a:xfrm>
            <a:off x="3384000" y="3474000"/>
            <a:ext cx="4896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Classroom citizenship</a:t>
            </a:r>
            <a:endParaRPr b="0" lang="en-US" sz="1600" spc="-1" strike="noStrike">
              <a:solidFill>
                <a:srgbClr val="000000"/>
              </a:solidFill>
              <a:latin typeface="Arial"/>
            </a:endParaRPr>
          </a:p>
        </p:txBody>
      </p:sp>
      <p:sp>
        <p:nvSpPr>
          <p:cNvPr id="54" name=""/>
          <p:cNvSpPr txBox="1"/>
          <p:nvPr/>
        </p:nvSpPr>
        <p:spPr>
          <a:xfrm>
            <a:off x="8388000" y="3474000"/>
            <a:ext cx="115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5%</a:t>
            </a:r>
            <a:endParaRPr b="0" lang="en-US" sz="1600" spc="-1" strike="noStrike">
              <a:solidFill>
                <a:srgbClr val="000000"/>
              </a:solidFill>
              <a:latin typeface="Arial"/>
            </a:endParaRPr>
          </a:p>
        </p:txBody>
      </p:sp>
      <p:sp>
        <p:nvSpPr>
          <p:cNvPr id="55" name=""/>
          <p:cNvSpPr txBox="1"/>
          <p:nvPr/>
        </p:nvSpPr>
        <p:spPr>
          <a:xfrm>
            <a:off x="576000" y="3733200"/>
            <a:ext cx="8928000" cy="21600"/>
          </a:xfrm>
          <a:prstGeom prst="rect">
            <a:avLst/>
          </a:prstGeom>
          <a:solidFill>
            <a:srgbClr val="0f3d57"/>
          </a:solidFill>
          <a:ln w="0">
            <a:noFill/>
          </a:ln>
        </p:spPr>
        <p:txBody>
          <a:bodyPr lIns="90000" rIns="90000" tIns="-23400" bIns="-23400" anchor="t">
            <a:noAutofit/>
          </a:bodyPr>
          <a:p>
            <a:endParaRPr b="0" lang="en-US" sz="1800" spc="-1" strike="noStrike">
              <a:solidFill>
                <a:srgbClr val="ffffff"/>
              </a:solidFill>
              <a:latin typeface="Arial"/>
            </a:endParaRPr>
          </a:p>
        </p:txBody>
      </p:sp>
      <p:sp>
        <p:nvSpPr>
          <p:cNvPr id="56" name=""/>
          <p:cNvSpPr txBox="1"/>
          <p:nvPr/>
        </p:nvSpPr>
        <p:spPr>
          <a:xfrm>
            <a:off x="648000" y="3783600"/>
            <a:ext cx="2592000" cy="316080"/>
          </a:xfrm>
          <a:prstGeom prst="rect">
            <a:avLst/>
          </a:prstGeom>
          <a:noFill/>
          <a:ln w="0">
            <a:noFill/>
          </a:ln>
        </p:spPr>
        <p:txBody>
          <a:bodyPr lIns="90000" rIns="90000" tIns="45000" bIns="45000" anchor="t">
            <a:noAutofit/>
          </a:bodyPr>
          <a:p>
            <a:r>
              <a:rPr b="1" lang="en-US" sz="1600" spc="-1" strike="noStrike">
                <a:solidFill>
                  <a:srgbClr val="0f3d57"/>
                </a:solidFill>
                <a:latin typeface="Arial"/>
              </a:rPr>
              <a:t>Total</a:t>
            </a:r>
            <a:endParaRPr b="0" lang="en-US" sz="1600" spc="-1" strike="noStrike">
              <a:solidFill>
                <a:srgbClr val="000000"/>
              </a:solidFill>
              <a:latin typeface="Arial"/>
            </a:endParaRPr>
          </a:p>
        </p:txBody>
      </p:sp>
      <p:sp>
        <p:nvSpPr>
          <p:cNvPr id="57" name=""/>
          <p:cNvSpPr txBox="1"/>
          <p:nvPr/>
        </p:nvSpPr>
        <p:spPr>
          <a:xfrm>
            <a:off x="8388000" y="3783600"/>
            <a:ext cx="1152000" cy="316080"/>
          </a:xfrm>
          <a:prstGeom prst="rect">
            <a:avLst/>
          </a:prstGeom>
          <a:noFill/>
          <a:ln w="0">
            <a:noFill/>
          </a:ln>
        </p:spPr>
        <p:txBody>
          <a:bodyPr lIns="90000" rIns="90000" tIns="45000" bIns="45000" anchor="t">
            <a:noAutofit/>
          </a:bodyPr>
          <a:p>
            <a:r>
              <a:rPr b="1" lang="en-US" sz="1600" spc="-1" strike="noStrike">
                <a:solidFill>
                  <a:srgbClr val="0f3d57"/>
                </a:solidFill>
                <a:latin typeface="Arial"/>
              </a:rPr>
              <a:t>100%</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
          <p:cNvSpPr txBox="1"/>
          <p:nvPr/>
        </p:nvSpPr>
        <p:spPr>
          <a:xfrm>
            <a:off x="648000" y="378000"/>
            <a:ext cx="8784000" cy="792000"/>
          </a:xfrm>
          <a:prstGeom prst="rect">
            <a:avLst/>
          </a:prstGeom>
          <a:noFill/>
          <a:ln w="0">
            <a:noFill/>
          </a:ln>
        </p:spPr>
        <p:txBody>
          <a:bodyPr lIns="90000" rIns="90000" tIns="45000" bIns="45000" anchor="t">
            <a:noAutofit/>
          </a:bodyPr>
          <a:p>
            <a:r>
              <a:rPr b="1" lang="en-US" sz="4000" spc="-1" strike="noStrike">
                <a:solidFill>
                  <a:srgbClr val="0f3d57"/>
                </a:solidFill>
                <a:latin typeface="Arial"/>
              </a:rPr>
              <a:t>What the AI is this?</a:t>
            </a:r>
            <a:endParaRPr b="0" lang="en-US" sz="4000" spc="-1" strike="noStrike">
              <a:solidFill>
                <a:srgbClr val="000000"/>
              </a:solidFill>
              <a:latin typeface="Arial"/>
            </a:endParaRPr>
          </a:p>
        </p:txBody>
      </p:sp>
      <p:sp>
        <p:nvSpPr>
          <p:cNvPr id="59"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60"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When did you first use one of these tools, and what for?</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What is the last thing one of them got badly wrong for you?</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Who do you think is actually paying for all of this?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The first fifty years</a:t>
            </a:r>
            <a:endParaRPr b="0" lang="en-US" sz="3400" spc="-1" strike="noStrike">
              <a:solidFill>
                <a:srgbClr val="000000"/>
              </a:solidFill>
              <a:latin typeface="Arial"/>
            </a:endParaRPr>
          </a:p>
        </p:txBody>
      </p:sp>
      <p:sp>
        <p:nvSpPr>
          <p:cNvPr id="62"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63" name=""/>
          <p:cNvSpPr txBox="1"/>
          <p:nvPr/>
        </p:nvSpPr>
        <p:spPr>
          <a:xfrm>
            <a:off x="648000" y="1530000"/>
            <a:ext cx="8784000" cy="3780000"/>
          </a:xfrm>
          <a:prstGeom prst="rect">
            <a:avLst/>
          </a:prstGeom>
          <a:noFill/>
          <a:ln w="0">
            <a:noFill/>
          </a:ln>
        </p:spPr>
        <p:txBody>
          <a:bodyPr lIns="90000" rIns="90000" tIns="45000" bIns="45000" anchor="t">
            <a:noAutofit/>
          </a:bodyPr>
          <a:p>
            <a:r>
              <a:rPr b="0" lang="en-US" sz="2000" spc="-1" strike="noStrike">
                <a:solidFill>
                  <a:srgbClr val="111418"/>
                </a:solidFill>
                <a:latin typeface="Arial"/>
              </a:rPr>
              <a:t>• </a:t>
            </a:r>
            <a:r>
              <a:rPr b="0" lang="en-US" sz="2000" spc="-1" strike="noStrike">
                <a:solidFill>
                  <a:srgbClr val="111418"/>
                </a:solidFill>
                <a:latin typeface="Arial"/>
              </a:rPr>
              <a:t>1950 · Turing asks whether machines can think, and proposes </a:t>
            </a:r>
            <a:r>
              <a:rPr u="sng" b="0" lang="en-US" sz="2000" spc="-1" strike="noStrike">
                <a:solidFill>
                  <a:srgbClr val="0B4FA0"/>
                </a:solidFill>
                <a:latin typeface="Arial"/>
                <a:hlinkClick xmlns:r="http://schemas.openxmlformats.org/officeDocument/2006/relationships" r:id="rId3"/>
              </a:rPr>
              <a:t>a test</a:t>
            </a:r>
            <a:r>
              <a:rPr b="0" lang="en-US" sz="2000" spc="-1" strike="noStrike">
                <a:solidFill>
                  <a:srgbClr val="111418"/>
                </a:solidFill>
                <a:latin typeface="Arial"/>
              </a:rPr>
              <a:t> instead of a definition</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1956 · The </a:t>
            </a:r>
            <a:r>
              <a:rPr u="sng" b="0" lang="en-US" sz="2000" spc="-1" strike="noStrike">
                <a:solidFill>
                  <a:srgbClr val="0B4FA0"/>
                </a:solidFill>
                <a:latin typeface="Arial"/>
                <a:hlinkClick xmlns:r="http://schemas.openxmlformats.org/officeDocument/2006/relationships" r:id="rId4"/>
              </a:rPr>
              <a:t>Dartmouth workshop</a:t>
            </a:r>
            <a:r>
              <a:rPr b="0" lang="en-US" sz="2000" spc="-1" strike="noStrike">
                <a:solidFill>
                  <a:srgbClr val="111418"/>
                </a:solidFill>
                <a:latin typeface="Arial"/>
              </a:rPr>
              <a:t> names the field "artificial intelligence"</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1960s to 1980s · </a:t>
            </a:r>
            <a:r>
              <a:rPr u="sng" b="0" lang="en-US" sz="2000" spc="-1" strike="noStrike">
                <a:solidFill>
                  <a:srgbClr val="0B4FA0"/>
                </a:solidFill>
                <a:latin typeface="Arial"/>
                <a:hlinkClick xmlns:r="http://schemas.openxmlformats.org/officeDocument/2006/relationships" r:id="rId5"/>
              </a:rPr>
              <a:t>Symbolic AI</a:t>
            </a:r>
            <a:r>
              <a:rPr b="0" lang="en-US" sz="2000" spc="-1" strike="noStrike">
                <a:solidFill>
                  <a:srgbClr val="111418"/>
                </a:solidFill>
                <a:latin typeface="Arial"/>
              </a:rPr>
              <a:t>: intelligence as rules and symbols a person writes down</a:t>
            </a:r>
            <a:endParaRPr b="0" lang="en-US" sz="2000" spc="-1" strike="noStrike">
              <a:solidFill>
                <a:srgbClr val="000000"/>
              </a:solidFill>
              <a:latin typeface="Arial"/>
            </a:endParaRPr>
          </a:p>
          <a:p>
            <a:r>
              <a:rPr b="0" lang="en-US" sz="1700" spc="-1" strike="noStrike">
                <a:solidFill>
                  <a:srgbClr val="252c36"/>
                </a:solidFill>
                <a:latin typeface="Arial"/>
              </a:rPr>
              <a:t>– </a:t>
            </a:r>
            <a:r>
              <a:rPr b="0" lang="en-US" sz="1700" spc="-1" strike="noStrike">
                <a:solidFill>
                  <a:srgbClr val="252c36"/>
                </a:solidFill>
                <a:latin typeface="Arial"/>
              </a:rPr>
              <a:t>An </a:t>
            </a:r>
            <a:r>
              <a:rPr u="sng" b="0" lang="en-US" sz="1700" spc="-1" strike="noStrike">
                <a:solidFill>
                  <a:srgbClr val="0B4FA0"/>
                </a:solidFill>
                <a:latin typeface="Arial"/>
                <a:hlinkClick xmlns:r="http://schemas.openxmlformats.org/officeDocument/2006/relationships" r:id="rId6"/>
              </a:rPr>
              <a:t>expert system</a:t>
            </a:r>
            <a:r>
              <a:rPr b="0" lang="en-US" sz="1700" spc="-1" strike="noStrike">
                <a:solidFill>
                  <a:srgbClr val="252c36"/>
                </a:solidFill>
                <a:latin typeface="Arial"/>
              </a:rPr>
              <a:t> is that idea shipped: a human expert's rules, encoded, answering questions in one narrow domain</a:t>
            </a:r>
            <a:endParaRPr b="0" lang="en-US" sz="17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Two </a:t>
            </a:r>
            <a:r>
              <a:rPr u="sng" b="0" lang="en-US" sz="2000" spc="-1" strike="noStrike">
                <a:solidFill>
                  <a:srgbClr val="0B4FA0"/>
                </a:solidFill>
                <a:latin typeface="Arial"/>
                <a:hlinkClick xmlns:r="http://schemas.openxmlformats.org/officeDocument/2006/relationships" r:id="rId7"/>
              </a:rPr>
              <a:t>AI winters</a:t>
            </a:r>
            <a:r>
              <a:rPr b="0" lang="en-US" sz="2000" spc="-1" strike="noStrike">
                <a:solidFill>
                  <a:srgbClr val="111418"/>
                </a:solidFill>
                <a:latin typeface="Arial"/>
              </a:rPr>
              <a:t> follow, when funding collapses after promises outrun results</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Learning instead of rules</a:t>
            </a:r>
            <a:endParaRPr b="0" lang="en-US" sz="3400" spc="-1" strike="noStrike">
              <a:solidFill>
                <a:srgbClr val="000000"/>
              </a:solidFill>
              <a:latin typeface="Arial"/>
            </a:endParaRPr>
          </a:p>
        </p:txBody>
      </p:sp>
      <p:sp>
        <p:nvSpPr>
          <p:cNvPr id="65"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66" name=""/>
          <p:cNvSpPr txBox="1"/>
          <p:nvPr/>
        </p:nvSpPr>
        <p:spPr>
          <a:xfrm>
            <a:off x="648000" y="1530000"/>
            <a:ext cx="8784000" cy="4123440"/>
          </a:xfrm>
          <a:prstGeom prst="rect">
            <a:avLst/>
          </a:prstGeom>
          <a:noFill/>
          <a:ln w="0">
            <a:noFill/>
          </a:ln>
        </p:spPr>
        <p:txBody>
          <a:bodyPr lIns="90000" rIns="90000" tIns="45000" bIns="45000" anchor="t">
            <a:noAutofit/>
          </a:bodyPr>
          <a:p>
            <a:r>
              <a:rPr b="0" lang="en-US" sz="2000" spc="-1" strike="noStrike">
                <a:solidFill>
                  <a:srgbClr val="111418"/>
                </a:solidFill>
                <a:latin typeface="Arial"/>
              </a:rPr>
              <a:t>• </a:t>
            </a:r>
            <a:r>
              <a:rPr b="0" lang="en-US" sz="2000" spc="-1" strike="noStrike">
                <a:solidFill>
                  <a:srgbClr val="111418"/>
                </a:solidFill>
                <a:latin typeface="Arial"/>
              </a:rPr>
              <a:t>1990s onward · </a:t>
            </a:r>
            <a:r>
              <a:rPr u="sng" b="0" lang="en-US" sz="2000" spc="-1" strike="noStrike">
                <a:solidFill>
                  <a:srgbClr val="0B4FA0"/>
                </a:solidFill>
                <a:latin typeface="Arial"/>
                <a:hlinkClick xmlns:r="http://schemas.openxmlformats.org/officeDocument/2006/relationships" r:id="rId3"/>
              </a:rPr>
              <a:t>Machine learning</a:t>
            </a:r>
            <a:r>
              <a:rPr b="0" lang="en-US" sz="2000" spc="-1" strike="noStrike">
                <a:solidFill>
                  <a:srgbClr val="111418"/>
                </a:solidFill>
                <a:latin typeface="Arial"/>
              </a:rPr>
              <a:t> displaces hand-written rules: the system infers the rules from examples</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2012 · </a:t>
            </a:r>
            <a:r>
              <a:rPr u="sng" b="0" lang="en-US" sz="2000" spc="-1" strike="noStrike">
                <a:solidFill>
                  <a:srgbClr val="0B4FA0"/>
                </a:solidFill>
                <a:latin typeface="Arial"/>
                <a:hlinkClick xmlns:r="http://schemas.openxmlformats.org/officeDocument/2006/relationships" r:id="rId4"/>
              </a:rPr>
              <a:t>AlexNet</a:t>
            </a:r>
            <a:r>
              <a:rPr b="0" lang="en-US" sz="2000" spc="-1" strike="noStrike">
                <a:solidFill>
                  <a:srgbClr val="111418"/>
                </a:solidFill>
                <a:latin typeface="Arial"/>
              </a:rPr>
              <a:t> wins the </a:t>
            </a:r>
            <a:r>
              <a:rPr u="sng" b="0" lang="en-US" sz="2000" spc="-1" strike="noStrike">
                <a:solidFill>
                  <a:srgbClr val="0B4FA0"/>
                </a:solidFill>
                <a:latin typeface="Arial"/>
                <a:hlinkClick xmlns:r="http://schemas.openxmlformats.org/officeDocument/2006/relationships" r:id="rId5"/>
              </a:rPr>
              <a:t>ImageNet</a:t>
            </a:r>
            <a:r>
              <a:rPr b="0" lang="en-US" sz="2000" spc="-1" strike="noStrike">
                <a:solidFill>
                  <a:srgbClr val="111418"/>
                </a:solidFill>
                <a:latin typeface="Arial"/>
              </a:rPr>
              <a:t> competition by a wide margin, and deep learning becomes the default</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Three things arrived together: labeled datasets, </a:t>
            </a:r>
            <a:r>
              <a:rPr u="sng" b="0" lang="en-US" sz="2000" spc="-1" strike="noStrike">
                <a:solidFill>
                  <a:srgbClr val="0B4FA0"/>
                </a:solidFill>
                <a:latin typeface="Arial"/>
                <a:hlinkClick xmlns:r="http://schemas.openxmlformats.org/officeDocument/2006/relationships" r:id="rId6"/>
              </a:rPr>
              <a:t>GPUs</a:t>
            </a:r>
            <a:r>
              <a:rPr b="0" lang="en-US" sz="2000" spc="-1" strike="noStrike">
                <a:solidFill>
                  <a:srgbClr val="111418"/>
                </a:solidFill>
                <a:latin typeface="Arial"/>
              </a:rPr>
              <a:t>, and better training methods</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Learning from examples means exactly that: images with the answer attached</a:t>
            </a:r>
            <a:endParaRPr b="0" lang="en-US" sz="2000" spc="-1" strike="noStrike">
              <a:solidFill>
                <a:srgbClr val="000000"/>
              </a:solidFill>
              <a:latin typeface="Arial"/>
            </a:endParaRPr>
          </a:p>
          <a:p>
            <a:r>
              <a:rPr b="0" lang="en-US" sz="1700" spc="-1" strike="noStrike">
                <a:solidFill>
                  <a:srgbClr val="252c36"/>
                </a:solidFill>
                <a:latin typeface="Arial"/>
              </a:rPr>
              <a:t>– </a:t>
            </a:r>
            <a:r>
              <a:rPr b="0" lang="en-US" sz="1700" spc="-1" strike="noStrike">
                <a:solidFill>
                  <a:srgbClr val="252c36"/>
                </a:solidFill>
                <a:latin typeface="Arial"/>
              </a:rPr>
              <a:t>cat_0417.jpg → "cat" · truck_2210.jpg → "truck" · dog_0088.jpg → "dog"</a:t>
            </a:r>
            <a:endParaRPr b="0" lang="en-US" sz="1700" spc="-1" strike="noStrike">
              <a:solidFill>
                <a:srgbClr val="000000"/>
              </a:solidFill>
              <a:latin typeface="Arial"/>
            </a:endParaRPr>
          </a:p>
          <a:p>
            <a:r>
              <a:rPr b="0" lang="en-US" sz="2000" spc="-1" strike="noStrike">
                <a:solidFill>
                  <a:srgbClr val="111418"/>
                </a:solidFill>
                <a:latin typeface="Arial"/>
              </a:rPr>
              <a:t>• </a:t>
            </a:r>
            <a:r>
              <a:rPr u="sng" b="0" lang="en-US" sz="2000" spc="-1" strike="noStrike">
                <a:solidFill>
                  <a:srgbClr val="0B4FA0"/>
                </a:solidFill>
                <a:latin typeface="Arial"/>
                <a:hlinkClick xmlns:r="http://schemas.openxmlformats.org/officeDocument/2006/relationships" r:id="rId5"/>
              </a:rPr>
              <a:t>ImageNet</a:t>
            </a:r>
            <a:r>
              <a:rPr b="0" lang="en-US" sz="2000" spc="-1" strike="noStrike">
                <a:solidFill>
                  <a:srgbClr val="111418"/>
                </a:solidFill>
                <a:latin typeface="Arial"/>
              </a:rPr>
              <a:t> holds about 14 million labeled images. None of it looked like a chatbot yet</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Transformers to ChatGPT</a:t>
            </a:r>
            <a:endParaRPr b="0" lang="en-US" sz="3400" spc="-1" strike="noStrike">
              <a:solidFill>
                <a:srgbClr val="000000"/>
              </a:solidFill>
              <a:latin typeface="Arial"/>
            </a:endParaRPr>
          </a:p>
        </p:txBody>
      </p:sp>
      <p:sp>
        <p:nvSpPr>
          <p:cNvPr id="68"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69" name=""/>
          <p:cNvSpPr txBox="1"/>
          <p:nvPr/>
        </p:nvSpPr>
        <p:spPr>
          <a:xfrm>
            <a:off x="648000" y="1530000"/>
            <a:ext cx="8784000" cy="3780000"/>
          </a:xfrm>
          <a:prstGeom prst="rect">
            <a:avLst/>
          </a:prstGeom>
          <a:noFill/>
          <a:ln w="0">
            <a:noFill/>
          </a:ln>
        </p:spPr>
        <p:txBody>
          <a:bodyPr lIns="90000" rIns="90000" tIns="45000" bIns="45000" anchor="t">
            <a:noAutofit/>
          </a:bodyPr>
          <a:p>
            <a:r>
              <a:rPr b="0" lang="en-US" sz="2000" spc="-1" strike="noStrike">
                <a:solidFill>
                  <a:srgbClr val="111418"/>
                </a:solidFill>
                <a:latin typeface="Arial"/>
              </a:rPr>
              <a:t>• </a:t>
            </a:r>
            <a:r>
              <a:rPr b="0" lang="en-US" sz="2000" spc="-1" strike="noStrike">
                <a:solidFill>
                  <a:srgbClr val="111418"/>
                </a:solidFill>
                <a:latin typeface="Arial"/>
              </a:rPr>
              <a:t>2017 · </a:t>
            </a:r>
            <a:r>
              <a:rPr u="sng" b="0" lang="en-US" sz="2000" spc="-1" strike="noStrike">
                <a:solidFill>
                  <a:srgbClr val="0B4FA0"/>
                </a:solidFill>
                <a:latin typeface="Arial"/>
                <a:hlinkClick xmlns:r="http://schemas.openxmlformats.org/officeDocument/2006/relationships" r:id="rId3"/>
              </a:rPr>
              <a:t>Attention Is All You Need</a:t>
            </a:r>
            <a:r>
              <a:rPr b="0" lang="en-US" sz="2000" spc="-1" strike="noStrike">
                <a:solidFill>
                  <a:srgbClr val="111418"/>
                </a:solidFill>
                <a:latin typeface="Arial"/>
              </a:rPr>
              <a:t> introduces the </a:t>
            </a:r>
            <a:r>
              <a:rPr u="sng" b="0" lang="en-US" sz="2000" spc="-1" strike="noStrike">
                <a:solidFill>
                  <a:srgbClr val="0B4FA0"/>
                </a:solidFill>
                <a:latin typeface="Arial"/>
                <a:hlinkClick xmlns:r="http://schemas.openxmlformats.org/officeDocument/2006/relationships" r:id="rId4"/>
              </a:rPr>
              <a:t>transformer</a:t>
            </a:r>
            <a:endParaRPr b="0" lang="en-US" sz="2000" spc="-1" strike="noStrike">
              <a:solidFill>
                <a:srgbClr val="000000"/>
              </a:solidFill>
              <a:latin typeface="Arial"/>
            </a:endParaRPr>
          </a:p>
          <a:p>
            <a:r>
              <a:rPr b="0" lang="en-US" sz="1700" spc="-1" strike="noStrike">
                <a:solidFill>
                  <a:srgbClr val="252c36"/>
                </a:solidFill>
                <a:latin typeface="Arial"/>
              </a:rPr>
              <a:t>– </a:t>
            </a:r>
            <a:r>
              <a:rPr b="0" lang="en-US" sz="1700" spc="-1" strike="noStrike">
                <a:solidFill>
                  <a:srgbClr val="252c36"/>
                </a:solidFill>
                <a:latin typeface="Arial"/>
              </a:rPr>
              <a:t>A </a:t>
            </a:r>
            <a:r>
              <a:rPr u="sng" b="0" lang="en-US" sz="1700" spc="-1" strike="noStrike">
                <a:solidFill>
                  <a:srgbClr val="0B4FA0"/>
                </a:solidFill>
                <a:latin typeface="Arial"/>
                <a:hlinkClick xmlns:r="http://schemas.openxmlformats.org/officeDocument/2006/relationships" r:id="rId4"/>
              </a:rPr>
              <a:t>transformer</a:t>
            </a:r>
            <a:r>
              <a:rPr b="0" lang="en-US" sz="1700" spc="-1" strike="noStrike">
                <a:solidFill>
                  <a:srgbClr val="252c36"/>
                </a:solidFill>
                <a:latin typeface="Arial"/>
              </a:rPr>
              <a:t> reads a whole sequence at once and learns which parts matter to which. That is what made scale pay off</a:t>
            </a:r>
            <a:endParaRPr b="0" lang="en-US" sz="17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2018 to 2020 · </a:t>
            </a:r>
            <a:r>
              <a:rPr u="sng" b="0" lang="en-US" sz="2000" spc="-1" strike="noStrike">
                <a:solidFill>
                  <a:srgbClr val="0B4FA0"/>
                </a:solidFill>
                <a:latin typeface="Arial"/>
                <a:hlinkClick xmlns:r="http://schemas.openxmlformats.org/officeDocument/2006/relationships" r:id="rId5"/>
              </a:rPr>
              <a:t>GPT-1</a:t>
            </a:r>
            <a:r>
              <a:rPr b="0" lang="en-US" sz="2000" spc="-1" strike="noStrike">
                <a:solidFill>
                  <a:srgbClr val="111418"/>
                </a:solidFill>
                <a:latin typeface="Arial"/>
              </a:rPr>
              <a:t>, </a:t>
            </a:r>
            <a:r>
              <a:rPr u="sng" b="0" lang="en-US" sz="2000" spc="-1" strike="noStrike">
                <a:solidFill>
                  <a:srgbClr val="0B4FA0"/>
                </a:solidFill>
                <a:latin typeface="Arial"/>
                <a:hlinkClick xmlns:r="http://schemas.openxmlformats.org/officeDocument/2006/relationships" r:id="rId6"/>
              </a:rPr>
              <a:t>GPT-2</a:t>
            </a:r>
            <a:r>
              <a:rPr b="0" lang="en-US" sz="2000" spc="-1" strike="noStrike">
                <a:solidFill>
                  <a:srgbClr val="111418"/>
                </a:solidFill>
                <a:latin typeface="Arial"/>
              </a:rPr>
              <a:t>, </a:t>
            </a:r>
            <a:r>
              <a:rPr u="sng" b="0" lang="en-US" sz="2000" spc="-1" strike="noStrike">
                <a:solidFill>
                  <a:srgbClr val="0B4FA0"/>
                </a:solidFill>
                <a:latin typeface="Arial"/>
                <a:hlinkClick xmlns:r="http://schemas.openxmlformats.org/officeDocument/2006/relationships" r:id="rId7"/>
              </a:rPr>
              <a:t>GPT-3</a:t>
            </a:r>
            <a:r>
              <a:rPr b="0" lang="en-US" sz="2000" spc="-1" strike="noStrike">
                <a:solidFill>
                  <a:srgbClr val="111418"/>
                </a:solidFill>
                <a:latin typeface="Arial"/>
              </a:rPr>
              <a:t>: the same architecture, each far larger than the last</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The surprise was that scale alone produced abilities nobody explicitly built</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2022 · </a:t>
            </a:r>
            <a:r>
              <a:rPr u="sng" b="0" lang="en-US" sz="2000" spc="-1" strike="noStrike">
                <a:solidFill>
                  <a:srgbClr val="0B4FA0"/>
                </a:solidFill>
                <a:latin typeface="Arial"/>
                <a:hlinkClick xmlns:r="http://schemas.openxmlformats.org/officeDocument/2006/relationships" r:id="rId8"/>
              </a:rPr>
              <a:t>ChatGPT</a:t>
            </a:r>
            <a:r>
              <a:rPr b="0" lang="en-US" sz="2000" spc="-1" strike="noStrike">
                <a:solidFill>
                  <a:srgbClr val="111418"/>
                </a:solidFill>
                <a:latin typeface="Arial"/>
              </a:rPr>
              <a:t> is </a:t>
            </a:r>
            <a:r>
              <a:rPr u="sng" b="0" lang="en-US" sz="2000" spc="-1" strike="noStrike">
                <a:solidFill>
                  <a:srgbClr val="0B4FA0"/>
                </a:solidFill>
                <a:latin typeface="Arial"/>
                <a:hlinkClick xmlns:r="http://schemas.openxmlformats.org/officeDocument/2006/relationships" r:id="rId7"/>
              </a:rPr>
              <a:t>GPT-3</a:t>
            </a:r>
            <a:r>
              <a:rPr b="0" lang="en-US" sz="2000" spc="-1" strike="noStrike">
                <a:solidFill>
                  <a:srgbClr val="111418"/>
                </a:solidFill>
                <a:latin typeface="Arial"/>
              </a:rPr>
              <a:t>.5 with a chat interface and safety tuning. Same family, new packaging, mass audience</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OpenAI · the origin</a:t>
            </a:r>
            <a:endParaRPr b="0" lang="en-US" sz="3400" spc="-1" strike="noStrike">
              <a:solidFill>
                <a:srgbClr val="000000"/>
              </a:solidFill>
              <a:latin typeface="Arial"/>
            </a:endParaRPr>
          </a:p>
        </p:txBody>
      </p:sp>
      <p:sp>
        <p:nvSpPr>
          <p:cNvPr id="71"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72" name=""/>
          <p:cNvSpPr txBox="1"/>
          <p:nvPr/>
        </p:nvSpPr>
        <p:spPr>
          <a:xfrm>
            <a:off x="648000" y="1530000"/>
            <a:ext cx="8784000" cy="4041360"/>
          </a:xfrm>
          <a:prstGeom prst="rect">
            <a:avLst/>
          </a:prstGeom>
          <a:noFill/>
          <a:ln w="0">
            <a:noFill/>
          </a:ln>
        </p:spPr>
        <p:txBody>
          <a:bodyPr lIns="90000" rIns="90000" tIns="45000" bIns="45000" anchor="t">
            <a:noAutofit/>
          </a:bodyPr>
          <a:p>
            <a:r>
              <a:rPr b="0" lang="en-US" sz="2000" spc="-1" strike="noStrike">
                <a:solidFill>
                  <a:srgbClr val="111418"/>
                </a:solidFill>
                <a:latin typeface="Arial"/>
              </a:rPr>
              <a:t>• </a:t>
            </a:r>
            <a:r>
              <a:rPr b="0" lang="en-US" sz="2000" spc="-1" strike="noStrike">
                <a:solidFill>
                  <a:srgbClr val="111418"/>
                </a:solidFill>
                <a:latin typeface="Arial"/>
              </a:rPr>
              <a:t>Founded December 2015 as a non-profit research lab</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Founders and early staff included </a:t>
            </a:r>
            <a:r>
              <a:rPr u="sng" b="0" lang="en-US" sz="2000" spc="-1" strike="noStrike">
                <a:solidFill>
                  <a:srgbClr val="0B4FA0"/>
                </a:solidFill>
                <a:latin typeface="Arial"/>
                <a:hlinkClick xmlns:r="http://schemas.openxmlformats.org/officeDocument/2006/relationships" r:id="rId3"/>
              </a:rPr>
              <a:t>Sam Altman</a:t>
            </a:r>
            <a:r>
              <a:rPr b="0" lang="en-US" sz="2000" spc="-1" strike="noStrike">
                <a:solidFill>
                  <a:srgbClr val="111418"/>
                </a:solidFill>
                <a:latin typeface="Arial"/>
              </a:rPr>
              <a:t>, </a:t>
            </a:r>
            <a:r>
              <a:rPr u="sng" b="0" lang="en-US" sz="2000" spc="-1" strike="noStrike">
                <a:solidFill>
                  <a:srgbClr val="0B4FA0"/>
                </a:solidFill>
                <a:latin typeface="Arial"/>
                <a:hlinkClick xmlns:r="http://schemas.openxmlformats.org/officeDocument/2006/relationships" r:id="rId4"/>
              </a:rPr>
              <a:t>Elon Musk</a:t>
            </a:r>
            <a:r>
              <a:rPr b="0" lang="en-US" sz="2000" spc="-1" strike="noStrike">
                <a:solidFill>
                  <a:srgbClr val="111418"/>
                </a:solidFill>
                <a:latin typeface="Arial"/>
              </a:rPr>
              <a:t>, </a:t>
            </a:r>
            <a:r>
              <a:rPr u="sng" b="0" lang="en-US" sz="2000" spc="-1" strike="noStrike">
                <a:solidFill>
                  <a:srgbClr val="0B4FA0"/>
                </a:solidFill>
                <a:latin typeface="Arial"/>
                <a:hlinkClick xmlns:r="http://schemas.openxmlformats.org/officeDocument/2006/relationships" r:id="rId5"/>
              </a:rPr>
              <a:t>Greg Brockman</a:t>
            </a:r>
            <a:r>
              <a:rPr b="0" lang="en-US" sz="2000" spc="-1" strike="noStrike">
                <a:solidFill>
                  <a:srgbClr val="111418"/>
                </a:solidFill>
                <a:latin typeface="Arial"/>
              </a:rPr>
              <a:t>, </a:t>
            </a:r>
            <a:r>
              <a:rPr u="sng" b="0" lang="en-US" sz="2000" spc="-1" strike="noStrike">
                <a:solidFill>
                  <a:srgbClr val="0B4FA0"/>
                </a:solidFill>
                <a:latin typeface="Arial"/>
                <a:hlinkClick xmlns:r="http://schemas.openxmlformats.org/officeDocument/2006/relationships" r:id="rId6"/>
              </a:rPr>
              <a:t>Ilya Sutskever</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Stated mission: ensure artificial general intelligence benefits all of humanity</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2019 · Restructured into a capped-profit arm under non-profit control, and took Microsoft investment</a:t>
            </a:r>
            <a:endParaRPr b="0" lang="en-US" sz="2000" spc="-1" strike="noStrike">
              <a:solidFill>
                <a:srgbClr val="000000"/>
              </a:solidFill>
              <a:latin typeface="Arial"/>
            </a:endParaRPr>
          </a:p>
          <a:p>
            <a:r>
              <a:rPr b="0" lang="en-US" sz="1700" spc="-1" strike="noStrike">
                <a:solidFill>
                  <a:srgbClr val="252c36"/>
                </a:solidFill>
                <a:latin typeface="Arial"/>
              </a:rPr>
              <a:t>– </a:t>
            </a:r>
            <a:r>
              <a:rPr b="0" lang="en-US" sz="1700" spc="-1" strike="noStrike">
                <a:solidFill>
                  <a:srgbClr val="252c36"/>
                </a:solidFill>
                <a:latin typeface="Arial"/>
              </a:rPr>
              <a:t>Capped profit means an investor's return stops at a fixed multiple of what they put in. Anything above that goes back to the non-profit, which also appoints the board. You can raise money, but the people who funded you do not get to set the direction</a:t>
            </a:r>
            <a:endParaRPr b="0" lang="en-US" sz="17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That structure is the seed of almost every later controversy</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OpenAI · the product line</a:t>
            </a:r>
            <a:endParaRPr b="0" lang="en-US" sz="3400" spc="-1" strike="noStrike">
              <a:solidFill>
                <a:srgbClr val="000000"/>
              </a:solidFill>
              <a:latin typeface="Arial"/>
            </a:endParaRPr>
          </a:p>
        </p:txBody>
      </p:sp>
      <p:sp>
        <p:nvSpPr>
          <p:cNvPr id="74"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75" name=""/>
          <p:cNvSpPr txBox="1"/>
          <p:nvPr/>
        </p:nvSpPr>
        <p:spPr>
          <a:xfrm>
            <a:off x="648000" y="1530000"/>
            <a:ext cx="8784000" cy="3780000"/>
          </a:xfrm>
          <a:prstGeom prst="rect">
            <a:avLst/>
          </a:prstGeom>
          <a:noFill/>
          <a:ln w="0">
            <a:noFill/>
          </a:ln>
        </p:spPr>
        <p:txBody>
          <a:bodyPr lIns="90000" rIns="90000" tIns="45000" bIns="45000" anchor="t">
            <a:noAutofit/>
          </a:bodyPr>
          <a:p>
            <a:r>
              <a:rPr b="0" lang="en-US" sz="2200" spc="-1" strike="noStrike">
                <a:solidFill>
                  <a:srgbClr val="111418"/>
                </a:solidFill>
                <a:latin typeface="Arial"/>
              </a:rPr>
              <a:t>• </a:t>
            </a:r>
            <a:r>
              <a:rPr b="0" lang="en-US" sz="2200" spc="-1" strike="noStrike">
                <a:solidFill>
                  <a:srgbClr val="111418"/>
                </a:solidFill>
                <a:latin typeface="Arial"/>
              </a:rPr>
              <a:t>2020 · GPT-3 opens through an API rather than a product</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2021 · </a:t>
            </a:r>
            <a:r>
              <a:rPr u="sng" b="0" lang="en-US" sz="2200" spc="-1" strike="noStrike">
                <a:solidFill>
                  <a:srgbClr val="0B4FA0"/>
                </a:solidFill>
                <a:latin typeface="Arial"/>
                <a:hlinkClick xmlns:r="http://schemas.openxmlformats.org/officeDocument/2006/relationships" r:id="rId3"/>
              </a:rPr>
              <a:t>Codex</a:t>
            </a:r>
            <a:r>
              <a:rPr b="0" lang="en-US" sz="2200" spc="-1" strike="noStrike">
                <a:solidFill>
                  <a:srgbClr val="111418"/>
                </a:solidFill>
                <a:latin typeface="Arial"/>
              </a:rPr>
              <a:t>, trained on code, becomes the engine behind GitHub Copilot</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November 2022 · </a:t>
            </a:r>
            <a:r>
              <a:rPr u="sng" b="0" lang="en-US" sz="2200" spc="-1" strike="noStrike">
                <a:solidFill>
                  <a:srgbClr val="0B4FA0"/>
                </a:solidFill>
                <a:latin typeface="Arial"/>
                <a:hlinkClick xmlns:r="http://schemas.openxmlformats.org/officeDocument/2006/relationships" r:id="rId4"/>
              </a:rPr>
              <a:t>ChatGPT</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2023 onward · </a:t>
            </a:r>
            <a:r>
              <a:rPr u="sng" b="0" lang="en-US" sz="2200" spc="-1" strike="noStrike">
                <a:solidFill>
                  <a:srgbClr val="0B4FA0"/>
                </a:solidFill>
                <a:latin typeface="Arial"/>
                <a:hlinkClick xmlns:r="http://schemas.openxmlformats.org/officeDocument/2006/relationships" r:id="rId5"/>
              </a:rPr>
              <a:t>GPT-4</a:t>
            </a:r>
            <a:r>
              <a:rPr b="0" lang="en-US" sz="2200" spc="-1" strike="noStrike">
                <a:solidFill>
                  <a:srgbClr val="111418"/>
                </a:solidFill>
                <a:latin typeface="Arial"/>
              </a:rPr>
              <a:t> and successors: images, voice, reasoning-focused models</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The business shifts from research lab to platform, with consumer, API, and enterprise tiers</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OpenAI · the CEO and the five days</a:t>
            </a:r>
            <a:endParaRPr b="0" lang="en-US" sz="3400" spc="-1" strike="noStrike">
              <a:solidFill>
                <a:srgbClr val="000000"/>
              </a:solidFill>
              <a:latin typeface="Arial"/>
            </a:endParaRPr>
          </a:p>
        </p:txBody>
      </p:sp>
      <p:sp>
        <p:nvSpPr>
          <p:cNvPr id="77"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78" name=""/>
          <p:cNvSpPr txBox="1"/>
          <p:nvPr/>
        </p:nvSpPr>
        <p:spPr>
          <a:xfrm>
            <a:off x="648000" y="1530000"/>
            <a:ext cx="8784000" cy="4609800"/>
          </a:xfrm>
          <a:prstGeom prst="rect">
            <a:avLst/>
          </a:prstGeom>
          <a:noFill/>
          <a:ln w="0">
            <a:noFill/>
          </a:ln>
        </p:spPr>
        <p:txBody>
          <a:bodyPr lIns="90000" rIns="90000" tIns="45000" bIns="45000" anchor="t">
            <a:noAutofit/>
          </a:bodyPr>
          <a:p>
            <a:r>
              <a:rPr b="0" lang="en-US" sz="2200" spc="-1" strike="noStrike">
                <a:solidFill>
                  <a:srgbClr val="111418"/>
                </a:solidFill>
                <a:latin typeface="Arial"/>
              </a:rPr>
              <a:t>• </a:t>
            </a:r>
            <a:r>
              <a:rPr b="0" lang="en-US" sz="2200" spc="-1" strike="noStrike">
                <a:solidFill>
                  <a:srgbClr val="111418"/>
                </a:solidFill>
                <a:latin typeface="Arial"/>
              </a:rPr>
              <a:t>Sam Altman, chief executive, and the public face of the company</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17 November 2023 · The board removes him, saying he was not consistently candid with it</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Greg Brockman quits. Roughly 700 of about 770 employees sign a letter threatening to leave</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Microsoft announces it has hired Altman and Brockman to lead a new AI team</a:t>
            </a:r>
            <a:endParaRPr b="0" lang="en-US" sz="2200" spc="-1" strike="noStrike">
              <a:solidFill>
                <a:srgbClr val="000000"/>
              </a:solidFill>
              <a:latin typeface="Arial"/>
            </a:endParaRPr>
          </a:p>
          <a:p>
            <a:r>
              <a:rPr b="0" lang="en-US" sz="1800" spc="-1" strike="noStrike">
                <a:solidFill>
                  <a:srgbClr val="252c36"/>
                </a:solidFill>
                <a:latin typeface="Arial"/>
              </a:rPr>
              <a:t>– </a:t>
            </a:r>
            <a:r>
              <a:rPr b="0" lang="en-US" sz="1800" spc="-1" strike="noStrike">
                <a:solidFill>
                  <a:srgbClr val="252c36"/>
                </a:solidFill>
                <a:latin typeface="Arial"/>
              </a:rPr>
              <a:t>That never took effect. He was back at OpenAI within days, so the hire was announced and then overtaken by events</a:t>
            </a:r>
            <a:endParaRPr b="0" lang="en-US" sz="18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21 to 22 November 2023 · Altman returns as CEO and the board is largely replaced</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
          <p:cNvSpPr txBox="1"/>
          <p:nvPr/>
        </p:nvSpPr>
        <p:spPr>
          <a:xfrm>
            <a:off x="648000" y="378000"/>
            <a:ext cx="8784000" cy="1053720"/>
          </a:xfrm>
          <a:prstGeom prst="rect">
            <a:avLst/>
          </a:prstGeom>
          <a:noFill/>
          <a:ln w="0">
            <a:noFill/>
          </a:ln>
        </p:spPr>
        <p:txBody>
          <a:bodyPr lIns="90000" rIns="90000" tIns="45000" bIns="45000" anchor="t">
            <a:noAutofit/>
          </a:bodyPr>
          <a:p>
            <a:r>
              <a:rPr b="1" lang="en-US" sz="3400" spc="-1" strike="noStrike">
                <a:solidFill>
                  <a:srgbClr val="0f3d57"/>
                </a:solidFill>
                <a:latin typeface="Arial"/>
              </a:rPr>
              <a:t>OpenAI · what the aftermath actually changed</a:t>
            </a:r>
            <a:endParaRPr b="0" lang="en-US" sz="3400" spc="-1" strike="noStrike">
              <a:solidFill>
                <a:srgbClr val="000000"/>
              </a:solidFill>
              <a:latin typeface="Arial"/>
            </a:endParaRPr>
          </a:p>
        </p:txBody>
      </p:sp>
      <p:sp>
        <p:nvSpPr>
          <p:cNvPr id="80"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81" name=""/>
          <p:cNvSpPr txBox="1"/>
          <p:nvPr/>
        </p:nvSpPr>
        <p:spPr>
          <a:xfrm>
            <a:off x="648000" y="1530000"/>
            <a:ext cx="8784000" cy="437292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Governance: a new board, and the non-profit control structure under sustained pressure</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Departures followed over the next two years, including safety and research leadership</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Ilya Sutskever left and founded a rival lab focused on safety</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Microsoft's position moved from investor to something closer to critical infrastructure</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The durable lesson: capability moved faster than the institutions meant to govern it</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Anthropic · founded by people who left</a:t>
            </a:r>
            <a:endParaRPr b="0" lang="en-US" sz="3400" spc="-1" strike="noStrike">
              <a:solidFill>
                <a:srgbClr val="000000"/>
              </a:solidFill>
              <a:latin typeface="Arial"/>
            </a:endParaRPr>
          </a:p>
        </p:txBody>
      </p:sp>
      <p:sp>
        <p:nvSpPr>
          <p:cNvPr id="83"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84" name=""/>
          <p:cNvSpPr txBox="1"/>
          <p:nvPr/>
        </p:nvSpPr>
        <p:spPr>
          <a:xfrm>
            <a:off x="648000" y="1530000"/>
            <a:ext cx="8784000" cy="4082400"/>
          </a:xfrm>
          <a:prstGeom prst="rect">
            <a:avLst/>
          </a:prstGeom>
          <a:noFill/>
          <a:ln w="0">
            <a:noFill/>
          </a:ln>
        </p:spPr>
        <p:txBody>
          <a:bodyPr lIns="90000" rIns="90000" tIns="45000" bIns="45000" anchor="t">
            <a:noAutofit/>
          </a:bodyPr>
          <a:p>
            <a:r>
              <a:rPr b="0" lang="en-US" sz="2000" spc="-1" strike="noStrike">
                <a:solidFill>
                  <a:srgbClr val="111418"/>
                </a:solidFill>
                <a:latin typeface="Arial"/>
              </a:rPr>
              <a:t>• </a:t>
            </a:r>
            <a:r>
              <a:rPr b="0" lang="en-US" sz="2000" spc="-1" strike="noStrike">
                <a:solidFill>
                  <a:srgbClr val="111418"/>
                </a:solidFill>
                <a:latin typeface="Arial"/>
              </a:rPr>
              <a:t>Founded 2021 by </a:t>
            </a:r>
            <a:r>
              <a:rPr u="sng" b="0" lang="en-US" sz="2000" spc="-1" strike="noStrike">
                <a:solidFill>
                  <a:srgbClr val="0B4FA0"/>
                </a:solidFill>
                <a:latin typeface="Arial"/>
                <a:hlinkClick xmlns:r="http://schemas.openxmlformats.org/officeDocument/2006/relationships" r:id="rId3"/>
              </a:rPr>
              <a:t>Dario Amodei</a:t>
            </a:r>
            <a:r>
              <a:rPr b="0" lang="en-US" sz="2000" spc="-1" strike="noStrike">
                <a:solidFill>
                  <a:srgbClr val="111418"/>
                </a:solidFill>
                <a:latin typeface="Arial"/>
              </a:rPr>
              <a:t> and </a:t>
            </a:r>
            <a:r>
              <a:rPr u="sng" b="0" lang="en-US" sz="2000" spc="-1" strike="noStrike">
                <a:solidFill>
                  <a:srgbClr val="0B4FA0"/>
                </a:solidFill>
                <a:latin typeface="Arial"/>
                <a:hlinkClick xmlns:r="http://schemas.openxmlformats.org/officeDocument/2006/relationships" r:id="rId4"/>
              </a:rPr>
              <a:t>Daniela Amodei</a:t>
            </a:r>
            <a:r>
              <a:rPr b="0" lang="en-US" sz="2000" spc="-1" strike="noStrike">
                <a:solidFill>
                  <a:srgbClr val="111418"/>
                </a:solidFill>
                <a:latin typeface="Arial"/>
              </a:rPr>
              <a:t>, with a group of former OpenAI staff</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Dario had been OpenAI's VP of Research and a GPT-3 author; Daniela is president and runs the company operationally</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The split was about direction and safety posture, not a product disagreement</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Structured as a </a:t>
            </a:r>
            <a:r>
              <a:rPr u="sng" b="0" lang="en-US" sz="2000" spc="-1" strike="noStrike">
                <a:solidFill>
                  <a:srgbClr val="0B4FA0"/>
                </a:solidFill>
                <a:latin typeface="Arial"/>
                <a:hlinkClick xmlns:r="http://schemas.openxmlformats.org/officeDocument/2006/relationships" r:id="rId5"/>
              </a:rPr>
              <a:t>public benefit corporation</a:t>
            </a:r>
            <a:endParaRPr b="0" lang="en-US" sz="2000" spc="-1" strike="noStrike">
              <a:solidFill>
                <a:srgbClr val="000000"/>
              </a:solidFill>
              <a:latin typeface="Arial"/>
            </a:endParaRPr>
          </a:p>
          <a:p>
            <a:r>
              <a:rPr b="0" lang="en-US" sz="1700" spc="-1" strike="noStrike">
                <a:solidFill>
                  <a:srgbClr val="252c36"/>
                </a:solidFill>
                <a:latin typeface="Arial"/>
              </a:rPr>
              <a:t>– </a:t>
            </a:r>
            <a:r>
              <a:rPr b="0" lang="en-US" sz="1700" spc="-1" strike="noStrike">
                <a:solidFill>
                  <a:srgbClr val="252c36"/>
                </a:solidFill>
                <a:latin typeface="Arial"/>
              </a:rPr>
              <a:t>A company legally allowed to weigh a stated public mission against shareholder return, rather than being obliged to maximise the second</a:t>
            </a:r>
            <a:endParaRPr b="0" lang="en-US" sz="17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The two labs came from the same place, which is part of why their models often behave alike</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Anthropic · the product line</a:t>
            </a:r>
            <a:endParaRPr b="0" lang="en-US" sz="3400" spc="-1" strike="noStrike">
              <a:solidFill>
                <a:srgbClr val="000000"/>
              </a:solidFill>
              <a:latin typeface="Arial"/>
            </a:endParaRPr>
          </a:p>
        </p:txBody>
      </p:sp>
      <p:sp>
        <p:nvSpPr>
          <p:cNvPr id="86"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87" name=""/>
          <p:cNvSpPr txBox="1"/>
          <p:nvPr/>
        </p:nvSpPr>
        <p:spPr>
          <a:xfrm>
            <a:off x="648000" y="1530000"/>
            <a:ext cx="8784000" cy="3780000"/>
          </a:xfrm>
          <a:prstGeom prst="rect">
            <a:avLst/>
          </a:prstGeom>
          <a:noFill/>
          <a:ln w="0">
            <a:noFill/>
          </a:ln>
        </p:spPr>
        <p:txBody>
          <a:bodyPr lIns="90000" rIns="90000" tIns="45000" bIns="45000" anchor="t">
            <a:noAutofit/>
          </a:bodyPr>
          <a:p>
            <a:r>
              <a:rPr b="0" lang="en-US" sz="2000" spc="-1" strike="noStrike">
                <a:solidFill>
                  <a:srgbClr val="111418"/>
                </a:solidFill>
                <a:latin typeface="Arial"/>
              </a:rPr>
              <a:t>• </a:t>
            </a:r>
            <a:r>
              <a:rPr b="0" lang="en-US" sz="2000" spc="-1" strike="noStrike">
                <a:solidFill>
                  <a:srgbClr val="111418"/>
                </a:solidFill>
                <a:latin typeface="Arial"/>
              </a:rPr>
              <a:t>2023 · </a:t>
            </a:r>
            <a:r>
              <a:rPr u="sng" b="0" lang="en-US" sz="2000" spc="-1" strike="noStrike">
                <a:solidFill>
                  <a:srgbClr val="0B4FA0"/>
                </a:solidFill>
                <a:latin typeface="Arial"/>
                <a:hlinkClick xmlns:r="http://schemas.openxmlformats.org/officeDocument/2006/relationships" r:id="rId3"/>
              </a:rPr>
              <a:t>Claude</a:t>
            </a:r>
            <a:r>
              <a:rPr b="0" lang="en-US" sz="2000" spc="-1" strike="noStrike">
                <a:solidFill>
                  <a:srgbClr val="111418"/>
                </a:solidFill>
                <a:latin typeface="Arial"/>
              </a:rPr>
              <a:t> ships, first to businesses, then to the public</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Model tiers are named Haiku, Sonnet, and Opus</a:t>
            </a:r>
            <a:endParaRPr b="0" lang="en-US" sz="2000" spc="-1" strike="noStrike">
              <a:solidFill>
                <a:srgbClr val="000000"/>
              </a:solidFill>
              <a:latin typeface="Arial"/>
            </a:endParaRPr>
          </a:p>
          <a:p>
            <a:r>
              <a:rPr b="0" lang="en-US" sz="1700" spc="-1" strike="noStrike">
                <a:solidFill>
                  <a:srgbClr val="252c36"/>
                </a:solidFill>
                <a:latin typeface="Arial"/>
              </a:rPr>
              <a:t>– </a:t>
            </a:r>
            <a:r>
              <a:rPr b="0" lang="en-US" sz="1700" spc="-1" strike="noStrike">
                <a:solidFill>
                  <a:srgbClr val="252c36"/>
                </a:solidFill>
                <a:latin typeface="Arial"/>
              </a:rPr>
              <a:t>The tiers differ in capability, speed, and price, not in any published size. Anthropic does not publish parameter counts, so "small" and "large" here mean cheap and fast versus slower and more capable</a:t>
            </a:r>
            <a:endParaRPr b="0" lang="en-US" sz="17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Long </a:t>
            </a:r>
            <a:r>
              <a:rPr u="sng" b="0" lang="en-US" sz="2000" spc="-1" strike="noStrike">
                <a:solidFill>
                  <a:srgbClr val="0B4FA0"/>
                </a:solidFill>
                <a:latin typeface="Arial"/>
                <a:hlinkClick xmlns:r="http://schemas.openxmlformats.org/officeDocument/2006/relationships" r:id="rId4"/>
              </a:rPr>
              <a:t>context windows</a:t>
            </a:r>
            <a:r>
              <a:rPr b="0" lang="en-US" sz="2000" spc="-1" strike="noStrike">
                <a:solidFill>
                  <a:srgbClr val="111418"/>
                </a:solidFill>
                <a:latin typeface="Arial"/>
              </a:rPr>
              <a:t> were an early and deliberate differentiator</a:t>
            </a:r>
            <a:endParaRPr b="0" lang="en-US" sz="2000" spc="-1" strike="noStrike">
              <a:solidFill>
                <a:srgbClr val="000000"/>
              </a:solidFill>
              <a:latin typeface="Arial"/>
            </a:endParaRPr>
          </a:p>
          <a:p>
            <a:r>
              <a:rPr b="0" lang="en-US" sz="2000" spc="-1" strike="noStrike">
                <a:solidFill>
                  <a:srgbClr val="111418"/>
                </a:solidFill>
                <a:latin typeface="Arial"/>
              </a:rPr>
              <a:t>• </a:t>
            </a:r>
            <a:r>
              <a:rPr u="sng" b="0" lang="en-US" sz="2000" spc="-1" strike="noStrike">
                <a:solidFill>
                  <a:srgbClr val="0B4FA0"/>
                </a:solidFill>
                <a:latin typeface="Arial"/>
                <a:hlinkClick xmlns:r="http://schemas.openxmlformats.org/officeDocument/2006/relationships" r:id="rId3"/>
              </a:rPr>
              <a:t>Claude</a:t>
            </a:r>
            <a:r>
              <a:rPr b="0" lang="en-US" sz="2000" spc="-1" strike="noStrike">
                <a:solidFill>
                  <a:srgbClr val="111418"/>
                </a:solidFill>
                <a:latin typeface="Arial"/>
              </a:rPr>
              <a:t> Code brings the model into the terminal and the editor; Cowork and connectors extend it into a working environment</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The product list keeps growing. These are the ones this course uses</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Anthropic · the CEO</a:t>
            </a:r>
            <a:endParaRPr b="0" lang="en-US" sz="3400" spc="-1" strike="noStrike">
              <a:solidFill>
                <a:srgbClr val="000000"/>
              </a:solidFill>
              <a:latin typeface="Arial"/>
            </a:endParaRPr>
          </a:p>
        </p:txBody>
      </p:sp>
      <p:sp>
        <p:nvSpPr>
          <p:cNvPr id="89"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90"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Dario Amodei, chief executive and co-founder</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A physicist by training, and unusually public about expecting rapid capability gains</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Writes at length about risk while shipping the product he says carries it</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Notably less of a celebrity operation than the other labs on these slides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Anthropic · how it differs</a:t>
            </a:r>
            <a:endParaRPr b="0" lang="en-US" sz="3400" spc="-1" strike="noStrike">
              <a:solidFill>
                <a:srgbClr val="000000"/>
              </a:solidFill>
              <a:latin typeface="Arial"/>
            </a:endParaRPr>
          </a:p>
        </p:txBody>
      </p:sp>
      <p:sp>
        <p:nvSpPr>
          <p:cNvPr id="92"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93" name=""/>
          <p:cNvSpPr txBox="1"/>
          <p:nvPr/>
        </p:nvSpPr>
        <p:spPr>
          <a:xfrm>
            <a:off x="648000" y="1530000"/>
            <a:ext cx="8784000" cy="4082400"/>
          </a:xfrm>
          <a:prstGeom prst="rect">
            <a:avLst/>
          </a:prstGeom>
          <a:noFill/>
          <a:ln w="0">
            <a:noFill/>
          </a:ln>
        </p:spPr>
        <p:txBody>
          <a:bodyPr lIns="90000" rIns="90000" tIns="45000" bIns="45000" anchor="t">
            <a:noAutofit/>
          </a:bodyPr>
          <a:p>
            <a:r>
              <a:rPr b="0" lang="en-US" sz="2000" spc="-1" strike="noStrike">
                <a:solidFill>
                  <a:srgbClr val="111418"/>
                </a:solidFill>
                <a:latin typeface="Arial"/>
              </a:rPr>
              <a:t>• </a:t>
            </a:r>
            <a:r>
              <a:rPr u="sng" b="0" lang="en-US" sz="2000" spc="-1" strike="noStrike">
                <a:solidFill>
                  <a:srgbClr val="0B4FA0"/>
                </a:solidFill>
                <a:latin typeface="Arial"/>
                <a:hlinkClick xmlns:r="http://schemas.openxmlformats.org/officeDocument/2006/relationships" r:id="rId3"/>
              </a:rPr>
              <a:t>Constitutional AI</a:t>
            </a:r>
            <a:r>
              <a:rPr b="0" lang="en-US" sz="2000" spc="-1" strike="noStrike">
                <a:solidFill>
                  <a:srgbClr val="111418"/>
                </a:solidFill>
                <a:latin typeface="Arial"/>
              </a:rPr>
              <a:t>: the model is trained against a written set of principles rather than case-by-case human ratings alone</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A published responsible scaling policy tying capability tiers to safety requirements</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Heavier emphasis on enterprise, coding, and </a:t>
            </a:r>
            <a:r>
              <a:rPr u="sng" b="0" lang="en-US" sz="2000" spc="-1" strike="noStrike">
                <a:solidFill>
                  <a:srgbClr val="0B4FA0"/>
                </a:solidFill>
                <a:latin typeface="Arial"/>
                <a:hlinkClick xmlns:r="http://schemas.openxmlformats.org/officeDocument/2006/relationships" r:id="rId4"/>
              </a:rPr>
              <a:t>agentic</a:t>
            </a:r>
            <a:r>
              <a:rPr b="0" lang="en-US" sz="2000" spc="-1" strike="noStrike">
                <a:solidFill>
                  <a:srgbClr val="111418"/>
                </a:solidFill>
                <a:latin typeface="Arial"/>
              </a:rPr>
              <a:t> work than on consumer novelty</a:t>
            </a:r>
            <a:endParaRPr b="0" lang="en-US" sz="2000" spc="-1" strike="noStrike">
              <a:solidFill>
                <a:srgbClr val="000000"/>
              </a:solidFill>
              <a:latin typeface="Arial"/>
            </a:endParaRPr>
          </a:p>
          <a:p>
            <a:r>
              <a:rPr b="0" lang="en-US" sz="1700" spc="-1" strike="noStrike">
                <a:solidFill>
                  <a:srgbClr val="252c36"/>
                </a:solidFill>
                <a:latin typeface="Arial"/>
              </a:rPr>
              <a:t>– </a:t>
            </a:r>
            <a:r>
              <a:rPr b="0" lang="en-US" sz="1700" spc="-1" strike="noStrike">
                <a:solidFill>
                  <a:srgbClr val="252c36"/>
                </a:solidFill>
                <a:latin typeface="Arial"/>
              </a:rPr>
              <a:t>Agentic means the model takes multi-step actions toward a goal, using tools and reacting to results, instead of answering one question at a time</a:t>
            </a:r>
            <a:endParaRPr b="0" lang="en-US" sz="17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Interpretability research as a stated priority rather than a side project</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Whether any of that holds under competition is a fair question to keep asking</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
          <p:cNvSpPr txBox="1"/>
          <p:nvPr/>
        </p:nvSpPr>
        <p:spPr>
          <a:xfrm>
            <a:off x="648000" y="378000"/>
            <a:ext cx="8784000" cy="1053720"/>
          </a:xfrm>
          <a:prstGeom prst="rect">
            <a:avLst/>
          </a:prstGeom>
          <a:noFill/>
          <a:ln w="0">
            <a:noFill/>
          </a:ln>
        </p:spPr>
        <p:txBody>
          <a:bodyPr lIns="90000" rIns="90000" tIns="45000" bIns="45000" anchor="t">
            <a:noAutofit/>
          </a:bodyPr>
          <a:p>
            <a:r>
              <a:rPr b="1" lang="en-US" sz="3400" spc="-1" strike="noStrike">
                <a:solidFill>
                  <a:srgbClr val="0f3d57"/>
                </a:solidFill>
                <a:latin typeface="Arial"/>
              </a:rPr>
              <a:t>Google invented the architecture, then shipped second</a:t>
            </a:r>
            <a:endParaRPr b="0" lang="en-US" sz="3400" spc="-1" strike="noStrike">
              <a:solidFill>
                <a:srgbClr val="000000"/>
              </a:solidFill>
              <a:latin typeface="Arial"/>
            </a:endParaRPr>
          </a:p>
        </p:txBody>
      </p:sp>
      <p:sp>
        <p:nvSpPr>
          <p:cNvPr id="95"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96" name=""/>
          <p:cNvSpPr txBox="1"/>
          <p:nvPr/>
        </p:nvSpPr>
        <p:spPr>
          <a:xfrm>
            <a:off x="648000" y="1530000"/>
            <a:ext cx="8784000" cy="3780000"/>
          </a:xfrm>
          <a:prstGeom prst="rect">
            <a:avLst/>
          </a:prstGeom>
          <a:noFill/>
          <a:ln w="0">
            <a:noFill/>
          </a:ln>
        </p:spPr>
        <p:txBody>
          <a:bodyPr lIns="90000" rIns="90000" tIns="45000" bIns="45000" anchor="t">
            <a:noAutofit/>
          </a:bodyPr>
          <a:p>
            <a:r>
              <a:rPr b="0" lang="en-US" sz="2000" spc="-1" strike="noStrike">
                <a:solidFill>
                  <a:srgbClr val="111418"/>
                </a:solidFill>
                <a:latin typeface="Arial"/>
              </a:rPr>
              <a:t>• </a:t>
            </a:r>
            <a:r>
              <a:rPr b="0" lang="en-US" sz="2000" spc="-1" strike="noStrike">
                <a:solidFill>
                  <a:srgbClr val="111418"/>
                </a:solidFill>
                <a:latin typeface="Arial"/>
              </a:rPr>
              <a:t>2011 · (1) </a:t>
            </a:r>
            <a:r>
              <a:rPr u="sng" b="0" lang="en-US" sz="2000" spc="-1" strike="noStrike">
                <a:solidFill>
                  <a:srgbClr val="0B4FA0"/>
                </a:solidFill>
                <a:latin typeface="Arial"/>
                <a:hlinkClick xmlns:r="http://schemas.openxmlformats.org/officeDocument/2006/relationships" r:id="rId3"/>
              </a:rPr>
              <a:t>Google Brain</a:t>
            </a:r>
            <a:r>
              <a:rPr b="0" lang="en-US" sz="2000" spc="-1" strike="noStrike">
                <a:solidFill>
                  <a:srgbClr val="111418"/>
                </a:solidFill>
                <a:latin typeface="Arial"/>
              </a:rPr>
              <a:t>. 2014 · </a:t>
            </a:r>
            <a:r>
              <a:rPr u="sng" b="0" lang="en-US" sz="2000" spc="-1" strike="noStrike">
                <a:solidFill>
                  <a:srgbClr val="0B4FA0"/>
                </a:solidFill>
                <a:latin typeface="Arial"/>
                <a:hlinkClick xmlns:r="http://schemas.openxmlformats.org/officeDocument/2006/relationships" r:id="rId4"/>
              </a:rPr>
              <a:t>Go</a:t>
            </a:r>
            <a:r>
              <a:rPr b="0" lang="en-US" sz="2000" spc="-1" strike="noStrike">
                <a:solidFill>
                  <a:srgbClr val="111418"/>
                </a:solidFill>
                <a:latin typeface="Arial"/>
              </a:rPr>
              <a:t>ogle acquires (2) </a:t>
            </a:r>
            <a:r>
              <a:rPr u="sng" b="0" lang="en-US" sz="2000" spc="-1" strike="noStrike">
                <a:solidFill>
                  <a:srgbClr val="0B4FA0"/>
                </a:solidFill>
                <a:latin typeface="Arial"/>
                <a:hlinkClick xmlns:r="http://schemas.openxmlformats.org/officeDocument/2006/relationships" r:id="rId5"/>
              </a:rPr>
              <a:t>DeepMind</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2016 · (3) </a:t>
            </a:r>
            <a:r>
              <a:rPr u="sng" b="0" lang="en-US" sz="2000" spc="-1" strike="noStrike">
                <a:solidFill>
                  <a:srgbClr val="0B4FA0"/>
                </a:solidFill>
                <a:latin typeface="Arial"/>
                <a:hlinkClick xmlns:r="http://schemas.openxmlformats.org/officeDocument/2006/relationships" r:id="rId6"/>
              </a:rPr>
              <a:t>AlphaGo</a:t>
            </a:r>
            <a:r>
              <a:rPr b="0" lang="en-US" sz="2000" spc="-1" strike="noStrike">
                <a:solidFill>
                  <a:srgbClr val="111418"/>
                </a:solidFill>
                <a:latin typeface="Arial"/>
              </a:rPr>
              <a:t> beats Lee Sedol at </a:t>
            </a:r>
            <a:r>
              <a:rPr u="sng" b="0" lang="en-US" sz="2000" spc="-1" strike="noStrike">
                <a:solidFill>
                  <a:srgbClr val="0B4FA0"/>
                </a:solidFill>
                <a:latin typeface="Arial"/>
                <a:hlinkClick xmlns:r="http://schemas.openxmlformats.org/officeDocument/2006/relationships" r:id="rId4"/>
              </a:rPr>
              <a:t>Go</a:t>
            </a:r>
            <a:r>
              <a:rPr b="0" lang="en-US" sz="2000" spc="-1" strike="noStrike">
                <a:solidFill>
                  <a:srgbClr val="111418"/>
                </a:solidFill>
                <a:latin typeface="Arial"/>
              </a:rPr>
              <a:t>, four games to one</a:t>
            </a:r>
            <a:endParaRPr b="0" lang="en-US" sz="2000" spc="-1" strike="noStrike">
              <a:solidFill>
                <a:srgbClr val="000000"/>
              </a:solidFill>
              <a:latin typeface="Arial"/>
            </a:endParaRPr>
          </a:p>
          <a:p>
            <a:r>
              <a:rPr b="0" lang="en-US" sz="1700" spc="-1" strike="noStrike">
                <a:solidFill>
                  <a:srgbClr val="252c36"/>
                </a:solidFill>
                <a:latin typeface="Arial"/>
              </a:rPr>
              <a:t>– </a:t>
            </a:r>
            <a:r>
              <a:rPr u="sng" b="0" lang="en-US" sz="1700" spc="-1" strike="noStrike">
                <a:solidFill>
                  <a:srgbClr val="0B4FA0"/>
                </a:solidFill>
                <a:latin typeface="Arial"/>
                <a:hlinkClick xmlns:r="http://schemas.openxmlformats.org/officeDocument/2006/relationships" r:id="rId4"/>
              </a:rPr>
              <a:t>Go</a:t>
            </a:r>
            <a:r>
              <a:rPr b="0" lang="en-US" sz="1700" spc="-1" strike="noStrike">
                <a:solidFill>
                  <a:srgbClr val="252c36"/>
                </a:solidFill>
                <a:latin typeface="Arial"/>
              </a:rPr>
              <a:t> is an ancient board game with more legal positions than atoms in the observable universe, which is why it resisted brute force and made this a milestone</a:t>
            </a:r>
            <a:endParaRPr b="0" lang="en-US" sz="17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2017 · The transformer paper, the basis of every model on these slides, comes out of </a:t>
            </a:r>
            <a:r>
              <a:rPr u="sng" b="0" lang="en-US" sz="2000" spc="-1" strike="noStrike">
                <a:solidFill>
                  <a:srgbClr val="0B4FA0"/>
                </a:solidFill>
                <a:latin typeface="Arial"/>
                <a:hlinkClick xmlns:r="http://schemas.openxmlformats.org/officeDocument/2006/relationships" r:id="rId4"/>
              </a:rPr>
              <a:t>Go</a:t>
            </a:r>
            <a:r>
              <a:rPr b="0" lang="en-US" sz="2000" spc="-1" strike="noStrike">
                <a:solidFill>
                  <a:srgbClr val="111418"/>
                </a:solidFill>
                <a:latin typeface="Arial"/>
              </a:rPr>
              <a:t>ogle</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And yet ChatGPT reached the public first, from a company a fraction of </a:t>
            </a:r>
            <a:r>
              <a:rPr u="sng" b="0" lang="en-US" sz="2000" spc="-1" strike="noStrike">
                <a:solidFill>
                  <a:srgbClr val="0B4FA0"/>
                </a:solidFill>
                <a:latin typeface="Arial"/>
                <a:hlinkClick xmlns:r="http://schemas.openxmlformats.org/officeDocument/2006/relationships" r:id="rId4"/>
              </a:rPr>
              <a:t>Go</a:t>
            </a:r>
            <a:r>
              <a:rPr b="0" lang="en-US" sz="2000" spc="-1" strike="noStrike">
                <a:solidFill>
                  <a:srgbClr val="111418"/>
                </a:solidFill>
                <a:latin typeface="Arial"/>
              </a:rPr>
              <a:t>ogle's size</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Gemini · the names keep changing</a:t>
            </a:r>
            <a:endParaRPr b="0" lang="en-US" sz="3400" spc="-1" strike="noStrike">
              <a:solidFill>
                <a:srgbClr val="000000"/>
              </a:solidFill>
              <a:latin typeface="Arial"/>
            </a:endParaRPr>
          </a:p>
        </p:txBody>
      </p:sp>
      <p:sp>
        <p:nvSpPr>
          <p:cNvPr id="98"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99" name=""/>
          <p:cNvSpPr txBox="1"/>
          <p:nvPr/>
        </p:nvSpPr>
        <p:spPr>
          <a:xfrm>
            <a:off x="648000" y="1530000"/>
            <a:ext cx="8784000" cy="3780000"/>
          </a:xfrm>
          <a:prstGeom prst="rect">
            <a:avLst/>
          </a:prstGeom>
          <a:noFill/>
          <a:ln w="0">
            <a:noFill/>
          </a:ln>
        </p:spPr>
        <p:txBody>
          <a:bodyPr lIns="90000" rIns="90000" tIns="45000" bIns="45000" anchor="t">
            <a:noAutofit/>
          </a:bodyPr>
          <a:p>
            <a:r>
              <a:rPr b="0" lang="en-US" sz="2200" spc="-1" strike="noStrike">
                <a:solidFill>
                  <a:srgbClr val="111418"/>
                </a:solidFill>
                <a:latin typeface="Arial"/>
              </a:rPr>
              <a:t>• </a:t>
            </a:r>
            <a:r>
              <a:rPr b="0" lang="en-US" sz="2200" spc="-1" strike="noStrike">
                <a:solidFill>
                  <a:srgbClr val="111418"/>
                </a:solidFill>
                <a:latin typeface="Arial"/>
              </a:rPr>
              <a:t>February 2023 · (1) </a:t>
            </a:r>
            <a:r>
              <a:rPr u="sng" b="0" lang="en-US" sz="2200" spc="-1" strike="noStrike">
                <a:solidFill>
                  <a:srgbClr val="0B4FA0"/>
                </a:solidFill>
                <a:latin typeface="Arial"/>
                <a:hlinkClick xmlns:r="http://schemas.openxmlformats.org/officeDocument/2006/relationships" r:id="rId3"/>
              </a:rPr>
              <a:t>Bard</a:t>
            </a:r>
            <a:r>
              <a:rPr b="0" lang="en-US" sz="2200" spc="-1" strike="noStrike">
                <a:solidFill>
                  <a:srgbClr val="111418"/>
                </a:solidFill>
                <a:latin typeface="Arial"/>
              </a:rPr>
              <a:t> launches as the answer to ChatGPT, to a rough reception</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December 2023 · (2) </a:t>
            </a:r>
            <a:r>
              <a:rPr u="sng" b="0" lang="en-US" sz="2200" spc="-1" strike="noStrike">
                <a:solidFill>
                  <a:srgbClr val="0B4FA0"/>
                </a:solidFill>
                <a:latin typeface="Arial"/>
                <a:hlinkClick xmlns:r="http://schemas.openxmlformats.org/officeDocument/2006/relationships" r:id="rId4"/>
              </a:rPr>
              <a:t>Gemini</a:t>
            </a:r>
            <a:r>
              <a:rPr b="0" lang="en-US" sz="2200" spc="-1" strike="noStrike">
                <a:solidFill>
                  <a:srgbClr val="111418"/>
                </a:solidFill>
                <a:latin typeface="Arial"/>
              </a:rPr>
              <a:t> announced as the model family, replacing (3) </a:t>
            </a:r>
            <a:r>
              <a:rPr u="sng" b="0" lang="en-US" sz="2200" spc="-1" strike="noStrike">
                <a:solidFill>
                  <a:srgbClr val="0B4FA0"/>
                </a:solidFill>
                <a:latin typeface="Arial"/>
                <a:hlinkClick xmlns:r="http://schemas.openxmlformats.org/officeDocument/2006/relationships" r:id="rId5"/>
              </a:rPr>
              <a:t>LaMDA</a:t>
            </a:r>
            <a:r>
              <a:rPr b="0" lang="en-US" sz="2200" spc="-1" strike="noStrike">
                <a:solidFill>
                  <a:srgbClr val="111418"/>
                </a:solidFill>
                <a:latin typeface="Arial"/>
              </a:rPr>
              <a:t> and (4) </a:t>
            </a:r>
            <a:r>
              <a:rPr u="sng" b="0" lang="en-US" sz="2200" spc="-1" strike="noStrike">
                <a:solidFill>
                  <a:srgbClr val="0B4FA0"/>
                </a:solidFill>
                <a:latin typeface="Arial"/>
                <a:hlinkClick xmlns:r="http://schemas.openxmlformats.org/officeDocument/2006/relationships" r:id="rId6"/>
              </a:rPr>
              <a:t>PaLM</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February 2024 · </a:t>
            </a:r>
            <a:r>
              <a:rPr u="sng" b="0" lang="en-US" sz="2200" spc="-1" strike="noStrike">
                <a:solidFill>
                  <a:srgbClr val="0B4FA0"/>
                </a:solidFill>
                <a:latin typeface="Arial"/>
                <a:hlinkClick xmlns:r="http://schemas.openxmlformats.org/officeDocument/2006/relationships" r:id="rId3"/>
              </a:rPr>
              <a:t>Bard</a:t>
            </a:r>
            <a:r>
              <a:rPr b="0" lang="en-US" sz="2200" spc="-1" strike="noStrike">
                <a:solidFill>
                  <a:srgbClr val="111418"/>
                </a:solidFill>
                <a:latin typeface="Arial"/>
              </a:rPr>
              <a:t> is renamed </a:t>
            </a:r>
            <a:r>
              <a:rPr u="sng" b="0" lang="en-US" sz="2200" spc="-1" strike="noStrike">
                <a:solidFill>
                  <a:srgbClr val="0B4FA0"/>
                </a:solidFill>
                <a:latin typeface="Arial"/>
                <a:hlinkClick xmlns:r="http://schemas.openxmlformats.org/officeDocument/2006/relationships" r:id="rId4"/>
              </a:rPr>
              <a:t>Gemini</a:t>
            </a:r>
            <a:r>
              <a:rPr b="0" lang="en-US" sz="2200" spc="-1" strike="noStrike">
                <a:solidFill>
                  <a:srgbClr val="111418"/>
                </a:solidFill>
                <a:latin typeface="Arial"/>
              </a:rPr>
              <a:t>, so assistant and model finally share one name</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Model tiers have included (5) Nano, (6) Flash, (7) Pro, and (8) Ultra</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Eight names for one product line in three years</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Gemini · who runs it</a:t>
            </a:r>
            <a:endParaRPr b="0" lang="en-US" sz="3400" spc="-1" strike="noStrike">
              <a:solidFill>
                <a:srgbClr val="000000"/>
              </a:solidFill>
              <a:latin typeface="Arial"/>
            </a:endParaRPr>
          </a:p>
        </p:txBody>
      </p:sp>
      <p:sp>
        <p:nvSpPr>
          <p:cNvPr id="101"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02" name=""/>
          <p:cNvSpPr txBox="1"/>
          <p:nvPr/>
        </p:nvSpPr>
        <p:spPr>
          <a:xfrm>
            <a:off x="648000" y="1530000"/>
            <a:ext cx="8784000" cy="4297320"/>
          </a:xfrm>
          <a:prstGeom prst="rect">
            <a:avLst/>
          </a:prstGeom>
          <a:noFill/>
          <a:ln w="0">
            <a:noFill/>
          </a:ln>
        </p:spPr>
        <p:txBody>
          <a:bodyPr lIns="90000" rIns="90000" tIns="45000" bIns="45000" anchor="t">
            <a:noAutofit/>
          </a:bodyPr>
          <a:p>
            <a:r>
              <a:rPr b="0" lang="en-US" sz="2200" spc="-1" strike="noStrike">
                <a:solidFill>
                  <a:srgbClr val="111418"/>
                </a:solidFill>
                <a:latin typeface="Arial"/>
              </a:rPr>
              <a:t>• </a:t>
            </a:r>
            <a:r>
              <a:rPr u="sng" b="0" lang="en-US" sz="2200" spc="-1" strike="noStrike">
                <a:solidFill>
                  <a:srgbClr val="0B4FA0"/>
                </a:solidFill>
                <a:latin typeface="Arial"/>
                <a:hlinkClick xmlns:r="http://schemas.openxmlformats.org/officeDocument/2006/relationships" r:id="rId3"/>
              </a:rPr>
              <a:t>Sundar Pichai</a:t>
            </a:r>
            <a:r>
              <a:rPr b="0" lang="en-US" sz="2200" spc="-1" strike="noStrike">
                <a:solidFill>
                  <a:srgbClr val="111418"/>
                </a:solidFill>
                <a:latin typeface="Arial"/>
              </a:rPr>
              <a:t>, chief executive of </a:t>
            </a:r>
            <a:r>
              <a:rPr u="sng" b="0" lang="en-US" sz="2200" spc="-1" strike="noStrike">
                <a:solidFill>
                  <a:srgbClr val="0B4FA0"/>
                </a:solidFill>
                <a:latin typeface="Arial"/>
                <a:hlinkClick xmlns:r="http://schemas.openxmlformats.org/officeDocument/2006/relationships" r:id="rId4"/>
              </a:rPr>
              <a:t>Alphabet</a:t>
            </a:r>
            <a:r>
              <a:rPr b="0" lang="en-US" sz="2200" spc="-1" strike="noStrike">
                <a:solidFill>
                  <a:srgbClr val="111418"/>
                </a:solidFill>
                <a:latin typeface="Arial"/>
              </a:rPr>
              <a:t> and Google</a:t>
            </a:r>
            <a:endParaRPr b="0" lang="en-US" sz="2200" spc="-1" strike="noStrike">
              <a:solidFill>
                <a:srgbClr val="000000"/>
              </a:solidFill>
              <a:latin typeface="Arial"/>
            </a:endParaRPr>
          </a:p>
          <a:p>
            <a:r>
              <a:rPr b="0" lang="en-US" sz="1800" spc="-1" strike="noStrike">
                <a:solidFill>
                  <a:srgbClr val="252c36"/>
                </a:solidFill>
                <a:latin typeface="Arial"/>
              </a:rPr>
              <a:t>– </a:t>
            </a:r>
            <a:r>
              <a:rPr u="sng" b="0" lang="en-US" sz="1800" spc="-1" strike="noStrike">
                <a:solidFill>
                  <a:srgbClr val="0B4FA0"/>
                </a:solidFill>
                <a:latin typeface="Arial"/>
                <a:hlinkClick xmlns:r="http://schemas.openxmlformats.org/officeDocument/2006/relationships" r:id="rId4"/>
              </a:rPr>
              <a:t>Alphabet</a:t>
            </a:r>
            <a:r>
              <a:rPr b="0" lang="en-US" sz="1800" spc="-1" strike="noStrike">
                <a:solidFill>
                  <a:srgbClr val="252c36"/>
                </a:solidFill>
                <a:latin typeface="Arial"/>
              </a:rPr>
              <a:t> is the holding company created in 2015; Google is its largest subsidiary, alongside DeepMind, Waymo and others</a:t>
            </a:r>
            <a:endParaRPr b="0" lang="en-US" sz="1800" spc="-1" strike="noStrike">
              <a:solidFill>
                <a:srgbClr val="000000"/>
              </a:solidFill>
              <a:latin typeface="Arial"/>
            </a:endParaRPr>
          </a:p>
          <a:p>
            <a:r>
              <a:rPr b="0" lang="en-US" sz="2200" spc="-1" strike="noStrike">
                <a:solidFill>
                  <a:srgbClr val="111418"/>
                </a:solidFill>
                <a:latin typeface="Arial"/>
              </a:rPr>
              <a:t>• </a:t>
            </a:r>
            <a:r>
              <a:rPr u="sng" b="0" lang="en-US" sz="2200" spc="-1" strike="noStrike">
                <a:solidFill>
                  <a:srgbClr val="0B4FA0"/>
                </a:solidFill>
                <a:latin typeface="Arial"/>
                <a:hlinkClick xmlns:r="http://schemas.openxmlformats.org/officeDocument/2006/relationships" r:id="rId5"/>
              </a:rPr>
              <a:t>Demis Hassabis</a:t>
            </a:r>
            <a:r>
              <a:rPr b="0" lang="en-US" sz="2200" spc="-1" strike="noStrike">
                <a:solidFill>
                  <a:srgbClr val="111418"/>
                </a:solidFill>
                <a:latin typeface="Arial"/>
              </a:rPr>
              <a:t>, chief executive of Google DeepMind, runs the model work</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Hassabis co-founded DeepMind and shared the 2024 Nobel Prize in Chemistry</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Google Brain and DeepMind merged in 2023 into one organization</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Distribution is the strategy: the assistant arrives inside products people already use</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Gemini · same and different</a:t>
            </a:r>
            <a:endParaRPr b="0" lang="en-US" sz="3400" spc="-1" strike="noStrike">
              <a:solidFill>
                <a:srgbClr val="000000"/>
              </a:solidFill>
              <a:latin typeface="Arial"/>
            </a:endParaRPr>
          </a:p>
        </p:txBody>
      </p:sp>
      <p:sp>
        <p:nvSpPr>
          <p:cNvPr id="104"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05" name=""/>
          <p:cNvSpPr txBox="1"/>
          <p:nvPr/>
        </p:nvSpPr>
        <p:spPr>
          <a:xfrm>
            <a:off x="576000" y="1530000"/>
            <a:ext cx="8928000" cy="324000"/>
          </a:xfrm>
          <a:prstGeom prst="rect">
            <a:avLst/>
          </a:prstGeom>
          <a:solidFill>
            <a:srgbClr val="0f3d57"/>
          </a:solidFill>
          <a:ln w="0">
            <a:noFill/>
          </a:ln>
        </p:spPr>
        <p:txBody>
          <a:bodyPr lIns="90000" rIns="90000" tIns="45000" bIns="45000" anchor="t">
            <a:noAutofit/>
          </a:bodyPr>
          <a:p>
            <a:endParaRPr b="0" lang="en-US" sz="1800" spc="-1" strike="noStrike">
              <a:solidFill>
                <a:srgbClr val="ffffff"/>
              </a:solidFill>
              <a:latin typeface="Arial"/>
            </a:endParaRPr>
          </a:p>
        </p:txBody>
      </p:sp>
      <p:sp>
        <p:nvSpPr>
          <p:cNvPr id="106" name=""/>
          <p:cNvSpPr txBox="1"/>
          <p:nvPr/>
        </p:nvSpPr>
        <p:spPr>
          <a:xfrm>
            <a:off x="648000" y="1573200"/>
            <a:ext cx="4302000" cy="316080"/>
          </a:xfrm>
          <a:prstGeom prst="rect">
            <a:avLst/>
          </a:prstGeom>
          <a:noFill/>
          <a:ln w="0">
            <a:noFill/>
          </a:ln>
        </p:spPr>
        <p:txBody>
          <a:bodyPr lIns="90000" rIns="90000" tIns="45000" bIns="45000" anchor="t">
            <a:noAutofit/>
          </a:bodyPr>
          <a:p>
            <a:r>
              <a:rPr b="1" lang="en-US" sz="1600" spc="-1" strike="noStrike">
                <a:solidFill>
                  <a:srgbClr val="ffffff"/>
                </a:solidFill>
                <a:latin typeface="Arial"/>
              </a:rPr>
              <a:t>Same as the others</a:t>
            </a:r>
            <a:endParaRPr b="0" lang="en-US" sz="1600" spc="-1" strike="noStrike">
              <a:solidFill>
                <a:srgbClr val="000000"/>
              </a:solidFill>
              <a:latin typeface="Arial"/>
            </a:endParaRPr>
          </a:p>
        </p:txBody>
      </p:sp>
      <p:sp>
        <p:nvSpPr>
          <p:cNvPr id="107" name=""/>
          <p:cNvSpPr txBox="1"/>
          <p:nvPr/>
        </p:nvSpPr>
        <p:spPr>
          <a:xfrm>
            <a:off x="5130000" y="1573200"/>
            <a:ext cx="4302000" cy="316080"/>
          </a:xfrm>
          <a:prstGeom prst="rect">
            <a:avLst/>
          </a:prstGeom>
          <a:noFill/>
          <a:ln w="0">
            <a:noFill/>
          </a:ln>
        </p:spPr>
        <p:txBody>
          <a:bodyPr lIns="90000" rIns="90000" tIns="45000" bIns="45000" anchor="t">
            <a:noAutofit/>
          </a:bodyPr>
          <a:p>
            <a:r>
              <a:rPr b="1" lang="en-US" sz="1600" spc="-1" strike="noStrike">
                <a:solidFill>
                  <a:srgbClr val="ffffff"/>
                </a:solidFill>
                <a:latin typeface="Arial"/>
              </a:rPr>
              <a:t>Different</a:t>
            </a:r>
            <a:endParaRPr b="0" lang="en-US" sz="1600" spc="-1" strike="noStrike">
              <a:solidFill>
                <a:srgbClr val="000000"/>
              </a:solidFill>
              <a:latin typeface="Arial"/>
            </a:endParaRPr>
          </a:p>
        </p:txBody>
      </p:sp>
      <p:sp>
        <p:nvSpPr>
          <p:cNvPr id="108" name=""/>
          <p:cNvSpPr txBox="1"/>
          <p:nvPr/>
        </p:nvSpPr>
        <p:spPr>
          <a:xfrm>
            <a:off x="648000" y="1926000"/>
            <a:ext cx="4302000" cy="541800"/>
          </a:xfrm>
          <a:prstGeom prst="rect">
            <a:avLst/>
          </a:prstGeom>
          <a:noFill/>
          <a:ln w="0">
            <a:noFill/>
          </a:ln>
        </p:spPr>
        <p:txBody>
          <a:bodyPr lIns="90000" rIns="90000" tIns="45000" bIns="45000" anchor="t">
            <a:noAutofit/>
          </a:bodyPr>
          <a:p>
            <a:r>
              <a:rPr b="0" lang="en-US" sz="1600" spc="-1" strike="noStrike">
                <a:solidFill>
                  <a:srgbClr val="111418"/>
                </a:solidFill>
                <a:latin typeface="Arial"/>
              </a:rPr>
              <a:t>Transformer models, chat interface, tiered sizes</a:t>
            </a:r>
            <a:endParaRPr b="0" lang="en-US" sz="1600" spc="-1" strike="noStrike">
              <a:solidFill>
                <a:srgbClr val="000000"/>
              </a:solidFill>
              <a:latin typeface="Arial"/>
            </a:endParaRPr>
          </a:p>
        </p:txBody>
      </p:sp>
      <p:sp>
        <p:nvSpPr>
          <p:cNvPr id="109" name=""/>
          <p:cNvSpPr txBox="1"/>
          <p:nvPr/>
        </p:nvSpPr>
        <p:spPr>
          <a:xfrm>
            <a:off x="5130000" y="1926000"/>
            <a:ext cx="430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Owns its own silicon and data centers</a:t>
            </a:r>
            <a:endParaRPr b="0" lang="en-US" sz="1600" spc="-1" strike="noStrike">
              <a:solidFill>
                <a:srgbClr val="000000"/>
              </a:solidFill>
              <a:latin typeface="Arial"/>
            </a:endParaRPr>
          </a:p>
        </p:txBody>
      </p:sp>
      <p:sp>
        <p:nvSpPr>
          <p:cNvPr id="110" name=""/>
          <p:cNvSpPr txBox="1"/>
          <p:nvPr/>
        </p:nvSpPr>
        <p:spPr>
          <a:xfrm>
            <a:off x="576000" y="2199600"/>
            <a:ext cx="8928000" cy="309600"/>
          </a:xfrm>
          <a:prstGeom prst="rect">
            <a:avLst/>
          </a:prstGeom>
          <a:solidFill>
            <a:srgbClr val="eff1ea"/>
          </a:solidFill>
          <a:ln w="0">
            <a:noFill/>
          </a:ln>
        </p:spPr>
        <p:txBody>
          <a:bodyPr lIns="90000" rIns="90000" tIns="45000" bIns="45000" anchor="t">
            <a:noAutofit/>
          </a:bodyPr>
          <a:p>
            <a:endParaRPr b="0" lang="en-US" sz="1800" spc="-1" strike="noStrike">
              <a:solidFill>
                <a:srgbClr val="000000"/>
              </a:solidFill>
              <a:latin typeface="Arial"/>
            </a:endParaRPr>
          </a:p>
        </p:txBody>
      </p:sp>
      <p:sp>
        <p:nvSpPr>
          <p:cNvPr id="111" name=""/>
          <p:cNvSpPr txBox="1"/>
          <p:nvPr/>
        </p:nvSpPr>
        <p:spPr>
          <a:xfrm>
            <a:off x="648000" y="2235600"/>
            <a:ext cx="430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Consumer product plus a developer API</a:t>
            </a:r>
            <a:endParaRPr b="0" lang="en-US" sz="1600" spc="-1" strike="noStrike">
              <a:solidFill>
                <a:srgbClr val="000000"/>
              </a:solidFill>
              <a:latin typeface="Arial"/>
            </a:endParaRPr>
          </a:p>
        </p:txBody>
      </p:sp>
      <p:sp>
        <p:nvSpPr>
          <p:cNvPr id="112" name=""/>
          <p:cNvSpPr txBox="1"/>
          <p:nvPr/>
        </p:nvSpPr>
        <p:spPr>
          <a:xfrm>
            <a:off x="5130000" y="2235600"/>
            <a:ext cx="4302000" cy="541800"/>
          </a:xfrm>
          <a:prstGeom prst="rect">
            <a:avLst/>
          </a:prstGeom>
          <a:noFill/>
          <a:ln w="0">
            <a:noFill/>
          </a:ln>
        </p:spPr>
        <p:txBody>
          <a:bodyPr lIns="90000" rIns="90000" tIns="45000" bIns="45000" anchor="t">
            <a:noAutofit/>
          </a:bodyPr>
          <a:p>
            <a:r>
              <a:rPr b="0" lang="en-US" sz="1600" spc="-1" strike="noStrike">
                <a:solidFill>
                  <a:srgbClr val="111418"/>
                </a:solidFill>
                <a:latin typeface="Arial"/>
              </a:rPr>
              <a:t>Funded by the largest advertising business in the world</a:t>
            </a:r>
            <a:endParaRPr b="0" lang="en-US" sz="1600" spc="-1" strike="noStrike">
              <a:solidFill>
                <a:srgbClr val="000000"/>
              </a:solidFill>
              <a:latin typeface="Arial"/>
            </a:endParaRPr>
          </a:p>
        </p:txBody>
      </p:sp>
      <p:sp>
        <p:nvSpPr>
          <p:cNvPr id="113" name=""/>
          <p:cNvSpPr txBox="1"/>
          <p:nvPr/>
        </p:nvSpPr>
        <p:spPr>
          <a:xfrm>
            <a:off x="648000" y="2545200"/>
            <a:ext cx="430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Rapid release cadence</a:t>
            </a:r>
            <a:endParaRPr b="0" lang="en-US" sz="1600" spc="-1" strike="noStrike">
              <a:solidFill>
                <a:srgbClr val="000000"/>
              </a:solidFill>
              <a:latin typeface="Arial"/>
            </a:endParaRPr>
          </a:p>
        </p:txBody>
      </p:sp>
      <p:sp>
        <p:nvSpPr>
          <p:cNvPr id="114" name=""/>
          <p:cNvSpPr txBox="1"/>
          <p:nvPr/>
        </p:nvSpPr>
        <p:spPr>
          <a:xfrm>
            <a:off x="5130000" y="2545200"/>
            <a:ext cx="4302000" cy="541800"/>
          </a:xfrm>
          <a:prstGeom prst="rect">
            <a:avLst/>
          </a:prstGeom>
          <a:noFill/>
          <a:ln w="0">
            <a:noFill/>
          </a:ln>
        </p:spPr>
        <p:txBody>
          <a:bodyPr lIns="90000" rIns="90000" tIns="45000" bIns="45000" anchor="t">
            <a:noAutofit/>
          </a:bodyPr>
          <a:p>
            <a:r>
              <a:rPr b="0" lang="en-US" sz="1600" spc="-1" strike="noStrike">
                <a:solidFill>
                  <a:srgbClr val="111418"/>
                </a:solidFill>
                <a:latin typeface="Arial"/>
              </a:rPr>
              <a:t>Ships through Search and Android, so it reaches billions by default</a:t>
            </a:r>
            <a:endParaRPr b="0" lang="en-US" sz="1600" spc="-1" strike="noStrike">
              <a:solidFill>
                <a:srgbClr val="000000"/>
              </a:solidFill>
              <a:latin typeface="Arial"/>
            </a:endParaRPr>
          </a:p>
        </p:txBody>
      </p:sp>
      <p:sp>
        <p:nvSpPr>
          <p:cNvPr id="115" name=""/>
          <p:cNvSpPr txBox="1"/>
          <p:nvPr/>
        </p:nvSpPr>
        <p:spPr>
          <a:xfrm>
            <a:off x="576000" y="2818800"/>
            <a:ext cx="8928000" cy="309600"/>
          </a:xfrm>
          <a:prstGeom prst="rect">
            <a:avLst/>
          </a:prstGeom>
          <a:solidFill>
            <a:srgbClr val="eff1ea"/>
          </a:solidFill>
          <a:ln w="0">
            <a:noFill/>
          </a:ln>
        </p:spPr>
        <p:txBody>
          <a:bodyPr lIns="90000" rIns="90000" tIns="45000" bIns="45000" anchor="t">
            <a:noAutofit/>
          </a:bodyPr>
          <a:p>
            <a:endParaRPr b="0" lang="en-US" sz="1800" spc="-1" strike="noStrike">
              <a:solidFill>
                <a:srgbClr val="000000"/>
              </a:solidFill>
              <a:latin typeface="Arial"/>
            </a:endParaRPr>
          </a:p>
        </p:txBody>
      </p:sp>
      <p:sp>
        <p:nvSpPr>
          <p:cNvPr id="116" name=""/>
          <p:cNvSpPr txBox="1"/>
          <p:nvPr/>
        </p:nvSpPr>
        <p:spPr>
          <a:xfrm>
            <a:off x="576000" y="2804400"/>
            <a:ext cx="8928000" cy="21600"/>
          </a:xfrm>
          <a:prstGeom prst="rect">
            <a:avLst/>
          </a:prstGeom>
          <a:solidFill>
            <a:srgbClr val="0f3d57"/>
          </a:solidFill>
          <a:ln w="0">
            <a:noFill/>
          </a:ln>
        </p:spPr>
        <p:txBody>
          <a:bodyPr lIns="90000" rIns="90000" tIns="-23400" bIns="-23400" anchor="t">
            <a:noAutofit/>
          </a:bodyPr>
          <a:p>
            <a:endParaRPr b="0" lang="en-US" sz="1800" spc="-1" strike="noStrike">
              <a:solidFill>
                <a:srgbClr val="ffffff"/>
              </a:solidFill>
              <a:latin typeface="Arial"/>
            </a:endParaRPr>
          </a:p>
        </p:txBody>
      </p:sp>
      <p:sp>
        <p:nvSpPr>
          <p:cNvPr id="117" name=""/>
          <p:cNvSpPr txBox="1"/>
          <p:nvPr/>
        </p:nvSpPr>
        <p:spPr>
          <a:xfrm>
            <a:off x="648000" y="2854800"/>
            <a:ext cx="4302000" cy="316080"/>
          </a:xfrm>
          <a:prstGeom prst="rect">
            <a:avLst/>
          </a:prstGeom>
          <a:noFill/>
          <a:ln w="0">
            <a:noFill/>
          </a:ln>
        </p:spPr>
        <p:txBody>
          <a:bodyPr lIns="90000" rIns="90000" tIns="45000" bIns="45000" anchor="t">
            <a:noAutofit/>
          </a:bodyPr>
          <a:p>
            <a:r>
              <a:rPr b="1" lang="en-US" sz="1600" spc="-1" strike="noStrike">
                <a:solidFill>
                  <a:srgbClr val="0f3d57"/>
                </a:solidFill>
                <a:latin typeface="Arial"/>
              </a:rPr>
              <a:t>Same safety debates</a:t>
            </a:r>
            <a:endParaRPr b="0" lang="en-US" sz="1600" spc="-1" strike="noStrike">
              <a:solidFill>
                <a:srgbClr val="000000"/>
              </a:solidFill>
              <a:latin typeface="Arial"/>
            </a:endParaRPr>
          </a:p>
        </p:txBody>
      </p:sp>
      <p:sp>
        <p:nvSpPr>
          <p:cNvPr id="118" name=""/>
          <p:cNvSpPr txBox="1"/>
          <p:nvPr/>
        </p:nvSpPr>
        <p:spPr>
          <a:xfrm>
            <a:off x="5130000" y="2854800"/>
            <a:ext cx="4302000" cy="767520"/>
          </a:xfrm>
          <a:prstGeom prst="rect">
            <a:avLst/>
          </a:prstGeom>
          <a:noFill/>
          <a:ln w="0">
            <a:noFill/>
          </a:ln>
        </p:spPr>
        <p:txBody>
          <a:bodyPr lIns="90000" rIns="90000" tIns="45000" bIns="45000" anchor="t">
            <a:noAutofit/>
          </a:bodyPr>
          <a:p>
            <a:r>
              <a:rPr b="1" lang="en-US" sz="1600" spc="-1" strike="noStrike">
                <a:solidFill>
                  <a:srgbClr val="0f3d57"/>
                </a:solidFill>
                <a:latin typeface="Arial"/>
              </a:rPr>
              <a:t>If the assistant answers directly, nobody clicks a search result, and clicks are what Google sells</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Copilot · it started with code</a:t>
            </a:r>
            <a:endParaRPr b="0" lang="en-US" sz="3400" spc="-1" strike="noStrike">
              <a:solidFill>
                <a:srgbClr val="000000"/>
              </a:solidFill>
              <a:latin typeface="Arial"/>
            </a:endParaRPr>
          </a:p>
        </p:txBody>
      </p:sp>
      <p:sp>
        <p:nvSpPr>
          <p:cNvPr id="120"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21" name=""/>
          <p:cNvSpPr txBox="1"/>
          <p:nvPr/>
        </p:nvSpPr>
        <p:spPr>
          <a:xfrm>
            <a:off x="648000" y="1530000"/>
            <a:ext cx="8784000" cy="3780000"/>
          </a:xfrm>
          <a:prstGeom prst="rect">
            <a:avLst/>
          </a:prstGeom>
          <a:noFill/>
          <a:ln w="0">
            <a:noFill/>
          </a:ln>
        </p:spPr>
        <p:txBody>
          <a:bodyPr lIns="90000" rIns="90000" tIns="45000" bIns="45000" anchor="t">
            <a:noAutofit/>
          </a:bodyPr>
          <a:p>
            <a:r>
              <a:rPr b="0" lang="en-US" sz="2200" spc="-1" strike="noStrike">
                <a:solidFill>
                  <a:srgbClr val="111418"/>
                </a:solidFill>
                <a:latin typeface="Arial"/>
              </a:rPr>
              <a:t>• </a:t>
            </a:r>
            <a:r>
              <a:rPr b="0" lang="en-US" sz="2200" spc="-1" strike="noStrike">
                <a:solidFill>
                  <a:srgbClr val="111418"/>
                </a:solidFill>
                <a:latin typeface="Arial"/>
              </a:rPr>
              <a:t>2021 · </a:t>
            </a:r>
            <a:r>
              <a:rPr u="sng" b="0" lang="en-US" sz="2200" spc="-1" strike="noStrike">
                <a:solidFill>
                  <a:srgbClr val="0B4FA0"/>
                </a:solidFill>
                <a:latin typeface="Arial"/>
                <a:hlinkClick xmlns:r="http://schemas.openxmlformats.org/officeDocument/2006/relationships" r:id="rId3"/>
              </a:rPr>
              <a:t>GitHub Copilot</a:t>
            </a:r>
            <a:r>
              <a:rPr b="0" lang="en-US" sz="2200" spc="-1" strike="noStrike">
                <a:solidFill>
                  <a:srgbClr val="111418"/>
                </a:solidFill>
                <a:latin typeface="Arial"/>
              </a:rPr>
              <a:t> launches, built on OpenAI </a:t>
            </a:r>
            <a:r>
              <a:rPr u="sng" b="0" lang="en-US" sz="2200" spc="-1" strike="noStrike">
                <a:solidFill>
                  <a:srgbClr val="0B4FA0"/>
                </a:solidFill>
                <a:latin typeface="Arial"/>
                <a:hlinkClick xmlns:r="http://schemas.openxmlformats.org/officeDocument/2006/relationships" r:id="rId4"/>
              </a:rPr>
              <a:t>Codex</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The first mass-market experience of AI writing production code</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Immediately controversial: trained on public repositories, with license questions attached</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Microsoft had invested in OpenAI from 2019, so the pipeline was already in place</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Autocomplete for code turned out to be the most defensible early product</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And all of them are in court</a:t>
            </a:r>
            <a:endParaRPr b="0" lang="en-US" sz="3400" spc="-1" strike="noStrike">
              <a:solidFill>
                <a:srgbClr val="000000"/>
              </a:solidFill>
              <a:latin typeface="Arial"/>
            </a:endParaRPr>
          </a:p>
        </p:txBody>
      </p:sp>
      <p:sp>
        <p:nvSpPr>
          <p:cNvPr id="123"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24" name=""/>
          <p:cNvSpPr txBox="1"/>
          <p:nvPr/>
        </p:nvSpPr>
        <p:spPr>
          <a:xfrm>
            <a:off x="648000" y="1530000"/>
            <a:ext cx="8784000" cy="4787640"/>
          </a:xfrm>
          <a:prstGeom prst="rect">
            <a:avLst/>
          </a:prstGeom>
          <a:noFill/>
          <a:ln w="0">
            <a:noFill/>
          </a:ln>
        </p:spPr>
        <p:txBody>
          <a:bodyPr lIns="90000" rIns="90000" tIns="45000" bIns="45000" anchor="t">
            <a:noAutofit/>
          </a:bodyPr>
          <a:p>
            <a:r>
              <a:rPr b="0" lang="en-US" sz="2200" spc="-1" strike="noStrike">
                <a:solidFill>
                  <a:srgbClr val="111418"/>
                </a:solidFill>
                <a:latin typeface="Arial"/>
              </a:rPr>
              <a:t>• </a:t>
            </a:r>
            <a:r>
              <a:rPr b="0" lang="en-US" sz="2200" spc="-1" strike="noStrike">
                <a:solidFill>
                  <a:srgbClr val="111418"/>
                </a:solidFill>
                <a:latin typeface="Arial"/>
              </a:rPr>
              <a:t>Every company on these slides is being sued over how its models were trained</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The recurring question: does training on copyrighted work require a license, and is the output derived from it?</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Code in 2021, then images, then news archives, books, and song lyrics</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Trademark, contract, and privacy claims sit alongside the copyright ones</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None of it is settled, and the outcomes will shape what these tools may be trained on</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Overview: </a:t>
            </a:r>
            <a:r>
              <a:rPr u="sng" b="0" lang="en-US" sz="2200" spc="-1" strike="noStrike">
                <a:solidFill>
                  <a:srgbClr val="0B4FA0"/>
                </a:solidFill>
                <a:latin typeface="Arial"/>
                <a:hlinkClick xmlns:r="http://schemas.openxmlformats.org/officeDocument/2006/relationships" r:id="rId3"/>
              </a:rPr>
              <a:t>Artificial intelligence and copyright</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Copilot · the name spreads</a:t>
            </a:r>
            <a:endParaRPr b="0" lang="en-US" sz="3400" spc="-1" strike="noStrike">
              <a:solidFill>
                <a:srgbClr val="000000"/>
              </a:solidFill>
              <a:latin typeface="Arial"/>
            </a:endParaRPr>
          </a:p>
        </p:txBody>
      </p:sp>
      <p:sp>
        <p:nvSpPr>
          <p:cNvPr id="126"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27" name=""/>
          <p:cNvSpPr txBox="1"/>
          <p:nvPr/>
        </p:nvSpPr>
        <p:spPr>
          <a:xfrm>
            <a:off x="648000" y="1530000"/>
            <a:ext cx="8784000" cy="4223160"/>
          </a:xfrm>
          <a:prstGeom prst="rect">
            <a:avLst/>
          </a:prstGeom>
          <a:noFill/>
          <a:ln w="0">
            <a:noFill/>
          </a:ln>
        </p:spPr>
        <p:txBody>
          <a:bodyPr lIns="90000" rIns="90000" tIns="45000" bIns="45000" anchor="t">
            <a:noAutofit/>
          </a:bodyPr>
          <a:p>
            <a:r>
              <a:rPr b="0" lang="en-US" sz="2200" spc="-1" strike="noStrike">
                <a:solidFill>
                  <a:srgbClr val="111418"/>
                </a:solidFill>
                <a:latin typeface="Arial"/>
              </a:rPr>
              <a:t>• </a:t>
            </a:r>
            <a:r>
              <a:rPr b="0" lang="en-US" sz="2200" spc="-1" strike="noStrike">
                <a:solidFill>
                  <a:srgbClr val="111418"/>
                </a:solidFill>
                <a:latin typeface="Arial"/>
              </a:rPr>
              <a:t>February 2023 · Bing Chat launches, and briefly behaves strangely enough to make the news</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2023 · Microsoft 365 </a:t>
            </a:r>
            <a:r>
              <a:rPr u="sng" b="0" lang="en-US" sz="2200" spc="-1" strike="noStrike">
                <a:solidFill>
                  <a:srgbClr val="0B4FA0"/>
                </a:solidFill>
                <a:latin typeface="Arial"/>
                <a:hlinkClick xmlns:r="http://schemas.openxmlformats.org/officeDocument/2006/relationships" r:id="rId3"/>
              </a:rPr>
              <a:t>Copilot</a:t>
            </a:r>
            <a:r>
              <a:rPr b="0" lang="en-US" sz="2200" spc="-1" strike="noStrike">
                <a:solidFill>
                  <a:srgbClr val="111418"/>
                </a:solidFill>
                <a:latin typeface="Arial"/>
              </a:rPr>
              <a:t> brings it into Word, Excel, Outlook, and Teams</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Late 2023 · Bing Chat is renamed </a:t>
            </a:r>
            <a:r>
              <a:rPr u="sng" b="0" lang="en-US" sz="2200" spc="-1" strike="noStrike">
                <a:solidFill>
                  <a:srgbClr val="0B4FA0"/>
                </a:solidFill>
                <a:latin typeface="Arial"/>
                <a:hlinkClick xmlns:r="http://schemas.openxmlformats.org/officeDocument/2006/relationships" r:id="rId3"/>
              </a:rPr>
              <a:t>Copilot</a:t>
            </a:r>
            <a:r>
              <a:rPr b="0" lang="en-US" sz="2200" spc="-1" strike="noStrike">
                <a:solidFill>
                  <a:srgbClr val="111418"/>
                </a:solidFill>
                <a:latin typeface="Arial"/>
              </a:rPr>
              <a:t>, and the brand spreads across the portfolio</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2024 onward · </a:t>
            </a:r>
            <a:r>
              <a:rPr u="sng" b="0" lang="en-US" sz="2200" spc="-1" strike="noStrike">
                <a:solidFill>
                  <a:srgbClr val="0B4FA0"/>
                </a:solidFill>
                <a:latin typeface="Arial"/>
                <a:hlinkClick xmlns:r="http://schemas.openxmlformats.org/officeDocument/2006/relationships" r:id="rId3"/>
              </a:rPr>
              <a:t>Copilot</a:t>
            </a:r>
            <a:r>
              <a:rPr b="0" lang="en-US" sz="2200" spc="-1" strike="noStrike">
                <a:solidFill>
                  <a:srgbClr val="111418"/>
                </a:solidFill>
                <a:latin typeface="Arial"/>
              </a:rPr>
              <a:t> in Windows, in security tooling, and as its own consumer app</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One word now covers a dozen distinct products, which is a documentation problem</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Copilot · who runs it</a:t>
            </a:r>
            <a:endParaRPr b="0" lang="en-US" sz="3400" spc="-1" strike="noStrike">
              <a:solidFill>
                <a:srgbClr val="000000"/>
              </a:solidFill>
              <a:latin typeface="Arial"/>
            </a:endParaRPr>
          </a:p>
        </p:txBody>
      </p:sp>
      <p:sp>
        <p:nvSpPr>
          <p:cNvPr id="129"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30" name=""/>
          <p:cNvSpPr txBox="1"/>
          <p:nvPr/>
        </p:nvSpPr>
        <p:spPr>
          <a:xfrm>
            <a:off x="648000" y="1530000"/>
            <a:ext cx="8784000" cy="3780000"/>
          </a:xfrm>
          <a:prstGeom prst="rect">
            <a:avLst/>
          </a:prstGeom>
          <a:noFill/>
          <a:ln w="0">
            <a:noFill/>
          </a:ln>
        </p:spPr>
        <p:txBody>
          <a:bodyPr lIns="90000" rIns="90000" tIns="45000" bIns="45000" anchor="t">
            <a:noAutofit/>
          </a:bodyPr>
          <a:p>
            <a:r>
              <a:rPr b="0" lang="en-US" sz="2200" spc="-1" strike="noStrike">
                <a:solidFill>
                  <a:srgbClr val="111418"/>
                </a:solidFill>
                <a:latin typeface="Arial"/>
              </a:rPr>
              <a:t>• </a:t>
            </a:r>
            <a:r>
              <a:rPr u="sng" b="0" lang="en-US" sz="2200" spc="-1" strike="noStrike">
                <a:solidFill>
                  <a:srgbClr val="0B4FA0"/>
                </a:solidFill>
                <a:latin typeface="Arial"/>
                <a:hlinkClick xmlns:r="http://schemas.openxmlformats.org/officeDocument/2006/relationships" r:id="rId3"/>
              </a:rPr>
              <a:t>Satya Nadella</a:t>
            </a:r>
            <a:r>
              <a:rPr b="0" lang="en-US" sz="2200" spc="-1" strike="noStrike">
                <a:solidFill>
                  <a:srgbClr val="111418"/>
                </a:solidFill>
                <a:latin typeface="Arial"/>
              </a:rPr>
              <a:t>, chief executive of Microsoft</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2024 · </a:t>
            </a:r>
            <a:r>
              <a:rPr u="sng" b="0" lang="en-US" sz="2200" spc="-1" strike="noStrike">
                <a:solidFill>
                  <a:srgbClr val="0B4FA0"/>
                </a:solidFill>
                <a:latin typeface="Arial"/>
                <a:hlinkClick xmlns:r="http://schemas.openxmlformats.org/officeDocument/2006/relationships" r:id="rId4"/>
              </a:rPr>
              <a:t>Mustafa Suleyman</a:t>
            </a:r>
            <a:r>
              <a:rPr b="0" lang="en-US" sz="2200" spc="-1" strike="noStrike">
                <a:solidFill>
                  <a:srgbClr val="111418"/>
                </a:solidFill>
                <a:latin typeface="Arial"/>
              </a:rPr>
              <a:t> becomes chief executive of Microsoft AI</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Suleyman co-founded DeepMind, then </a:t>
            </a:r>
            <a:r>
              <a:rPr u="sng" b="0" lang="en-US" sz="2200" spc="-1" strike="noStrike">
                <a:solidFill>
                  <a:srgbClr val="0B4FA0"/>
                </a:solidFill>
                <a:latin typeface="Arial"/>
                <a:hlinkClick xmlns:r="http://schemas.openxmlformats.org/officeDocument/2006/relationships" r:id="rId5"/>
              </a:rPr>
              <a:t>Inflection AI</a:t>
            </a:r>
            <a:r>
              <a:rPr b="0" lang="en-US" sz="2200" spc="-1" strike="noStrike">
                <a:solidFill>
                  <a:srgbClr val="111418"/>
                </a:solidFill>
                <a:latin typeface="Arial"/>
              </a:rPr>
              <a:t>, before Microsoft hired the team</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Microsoft is both OpenAI's largest commercial partner and, increasingly, a competitor</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Strategy: put it where the work already happens, inside the tools people are paid to use</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Copilot · what to take from it</a:t>
            </a:r>
            <a:endParaRPr b="0" lang="en-US" sz="3400" spc="-1" strike="noStrike">
              <a:solidFill>
                <a:srgbClr val="000000"/>
              </a:solidFill>
              <a:latin typeface="Arial"/>
            </a:endParaRPr>
          </a:p>
        </p:txBody>
      </p:sp>
      <p:sp>
        <p:nvSpPr>
          <p:cNvPr id="132"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33" name=""/>
          <p:cNvSpPr txBox="1"/>
          <p:nvPr/>
        </p:nvSpPr>
        <p:spPr>
          <a:xfrm>
            <a:off x="648000" y="1530000"/>
            <a:ext cx="8784000" cy="437292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The enterprise path is the quiet one: no viral moment, just a license line item</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Bundling is the moat. It arrives whether or not anyone asked for it</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The same underlying models, wrapped in very different defaults and guardrails</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Your practical question is what the wrapper prevents you from seeing</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That question comes back in every unit of this course</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Grok · the loud one</a:t>
            </a:r>
            <a:endParaRPr b="0" lang="en-US" sz="3400" spc="-1" strike="noStrike">
              <a:solidFill>
                <a:srgbClr val="000000"/>
              </a:solidFill>
              <a:latin typeface="Arial"/>
            </a:endParaRPr>
          </a:p>
        </p:txBody>
      </p:sp>
      <p:sp>
        <p:nvSpPr>
          <p:cNvPr id="135"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36" name=""/>
          <p:cNvSpPr txBox="1"/>
          <p:nvPr/>
        </p:nvSpPr>
        <p:spPr>
          <a:xfrm>
            <a:off x="648000" y="1530000"/>
            <a:ext cx="8784000" cy="4019400"/>
          </a:xfrm>
          <a:prstGeom prst="rect">
            <a:avLst/>
          </a:prstGeom>
          <a:noFill/>
          <a:ln w="0">
            <a:noFill/>
          </a:ln>
        </p:spPr>
        <p:txBody>
          <a:bodyPr lIns="90000" rIns="90000" tIns="45000" bIns="45000" anchor="t">
            <a:noAutofit/>
          </a:bodyPr>
          <a:p>
            <a:r>
              <a:rPr b="0" lang="en-US" sz="2000" spc="-1" strike="noStrike">
                <a:solidFill>
                  <a:srgbClr val="111418"/>
                </a:solidFill>
                <a:latin typeface="Arial"/>
              </a:rPr>
              <a:t>• </a:t>
            </a:r>
            <a:r>
              <a:rPr u="sng" b="0" lang="en-US" sz="2000" spc="-1" strike="noStrike">
                <a:solidFill>
                  <a:srgbClr val="0B4FA0"/>
                </a:solidFill>
                <a:latin typeface="Arial"/>
                <a:hlinkClick xmlns:r="http://schemas.openxmlformats.org/officeDocument/2006/relationships" r:id="rId3"/>
              </a:rPr>
              <a:t>xAI</a:t>
            </a:r>
            <a:r>
              <a:rPr b="0" lang="en-US" sz="2000" spc="-1" strike="noStrike">
                <a:solidFill>
                  <a:srgbClr val="111418"/>
                </a:solidFill>
                <a:latin typeface="Arial"/>
              </a:rPr>
              <a:t> founded 2023 by Elon Musk, an OpenAI co-founder who left its board in 2018</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November 2023 · </a:t>
            </a:r>
            <a:r>
              <a:rPr u="sng" b="0" lang="en-US" sz="2000" spc="-1" strike="noStrike">
                <a:solidFill>
                  <a:srgbClr val="0B4FA0"/>
                </a:solidFill>
                <a:latin typeface="Arial"/>
                <a:hlinkClick xmlns:r="http://schemas.openxmlformats.org/officeDocument/2006/relationships" r:id="rId4"/>
              </a:rPr>
              <a:t>Grok</a:t>
            </a:r>
            <a:r>
              <a:rPr b="0" lang="en-US" sz="2000" spc="-1" strike="noStrike">
                <a:solidFill>
                  <a:srgbClr val="111418"/>
                </a:solidFill>
                <a:latin typeface="Arial"/>
              </a:rPr>
              <a:t> launches, positioned as unfiltered and irreverent</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Trained with access to posts on X, and wired into that platform</a:t>
            </a:r>
            <a:endParaRPr b="0" lang="en-US" sz="2000" spc="-1" strike="noStrike">
              <a:solidFill>
                <a:srgbClr val="000000"/>
              </a:solidFill>
              <a:latin typeface="Arial"/>
            </a:endParaRPr>
          </a:p>
          <a:p>
            <a:r>
              <a:rPr b="0" lang="en-US" sz="2000" spc="-1" strike="noStrike">
                <a:solidFill>
                  <a:srgbClr val="111418"/>
                </a:solidFill>
                <a:latin typeface="Arial"/>
              </a:rPr>
              <a:t>• </a:t>
            </a:r>
            <a:r>
              <a:rPr b="0" lang="en-US" sz="2000" spc="-1" strike="noStrike">
                <a:solidFill>
                  <a:srgbClr val="111418"/>
                </a:solidFill>
                <a:latin typeface="Arial"/>
              </a:rPr>
              <a:t>A case study in what happens when fewer guardrails is the product strategy</a:t>
            </a:r>
            <a:endParaRPr b="0" lang="en-US" sz="2000" spc="-1" strike="noStrike">
              <a:solidFill>
                <a:srgbClr val="000000"/>
              </a:solidFill>
              <a:latin typeface="Arial"/>
            </a:endParaRPr>
          </a:p>
          <a:p>
            <a:r>
              <a:rPr b="0" lang="en-US" sz="1700" spc="-1" strike="noStrike">
                <a:solidFill>
                  <a:srgbClr val="252c36"/>
                </a:solidFill>
                <a:latin typeface="Arial"/>
              </a:rPr>
              <a:t>– </a:t>
            </a:r>
            <a:r>
              <a:rPr b="0" lang="en-US" sz="1700" spc="-1" strike="noStrike">
                <a:solidFill>
                  <a:srgbClr val="252c36"/>
                </a:solidFill>
                <a:latin typeface="Arial"/>
              </a:rPr>
              <a:t>Prompt changes that visibly shifted its politics, more than once</a:t>
            </a:r>
            <a:endParaRPr b="0" lang="en-US" sz="1700" spc="-1" strike="noStrike">
              <a:solidFill>
                <a:srgbClr val="000000"/>
              </a:solidFill>
              <a:latin typeface="Arial"/>
            </a:endParaRPr>
          </a:p>
          <a:p>
            <a:r>
              <a:rPr b="0" lang="en-US" sz="1700" spc="-1" strike="noStrike">
                <a:solidFill>
                  <a:srgbClr val="252c36"/>
                </a:solidFill>
                <a:latin typeface="Arial"/>
              </a:rPr>
              <a:t>– </a:t>
            </a:r>
            <a:r>
              <a:rPr b="0" lang="en-US" sz="1700" spc="-1" strike="noStrike">
                <a:solidFill>
                  <a:srgbClr val="252c36"/>
                </a:solidFill>
                <a:latin typeface="Arial"/>
              </a:rPr>
              <a:t>An image generator released with unusually few limits</a:t>
            </a:r>
            <a:endParaRPr b="0" lang="en-US" sz="1700" spc="-1" strike="noStrike">
              <a:solidFill>
                <a:srgbClr val="000000"/>
              </a:solidFill>
              <a:latin typeface="Arial"/>
            </a:endParaRPr>
          </a:p>
          <a:p>
            <a:r>
              <a:rPr b="0" lang="en-US" sz="1700" spc="-1" strike="noStrike">
                <a:solidFill>
                  <a:srgbClr val="252c36"/>
                </a:solidFill>
                <a:latin typeface="Arial"/>
              </a:rPr>
              <a:t>– </a:t>
            </a:r>
            <a:r>
              <a:rPr b="0" lang="en-US" sz="1700" spc="-1" strike="noStrike">
                <a:solidFill>
                  <a:srgbClr val="252c36"/>
                </a:solidFill>
                <a:latin typeface="Arial"/>
              </a:rPr>
              <a:t>Antisemitic and other offensive output, followed by public apologies</a:t>
            </a:r>
            <a:endParaRPr b="0" lang="en-US" sz="1700" spc="-1" strike="noStrike">
              <a:solidFill>
                <a:srgbClr val="000000"/>
              </a:solidFill>
              <a:latin typeface="Arial"/>
            </a:endParaRPr>
          </a:p>
          <a:p>
            <a:r>
              <a:rPr b="0" lang="en-US" sz="1700" spc="-1" strike="noStrike">
                <a:solidFill>
                  <a:srgbClr val="252c36"/>
                </a:solidFill>
                <a:latin typeface="Arial"/>
              </a:rPr>
              <a:t>– </a:t>
            </a:r>
            <a:r>
              <a:rPr b="0" lang="en-US" sz="1700" spc="-1" strike="noStrike">
                <a:solidFill>
                  <a:srgbClr val="252c36"/>
                </a:solidFill>
                <a:latin typeface="Arial"/>
              </a:rPr>
              <a:t>Repeated cycles of remove-the-guardrail, apologize, restore some of it</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Why this? Why now? … Why not?!</a:t>
            </a:r>
            <a:endParaRPr b="0" lang="en-US" sz="3400" spc="-1" strike="noStrike">
              <a:solidFill>
                <a:srgbClr val="000000"/>
              </a:solidFill>
              <a:latin typeface="Arial"/>
            </a:endParaRPr>
          </a:p>
        </p:txBody>
      </p:sp>
      <p:sp>
        <p:nvSpPr>
          <p:cNvPr id="138"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39"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Capital: hundreds of billions committed to compute, networking, storage, and the buildings to hold them, at a scale nobody has built before</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Labor: the roles you are training for are being re-scoped, not deleted</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Physical cost: energy and water, and both are local and visible</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Evidence: these systems are confident whether or not they are correct</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
          <p:cNvSpPr txBox="1"/>
          <p:nvPr/>
        </p:nvSpPr>
        <p:spPr>
          <a:xfrm>
            <a:off x="648000" y="378000"/>
            <a:ext cx="8784000" cy="792000"/>
          </a:xfrm>
          <a:prstGeom prst="rect">
            <a:avLst/>
          </a:prstGeom>
          <a:noFill/>
          <a:ln w="0">
            <a:noFill/>
          </a:ln>
        </p:spPr>
        <p:txBody>
          <a:bodyPr lIns="90000" rIns="90000" tIns="45000" bIns="45000" anchor="t">
            <a:noAutofit/>
          </a:bodyPr>
          <a:p>
            <a:r>
              <a:rPr b="1" lang="en-US" sz="4000" spc="-1" strike="noStrike">
                <a:solidFill>
                  <a:srgbClr val="0f3d57"/>
                </a:solidFill>
                <a:latin typeface="Arial"/>
              </a:rPr>
              <a:t>Five minute breather</a:t>
            </a:r>
            <a:endParaRPr b="0" lang="en-US" sz="4000" spc="-1" strike="noStrike">
              <a:solidFill>
                <a:srgbClr val="000000"/>
              </a:solidFill>
              <a:latin typeface="Arial"/>
            </a:endParaRPr>
          </a:p>
        </p:txBody>
      </p:sp>
      <p:sp>
        <p:nvSpPr>
          <p:cNvPr id="141"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42" name=""/>
          <p:cNvSpPr txBox="1"/>
          <p:nvPr/>
        </p:nvSpPr>
        <p:spPr>
          <a:xfrm>
            <a:off x="648000" y="1530000"/>
            <a:ext cx="8784000" cy="3780000"/>
          </a:xfrm>
          <a:prstGeom prst="rect">
            <a:avLst/>
          </a:prstGeom>
          <a:noFill/>
          <a:ln w="0">
            <a:noFill/>
          </a:ln>
        </p:spPr>
        <p:txBody>
          <a:bodyPr lIns="90000" rIns="90000" tIns="45000" bIns="45000" anchor="t">
            <a:noAutofit/>
          </a:bodyPr>
          <a:p>
            <a:r>
              <a:rPr b="0" lang="en-US" sz="2700" spc="-1" strike="noStrike">
                <a:solidFill>
                  <a:srgbClr val="111418"/>
                </a:solidFill>
                <a:latin typeface="Arial"/>
              </a:rPr>
              <a:t>Stretch your legs. Get water.</a:t>
            </a:r>
            <a:endParaRPr b="0" lang="en-US" sz="2700" spc="-1" strike="noStrike">
              <a:solidFill>
                <a:srgbClr val="000000"/>
              </a:solidFill>
              <a:latin typeface="Arial"/>
            </a:endParaRPr>
          </a:p>
          <a:p>
            <a:r>
              <a:rPr b="0" lang="en-US" sz="2700" spc="-1" strike="noStrike">
                <a:solidFill>
                  <a:srgbClr val="111418"/>
                </a:solidFill>
                <a:latin typeface="Arial"/>
              </a:rPr>
              <a:t>When we come back, everything is hands on keyboards.</a:t>
            </a:r>
            <a:endParaRPr b="0" lang="en-US" sz="2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
          <p:cNvSpPr txBox="1"/>
          <p:nvPr/>
        </p:nvSpPr>
        <p:spPr>
          <a:xfrm>
            <a:off x="648000" y="378000"/>
            <a:ext cx="8784000" cy="792000"/>
          </a:xfrm>
          <a:prstGeom prst="rect">
            <a:avLst/>
          </a:prstGeom>
          <a:noFill/>
          <a:ln w="0">
            <a:noFill/>
          </a:ln>
        </p:spPr>
        <p:txBody>
          <a:bodyPr lIns="90000" rIns="90000" tIns="45000" bIns="45000" anchor="t">
            <a:noAutofit/>
          </a:bodyPr>
          <a:p>
            <a:r>
              <a:rPr b="1" lang="en-US" sz="4000" spc="-1" strike="noStrike">
                <a:solidFill>
                  <a:srgbClr val="0f3d57"/>
                </a:solidFill>
                <a:latin typeface="Arial"/>
              </a:rPr>
              <a:t>The rest of today</a:t>
            </a:r>
            <a:endParaRPr b="0" lang="en-US" sz="4000" spc="-1" strike="noStrike">
              <a:solidFill>
                <a:srgbClr val="000000"/>
              </a:solidFill>
              <a:latin typeface="Arial"/>
            </a:endParaRPr>
          </a:p>
        </p:txBody>
      </p:sp>
      <p:sp>
        <p:nvSpPr>
          <p:cNvPr id="144"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45" name=""/>
          <p:cNvSpPr txBox="1"/>
          <p:nvPr/>
        </p:nvSpPr>
        <p:spPr>
          <a:xfrm>
            <a:off x="648000" y="1530000"/>
            <a:ext cx="8784000" cy="3805200"/>
          </a:xfrm>
          <a:prstGeom prst="rect">
            <a:avLst/>
          </a:prstGeom>
          <a:noFill/>
          <a:ln w="0">
            <a:noFill/>
          </a:ln>
        </p:spPr>
        <p:txBody>
          <a:bodyPr lIns="90000" rIns="90000" tIns="45000" bIns="45000" anchor="t">
            <a:noAutofit/>
          </a:bodyPr>
          <a:p>
            <a:r>
              <a:rPr b="0" lang="en-US" sz="2700" spc="-1" strike="noStrike">
                <a:solidFill>
                  <a:srgbClr val="111418"/>
                </a:solidFill>
                <a:latin typeface="Arial"/>
              </a:rPr>
              <a:t>Accounts → Repository → Invite me → Hello world → A reply arrives</a:t>
            </a:r>
            <a:endParaRPr b="0" lang="en-US" sz="2700" spc="-1" strike="noStrike">
              <a:solidFill>
                <a:srgbClr val="000000"/>
              </a:solidFill>
              <a:latin typeface="Arial"/>
            </a:endParaRPr>
          </a:p>
          <a:p>
            <a:r>
              <a:rPr b="0" lang="en-US" sz="2700" spc="-1" strike="noStrike">
                <a:solidFill>
                  <a:srgbClr val="111418"/>
                </a:solidFill>
                <a:latin typeface="Arial"/>
              </a:rPr>
              <a:t>→ </a:t>
            </a:r>
            <a:r>
              <a:rPr b="0" lang="en-US" sz="2700" spc="-1" strike="noStrike">
                <a:solidFill>
                  <a:srgbClr val="111418"/>
                </a:solidFill>
                <a:latin typeface="Arial"/>
              </a:rPr>
              <a:t>Connect Claude to GitHub → Prove it reads → Prove it reads current content</a:t>
            </a:r>
            <a:endParaRPr b="0" lang="en-US" sz="2700" spc="-1" strike="noStrike">
              <a:solidFill>
                <a:srgbClr val="000000"/>
              </a:solidFill>
              <a:latin typeface="Arial"/>
            </a:endParaRPr>
          </a:p>
          <a:p>
            <a:r>
              <a:rPr b="0" lang="en-US" sz="2700" spc="-1" strike="noStrike">
                <a:solidFill>
                  <a:srgbClr val="111418"/>
                </a:solidFill>
                <a:latin typeface="Arial"/>
              </a:rPr>
              <a:t>→ </a:t>
            </a:r>
            <a:r>
              <a:rPr b="0" lang="en-US" sz="2700" spc="-1" strike="noStrike">
                <a:solidFill>
                  <a:srgbClr val="111418"/>
                </a:solidFill>
                <a:latin typeface="Arial"/>
              </a:rPr>
              <a:t>Write down what happened</a:t>
            </a:r>
            <a:endParaRPr b="0" lang="en-US" sz="2700" spc="-1" strike="noStrike">
              <a:solidFill>
                <a:srgbClr val="000000"/>
              </a:solidFill>
              <a:latin typeface="Arial"/>
            </a:endParaRPr>
          </a:p>
          <a:p>
            <a:r>
              <a:rPr b="0" lang="en-US" sz="2700" spc="-1" strike="noStrike">
                <a:solidFill>
                  <a:srgbClr val="111418"/>
                </a:solidFill>
                <a:latin typeface="Arial"/>
              </a:rPr>
              <a:t>Two of those are required today: the repository with me invited, and your hello world committed.</a:t>
            </a:r>
            <a:endParaRPr b="0" lang="en-US" sz="2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Accounts, repository, invite</a:t>
            </a:r>
            <a:endParaRPr b="0" lang="en-US" sz="3400" spc="-1" strike="noStrike">
              <a:solidFill>
                <a:srgbClr val="000000"/>
              </a:solidFill>
              <a:latin typeface="Arial"/>
            </a:endParaRPr>
          </a:p>
        </p:txBody>
      </p:sp>
      <p:sp>
        <p:nvSpPr>
          <p:cNvPr id="147"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48"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Sign in to Claude with your school account, and to GitHub</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Create a private repository named exactly sec-480, lower case, with the hyphen</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Put your first and last name in the README, as it appears in Canvas People</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Settings → Collaborators → Add people → invite me</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Acceptance is automatic. Nothing to wait for, nobody to ask</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Hello world, and a reply</a:t>
            </a:r>
            <a:endParaRPr b="0" lang="en-US" sz="3400" spc="-1" strike="noStrike">
              <a:solidFill>
                <a:srgbClr val="000000"/>
              </a:solidFill>
              <a:latin typeface="Arial"/>
            </a:endParaRPr>
          </a:p>
        </p:txBody>
      </p:sp>
      <p:sp>
        <p:nvSpPr>
          <p:cNvPr id="150"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51" name=""/>
          <p:cNvSpPr txBox="1"/>
          <p:nvPr/>
        </p:nvSpPr>
        <p:spPr>
          <a:xfrm>
            <a:off x="648000" y="1530000"/>
            <a:ext cx="8784000" cy="403308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Ask Claude to help you write a short introduction file</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Create hello-world.md in the repository, in the browser, and paste it in</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Add the prompt you used, under a heading. Paste the exact text you typed, typos and all, rather than a rewritten version</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A reply appears in your repository shortly, within minutes, carrying three questions</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Answer them in the file and commit</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Then prove the connection</a:t>
            </a:r>
            <a:endParaRPr b="0" lang="en-US" sz="3400" spc="-1" strike="noStrike">
              <a:solidFill>
                <a:srgbClr val="000000"/>
              </a:solidFill>
              <a:latin typeface="Arial"/>
            </a:endParaRPr>
          </a:p>
        </p:txBody>
      </p:sp>
      <p:sp>
        <p:nvSpPr>
          <p:cNvPr id="153"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54" name=""/>
          <p:cNvSpPr txBox="1"/>
          <p:nvPr/>
        </p:nvSpPr>
        <p:spPr>
          <a:xfrm>
            <a:off x="648000" y="1530000"/>
            <a:ext cx="8784000" cy="4609800"/>
          </a:xfrm>
          <a:prstGeom prst="rect">
            <a:avLst/>
          </a:prstGeom>
          <a:noFill/>
          <a:ln w="0">
            <a:noFill/>
          </a:ln>
        </p:spPr>
        <p:txBody>
          <a:bodyPr lIns="90000" rIns="90000" tIns="45000" bIns="45000" anchor="t">
            <a:noAutofit/>
          </a:bodyPr>
          <a:p>
            <a:r>
              <a:rPr b="0" lang="en-US" sz="2200" spc="-1" strike="noStrike">
                <a:solidFill>
                  <a:srgbClr val="111418"/>
                </a:solidFill>
                <a:latin typeface="Arial"/>
              </a:rPr>
              <a:t>• </a:t>
            </a:r>
            <a:r>
              <a:rPr b="0" lang="en-US" sz="2200" spc="-1" strike="noStrike">
                <a:solidFill>
                  <a:srgbClr val="111418"/>
                </a:solidFill>
                <a:latin typeface="Arial"/>
              </a:rPr>
              <a:t>Claude → Settings → Connectors → GitHub, scoped to sec-480 only</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Ask it what your README says. Your own name is the test, because it cannot be guessed</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Then create usage-window.md on GitHub and ask Claude to read it back</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That second test is the one that catches a stale connection</a:t>
            </a:r>
            <a:endParaRPr b="0" lang="en-US" sz="2200" spc="-1" strike="noStrike">
              <a:solidFill>
                <a:srgbClr val="000000"/>
              </a:solidFill>
              <a:latin typeface="Arial"/>
            </a:endParaRPr>
          </a:p>
          <a:p>
            <a:r>
              <a:rPr b="0" lang="en-US" sz="1800" spc="-1" strike="noStrike">
                <a:solidFill>
                  <a:srgbClr val="252c36"/>
                </a:solidFill>
                <a:latin typeface="Arial"/>
              </a:rPr>
              <a:t>– </a:t>
            </a:r>
            <a:r>
              <a:rPr b="0" lang="en-US" sz="1800" spc="-1" strike="noStrike">
                <a:solidFill>
                  <a:srgbClr val="252c36"/>
                </a:solidFill>
                <a:latin typeface="Arial"/>
              </a:rPr>
              <a:t>Stale means the tool is answering from what it saw earlier, so a file you just added looks invisible and an old version looks current</a:t>
            </a:r>
            <a:endParaRPr b="0" lang="en-US" sz="18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Write integration-validation.md: what you did, and what went wrong on the way</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When you are stuck: help.me</a:t>
            </a:r>
            <a:endParaRPr b="0" lang="en-US" sz="3400" spc="-1" strike="noStrike">
              <a:solidFill>
                <a:srgbClr val="000000"/>
              </a:solidFill>
              <a:latin typeface="Arial"/>
            </a:endParaRPr>
          </a:p>
        </p:txBody>
      </p:sp>
      <p:sp>
        <p:nvSpPr>
          <p:cNvPr id="156"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57"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Create a file called help.me in your repository, in the browser</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Describe the problem in plain words. Not correct terminology, just what you see</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Guidance appears in your repository shortly, within minutes</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I see it too, and I will address it</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It works with no git client, no connector, and nothing installed</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Where to work</a:t>
            </a:r>
            <a:endParaRPr b="0" lang="en-US" sz="3400" spc="-1" strike="noStrike">
              <a:solidFill>
                <a:srgbClr val="000000"/>
              </a:solidFill>
              <a:latin typeface="Arial"/>
            </a:endParaRPr>
          </a:p>
        </p:txBody>
      </p:sp>
      <p:sp>
        <p:nvSpPr>
          <p:cNvPr id="159"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60" name=""/>
          <p:cNvSpPr txBox="1"/>
          <p:nvPr/>
        </p:nvSpPr>
        <p:spPr>
          <a:xfrm>
            <a:off x="648000" y="1530000"/>
            <a:ext cx="8784000" cy="4240800"/>
          </a:xfrm>
          <a:prstGeom prst="rect">
            <a:avLst/>
          </a:prstGeom>
          <a:noFill/>
          <a:ln w="0">
            <a:noFill/>
          </a:ln>
        </p:spPr>
        <p:txBody>
          <a:bodyPr lIns="90000" rIns="90000" tIns="45000" bIns="45000" anchor="t">
            <a:noAutofit/>
          </a:bodyPr>
          <a:p>
            <a:r>
              <a:rPr b="0" lang="en-US" sz="2200" spc="-1" strike="noStrike">
                <a:solidFill>
                  <a:srgbClr val="111418"/>
                </a:solidFill>
                <a:latin typeface="Arial"/>
              </a:rPr>
              <a:t>• </a:t>
            </a:r>
            <a:r>
              <a:rPr b="0" lang="en-US" sz="2200" spc="-1" strike="noStrike">
                <a:solidFill>
                  <a:srgbClr val="111418"/>
                </a:solidFill>
                <a:latin typeface="Arial"/>
              </a:rPr>
              <a:t>In class: the browser is enough. Do not fight an installer</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Lab workstation: no host installs, but you can build a VM, and it persists on that machine</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View Portal: admin rights, Windows 11, but it resets when it powers down</a:t>
            </a:r>
            <a:endParaRPr b="0" lang="en-US" sz="2200" spc="-1" strike="noStrike">
              <a:solidFill>
                <a:srgbClr val="000000"/>
              </a:solidFill>
              <a:latin typeface="Arial"/>
            </a:endParaRPr>
          </a:p>
          <a:p>
            <a:r>
              <a:rPr b="0" lang="en-US" sz="1800" spc="-1" strike="noStrike">
                <a:solidFill>
                  <a:srgbClr val="252c36"/>
                </a:solidFill>
                <a:latin typeface="Arial"/>
              </a:rPr>
              <a:t>– </a:t>
            </a:r>
            <a:r>
              <a:rPr b="0" lang="en-US" sz="1800" spc="-1" strike="noStrike">
                <a:solidFill>
                  <a:srgbClr val="252c36"/>
                </a:solidFill>
                <a:latin typeface="Arial"/>
              </a:rPr>
              <a:t>After a reset you reinstall, sign in again, and pull your work back down from GitHub. A few minutes, and nothing is lost, because the work was never only on that machine</a:t>
            </a:r>
            <a:endParaRPr b="0" lang="en-US" sz="18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At home: install git and keep your permanent working copy there</a:t>
            </a:r>
            <a:endParaRPr b="0" lang="en-US" sz="2200" spc="-1" strike="noStrike">
              <a:solidFill>
                <a:srgbClr val="000000"/>
              </a:solidFill>
              <a:latin typeface="Arial"/>
            </a:endParaRPr>
          </a:p>
          <a:p>
            <a:r>
              <a:rPr b="0" lang="en-US" sz="2200" spc="-1" strike="noStrike">
                <a:solidFill>
                  <a:srgbClr val="111418"/>
                </a:solidFill>
                <a:latin typeface="Arial"/>
              </a:rPr>
              <a:t>• </a:t>
            </a:r>
            <a:r>
              <a:rPr b="0" lang="en-US" sz="2200" spc="-1" strike="noStrike">
                <a:solidFill>
                  <a:srgbClr val="111418"/>
                </a:solidFill>
                <a:latin typeface="Arial"/>
              </a:rPr>
              <a:t>Windows, macOS, and Linux are all fine</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
          <p:cNvSpPr txBox="1"/>
          <p:nvPr/>
        </p:nvSpPr>
        <p:spPr>
          <a:xfrm>
            <a:off x="648000" y="378000"/>
            <a:ext cx="8784000" cy="792000"/>
          </a:xfrm>
          <a:prstGeom prst="rect">
            <a:avLst/>
          </a:prstGeom>
          <a:noFill/>
          <a:ln w="0">
            <a:noFill/>
          </a:ln>
        </p:spPr>
        <p:txBody>
          <a:bodyPr lIns="90000" rIns="90000" tIns="45000" bIns="45000" anchor="t">
            <a:noAutofit/>
          </a:bodyPr>
          <a:p>
            <a:r>
              <a:rPr b="1" lang="en-US" sz="4000" spc="-1" strike="noStrike">
                <a:solidFill>
                  <a:srgbClr val="0f3d57"/>
                </a:solidFill>
                <a:latin typeface="Arial"/>
              </a:rPr>
              <a:t>Before you leave</a:t>
            </a:r>
            <a:endParaRPr b="0" lang="en-US" sz="4000" spc="-1" strike="noStrike">
              <a:solidFill>
                <a:srgbClr val="000000"/>
              </a:solidFill>
              <a:latin typeface="Arial"/>
            </a:endParaRPr>
          </a:p>
        </p:txBody>
      </p:sp>
      <p:sp>
        <p:nvSpPr>
          <p:cNvPr id="162"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63" name=""/>
          <p:cNvSpPr txBox="1"/>
          <p:nvPr/>
        </p:nvSpPr>
        <p:spPr>
          <a:xfrm>
            <a:off x="648000" y="1530000"/>
            <a:ext cx="8784000" cy="3780000"/>
          </a:xfrm>
          <a:prstGeom prst="rect">
            <a:avLst/>
          </a:prstGeom>
          <a:noFill/>
          <a:ln w="0">
            <a:noFill/>
          </a:ln>
        </p:spPr>
        <p:txBody>
          <a:bodyPr lIns="90000" rIns="90000" tIns="45000" bIns="45000" anchor="t">
            <a:noAutofit/>
          </a:bodyPr>
          <a:p>
            <a:r>
              <a:rPr b="0" lang="en-US" sz="2700" spc="-1" strike="noStrike">
                <a:solidFill>
                  <a:srgbClr val="111418"/>
                </a:solidFill>
                <a:latin typeface="Arial"/>
              </a:rPr>
              <a:t>Be signed in to Claude, with the lab sheet open.</a:t>
            </a:r>
            <a:endParaRPr b="0" lang="en-US" sz="2700" spc="-1" strike="noStrike">
              <a:solidFill>
                <a:srgbClr val="000000"/>
              </a:solidFill>
              <a:latin typeface="Arial"/>
            </a:endParaRPr>
          </a:p>
          <a:p>
            <a:r>
              <a:rPr b="0" lang="en-US" sz="2700" spc="-1" strike="noStrike">
                <a:solidFill>
                  <a:srgbClr val="111418"/>
                </a:solidFill>
                <a:latin typeface="Arial"/>
              </a:rPr>
              <a:t>Invite my GitHub account as a collaborator on your sec-480 repository:</a:t>
            </a:r>
            <a:endParaRPr b="0" lang="en-US" sz="2700" spc="-1" strike="noStrike">
              <a:solidFill>
                <a:srgbClr val="000000"/>
              </a:solidFill>
              <a:latin typeface="Arial"/>
            </a:endParaRPr>
          </a:p>
          <a:p>
            <a:r>
              <a:rPr b="0" lang="en-US" sz="2700" spc="-1" strike="noStrike">
                <a:solidFill>
                  <a:srgbClr val="111418"/>
                </a:solidFill>
                <a:latin typeface="Arial"/>
              </a:rPr>
              <a:t>derp-cc</a:t>
            </a:r>
            <a:endParaRPr b="0" lang="en-US" sz="2700" spc="-1" strike="noStrike">
              <a:solidFill>
                <a:srgbClr val="000000"/>
              </a:solidFill>
              <a:latin typeface="Arial"/>
            </a:endParaRPr>
          </a:p>
          <a:p>
            <a:r>
              <a:rPr b="0" lang="en-US" sz="2700" spc="-1" strike="noStrike">
                <a:solidFill>
                  <a:srgbClr val="111418"/>
                </a:solidFill>
                <a:latin typeface="Arial"/>
              </a:rPr>
              <a:t>Then tell me you have invited, so I know to look for you.</a:t>
            </a:r>
            <a:endParaRPr b="0" lang="en-US" sz="2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